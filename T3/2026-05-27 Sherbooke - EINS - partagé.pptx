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7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43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48.jpg" ContentType="image/jpeg"/>
  <Override PartName="/ppt/media/image49.jpg" ContentType="image/jpeg"/>
  <Override PartName="/ppt/media/image52.jpg" ContentType="image/jpeg"/>
  <Override PartName="/ppt/media/image53.jpg" ContentType="image/jpeg"/>
  <Override PartName="/ppt/media/image56.jpg" ContentType="image/jpe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68" r:id="rId1"/>
    <p:sldMasterId id="2147483802" r:id="rId2"/>
  </p:sldMasterIdLst>
  <p:notesMasterIdLst>
    <p:notesMasterId r:id="rId46"/>
  </p:notesMasterIdLst>
  <p:sldIdLst>
    <p:sldId id="256" r:id="rId3"/>
    <p:sldId id="278" r:id="rId4"/>
    <p:sldId id="279" r:id="rId5"/>
    <p:sldId id="257" r:id="rId6"/>
    <p:sldId id="280" r:id="rId7"/>
    <p:sldId id="273" r:id="rId8"/>
    <p:sldId id="1235" r:id="rId9"/>
    <p:sldId id="281" r:id="rId10"/>
    <p:sldId id="283" r:id="rId11"/>
    <p:sldId id="290" r:id="rId12"/>
    <p:sldId id="285" r:id="rId13"/>
    <p:sldId id="977" r:id="rId14"/>
    <p:sldId id="981" r:id="rId15"/>
    <p:sldId id="288" r:id="rId16"/>
    <p:sldId id="1137" r:id="rId17"/>
    <p:sldId id="1257" r:id="rId18"/>
    <p:sldId id="1155" r:id="rId19"/>
    <p:sldId id="982" r:id="rId20"/>
    <p:sldId id="295" r:id="rId21"/>
    <p:sldId id="983" r:id="rId22"/>
    <p:sldId id="582" r:id="rId23"/>
    <p:sldId id="286" r:id="rId24"/>
    <p:sldId id="1260" r:id="rId25"/>
    <p:sldId id="986" r:id="rId26"/>
    <p:sldId id="1246" r:id="rId27"/>
    <p:sldId id="1249" r:id="rId28"/>
    <p:sldId id="1138" r:id="rId29"/>
    <p:sldId id="1250" r:id="rId30"/>
    <p:sldId id="1251" r:id="rId31"/>
    <p:sldId id="1252" r:id="rId32"/>
    <p:sldId id="1253" r:id="rId33"/>
    <p:sldId id="1259" r:id="rId34"/>
    <p:sldId id="1258" r:id="rId35"/>
    <p:sldId id="1153" r:id="rId36"/>
    <p:sldId id="350" r:id="rId37"/>
    <p:sldId id="366" r:id="rId38"/>
    <p:sldId id="346" r:id="rId39"/>
    <p:sldId id="1264" r:id="rId40"/>
    <p:sldId id="1262" r:id="rId41"/>
    <p:sldId id="930" r:id="rId42"/>
    <p:sldId id="1265" r:id="rId43"/>
    <p:sldId id="1255" r:id="rId44"/>
    <p:sldId id="1151" r:id="rId45"/>
  </p:sldIdLst>
  <p:sldSz cx="12192000" cy="6858000"/>
  <p:notesSz cx="6858000" cy="9144000"/>
  <p:embeddedFontLst>
    <p:embeddedFont>
      <p:font typeface="FiraGO" panose="020B0503050000020004" pitchFamily="34" charset="0"/>
      <p:regular r:id="rId47"/>
      <p:bold r:id="rId48"/>
      <p:italic r:id="rId49"/>
      <p:boldItalic r:id="rId50"/>
    </p:embeddedFont>
    <p:embeddedFont>
      <p:font typeface="FiraGO Light" panose="020B0403050000020004" pitchFamily="34" charset="0"/>
      <p:regular r:id="rId51"/>
      <p:italic r:id="rId52"/>
    </p:embeddedFont>
    <p:embeddedFont>
      <p:font typeface="FiraGO Medium" panose="020B0503050000020004" pitchFamily="34" charset="0"/>
      <p:regular r:id="rId53"/>
      <p:italic r:id="rId54"/>
    </p:embeddedFont>
    <p:embeddedFont>
      <p:font typeface="Gill Sans MT" panose="020B0502020104020203" pitchFamily="34" charset="77"/>
      <p:regular r:id="rId55"/>
      <p:bold r:id="rId56"/>
      <p:italic r:id="rId57"/>
      <p:boldItalic r:id="rId58"/>
    </p:embeddedFont>
    <p:embeddedFont>
      <p:font typeface="Wingdings 2" pitchFamily="2" charset="2"/>
      <p:regular r:id="rId5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A1C5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3"/>
    <p:restoredTop sz="91575"/>
  </p:normalViewPr>
  <p:slideViewPr>
    <p:cSldViewPr snapToGrid="0" snapToObjects="1">
      <p:cViewPr varScale="1">
        <p:scale>
          <a:sx n="116" d="100"/>
          <a:sy n="116" d="100"/>
        </p:scale>
        <p:origin x="1536" y="184"/>
      </p:cViewPr>
      <p:guideLst/>
    </p:cSldViewPr>
  </p:slideViewPr>
  <p:outlineViewPr>
    <p:cViewPr>
      <p:scale>
        <a:sx n="33" d="100"/>
        <a:sy n="33" d="100"/>
      </p:scale>
      <p:origin x="0" y="-147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8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9F5E77-A52C-8B48-9DF2-30D272C49E9D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7CD1C95-4D9F-9F48-AE5E-E92312BC7BBC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</a:t>
          </a:r>
          <a:r>
            <a:rPr lang="fr-FR" sz="1400" dirty="0" err="1"/>
            <a:t>Amoxicilin</a:t>
          </a:r>
          <a:r>
            <a:rPr lang="fr-FR" sz="1400" dirty="0"/>
            <a:t> 500 mg PO q8h x 7 </a:t>
          </a:r>
          <a:r>
            <a:rPr lang="fr-FR" sz="1400" dirty="0" err="1"/>
            <a:t>days</a:t>
          </a:r>
          <a:r>
            <a:rPr lang="fr-FR" sz="1400" dirty="0"/>
            <a:t>’</a:t>
          </a:r>
        </a:p>
      </dgm:t>
    </dgm:pt>
    <dgm:pt modelId="{FCC6F052-CE47-DA4B-A428-E205E0B377A4}" type="parTrans" cxnId="{13ABD327-7814-1A45-A97F-DDA8C1926788}">
      <dgm:prSet/>
      <dgm:spPr/>
      <dgm:t>
        <a:bodyPr/>
        <a:lstStyle/>
        <a:p>
          <a:endParaRPr lang="fr-FR" sz="1000"/>
        </a:p>
      </dgm:t>
    </dgm:pt>
    <dgm:pt modelId="{29F869A9-CECA-5844-8332-39A879D3B120}" type="sibTrans" cxnId="{13ABD327-7814-1A45-A97F-DDA8C1926788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/>
            <a:t>Drug administration </a:t>
          </a:r>
          <a:r>
            <a:rPr lang="fr-FR" sz="1000" i="1" dirty="0" err="1"/>
            <a:t>specification</a:t>
          </a:r>
          <a:r>
            <a:rPr lang="fr-FR" sz="1000" dirty="0"/>
            <a:t> (DAS)</a:t>
          </a:r>
          <a:endParaRPr lang="fr-FR" sz="1000" i="1" dirty="0">
            <a:solidFill>
              <a:srgbClr val="6EA1C5"/>
            </a:solidFill>
          </a:endParaRPr>
        </a:p>
      </dgm:t>
    </dgm:pt>
    <dgm:pt modelId="{652ED37C-3E0B-D949-966A-D9133DD407A1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</a:t>
          </a:r>
          <a:r>
            <a:rPr lang="fr-FR" sz="1400" dirty="0" err="1"/>
            <a:t>Amoxicilin</a:t>
          </a:r>
          <a:r>
            <a:rPr lang="fr-FR" sz="1400" dirty="0"/>
            <a:t>’</a:t>
          </a:r>
        </a:p>
      </dgm:t>
    </dgm:pt>
    <dgm:pt modelId="{FCBC5CD3-EE2F-C647-B7AC-FC968CF1FA40}" type="parTrans" cxnId="{C3638576-5F97-6345-B3EA-556EB4EFAA7C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0620F299-D651-DB45-8EF2-8B62669BB0E3}" type="sibTrans" cxnId="{C3638576-5F97-6345-B3EA-556EB4EFAA7C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b="0" i="1" dirty="0"/>
            <a:t>D</a:t>
          </a:r>
          <a:r>
            <a:rPr lang="fr-FR" sz="1000" i="1" dirty="0"/>
            <a:t>rug </a:t>
          </a:r>
          <a:r>
            <a:rPr lang="fr-FR" sz="1000" i="1" dirty="0" err="1"/>
            <a:t>product</a:t>
          </a:r>
          <a:r>
            <a:rPr lang="fr-FR" sz="1000" i="1" dirty="0"/>
            <a:t> </a:t>
          </a:r>
          <a:r>
            <a:rPr lang="fr-FR" sz="1000" i="1" dirty="0" err="1"/>
            <a:t>specification</a:t>
          </a:r>
          <a:r>
            <a:rPr lang="fr-FR" sz="1000" dirty="0"/>
            <a:t> (DPS)</a:t>
          </a:r>
          <a:endParaRPr lang="fr-FR" sz="1000" i="1" dirty="0"/>
        </a:p>
      </dgm:t>
    </dgm:pt>
    <dgm:pt modelId="{23C5B782-16F3-0244-8C77-D1E036583719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‘500 mg PO q8h x 7 </a:t>
          </a:r>
          <a:r>
            <a:rPr lang="fr-FR" sz="1400" dirty="0" err="1"/>
            <a:t>days</a:t>
          </a:r>
          <a:r>
            <a:rPr lang="fr-FR" sz="1400" dirty="0"/>
            <a:t>’</a:t>
          </a:r>
        </a:p>
      </dgm:t>
    </dgm:pt>
    <dgm:pt modelId="{A53E65B3-FD62-1D4E-AE3F-623B326E97CB}" type="parTrans" cxnId="{A30A9816-026D-4744-ACC6-4DF33DEE271F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7C2CFF01-0DF3-D243-BA51-9BC514372FA3}" type="sibTrans" cxnId="{A30A9816-026D-4744-ACC6-4DF33DEE271F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 err="1"/>
            <a:t>Prescribed</a:t>
          </a:r>
          <a:r>
            <a:rPr lang="fr-FR" sz="1000" i="1" dirty="0"/>
            <a:t> </a:t>
          </a:r>
          <a:r>
            <a:rPr lang="fr-FR" sz="1000" i="1" dirty="0" err="1"/>
            <a:t>dosing</a:t>
          </a:r>
          <a:r>
            <a:rPr lang="fr-FR" sz="1000" i="1" dirty="0"/>
            <a:t> </a:t>
          </a:r>
          <a:r>
            <a:rPr lang="fr-FR" sz="1000" i="1" dirty="0" err="1"/>
            <a:t>specification</a:t>
          </a:r>
          <a:r>
            <a:rPr lang="fr-FR" sz="1000" dirty="0"/>
            <a:t> (PDS)</a:t>
          </a:r>
          <a:endParaRPr lang="fr-FR" sz="1000" i="1" dirty="0"/>
        </a:p>
      </dgm:t>
    </dgm:pt>
    <dgm:pt modelId="{EF84F134-C688-474F-BD06-D512BD672F4B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‘500 mg PO q8h’</a:t>
          </a:r>
        </a:p>
      </dgm:t>
    </dgm:pt>
    <dgm:pt modelId="{BDC322BB-904A-E246-80FA-EB72C30ABBDA}" type="parTrans" cxnId="{1FF4F025-62B1-F740-8752-C72C68CF2B54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F818B86F-99F7-CC4B-B2BD-33D2DF7B2DB8}" type="sibTrans" cxnId="{1FF4F025-62B1-F740-8752-C72C68CF2B54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/>
            <a:t>Dose administration </a:t>
          </a:r>
          <a:r>
            <a:rPr lang="fr-FR" sz="1000" i="1" dirty="0" err="1"/>
            <a:t>specification</a:t>
          </a:r>
          <a:r>
            <a:rPr lang="fr-FR" sz="1000" dirty="0"/>
            <a:t> (</a:t>
          </a:r>
          <a:r>
            <a:rPr lang="fr-FR" sz="1000" dirty="0" err="1"/>
            <a:t>DoAS</a:t>
          </a:r>
          <a:r>
            <a:rPr lang="fr-FR" sz="1000" dirty="0"/>
            <a:t>)</a:t>
          </a:r>
          <a:endParaRPr lang="fr-FR" sz="1000" i="1" dirty="0"/>
        </a:p>
      </dgm:t>
    </dgm:pt>
    <dgm:pt modelId="{351D15B4-3F51-2840-8B69-0516A25EF459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‘x7 </a:t>
          </a:r>
          <a:r>
            <a:rPr lang="fr-FR" sz="1400" dirty="0" err="1"/>
            <a:t>days</a:t>
          </a:r>
          <a:r>
            <a:rPr lang="fr-FR" sz="1400" dirty="0"/>
            <a:t>’</a:t>
          </a:r>
        </a:p>
      </dgm:t>
    </dgm:pt>
    <dgm:pt modelId="{BA578A96-461E-BD47-8D3B-CE33B3D285CB}" type="parTrans" cxnId="{D597076A-825E-0B4B-BA1F-E4423982EEA8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699412DE-85CE-C04F-AEE3-143FC5D8CACD}" type="sibTrans" cxnId="{D597076A-825E-0B4B-BA1F-E4423982EEA8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 err="1"/>
            <a:t>Continuing</a:t>
          </a:r>
          <a:r>
            <a:rPr lang="fr-FR" sz="1000" i="1" dirty="0"/>
            <a:t> condition</a:t>
          </a:r>
          <a:r>
            <a:rPr lang="fr-FR" sz="1000" dirty="0"/>
            <a:t> (CC)</a:t>
          </a:r>
          <a:endParaRPr lang="fr-FR" sz="1000" i="1" dirty="0"/>
        </a:p>
      </dgm:t>
    </dgm:pt>
    <dgm:pt modelId="{FD36E701-2BF2-B74D-80FD-1E839128F93B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‘500 mg’</a:t>
          </a:r>
        </a:p>
      </dgm:t>
    </dgm:pt>
    <dgm:pt modelId="{17A184B7-17BB-154A-B5ED-9ED5CD73E74B}" type="parTrans" cxnId="{EDBA6C06-90A9-8443-A74D-846C60E60BB7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779C43EF-4455-E844-AA48-59DDF99EEB1A}" type="sibTrans" cxnId="{EDBA6C06-90A9-8443-A74D-846C60E60BB7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/>
            <a:t>Dose quantification </a:t>
          </a:r>
          <a:r>
            <a:rPr lang="fr-FR" sz="1000" i="1" dirty="0" err="1"/>
            <a:t>specification</a:t>
          </a:r>
          <a:r>
            <a:rPr lang="fr-FR" sz="1000" dirty="0"/>
            <a:t> (DQS)</a:t>
          </a:r>
          <a:endParaRPr lang="fr-FR" sz="1000" i="1" dirty="0"/>
        </a:p>
      </dgm:t>
    </dgm:pt>
    <dgm:pt modelId="{4BA7390C-11B5-D24A-91F4-0825952EA137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‘PO’</a:t>
          </a:r>
        </a:p>
      </dgm:t>
    </dgm:pt>
    <dgm:pt modelId="{662C3D02-CA6E-2B49-B333-0D08C0ED71EC}" type="parTrans" cxnId="{5E78E2EB-2665-A548-A078-D403EFAA2C6E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7121D40D-7D91-D640-AF64-9ACD51C36F7F}" type="sibTrans" cxnId="{5E78E2EB-2665-A548-A078-D403EFAA2C6E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/>
            <a:t>Route of administration </a:t>
          </a:r>
          <a:r>
            <a:rPr lang="fr-FR" sz="1000" i="1" dirty="0" err="1"/>
            <a:t>specification</a:t>
          </a:r>
          <a:r>
            <a:rPr lang="fr-FR" sz="1000" i="1" dirty="0"/>
            <a:t> </a:t>
          </a:r>
          <a:r>
            <a:rPr lang="fr-FR" sz="1000" dirty="0"/>
            <a:t>(</a:t>
          </a:r>
          <a:r>
            <a:rPr lang="fr-FR" sz="1000" dirty="0" err="1"/>
            <a:t>RoAS</a:t>
          </a:r>
          <a:r>
            <a:rPr lang="fr-FR" sz="1000" dirty="0"/>
            <a:t>)</a:t>
          </a:r>
          <a:endParaRPr lang="fr-FR" sz="1000" i="1" dirty="0"/>
        </a:p>
      </dgm:t>
    </dgm:pt>
    <dgm:pt modelId="{2020D759-1DA5-764C-B57D-AB86B07A6FAF}">
      <dgm:prSet phldrT="[Texte]" custT="1"/>
      <dgm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r>
            <a:rPr lang="fr-FR" sz="1400" dirty="0"/>
            <a:t>‘q8h’</a:t>
          </a:r>
        </a:p>
      </dgm:t>
    </dgm:pt>
    <dgm:pt modelId="{2192FAC8-A6C4-E541-A0DD-0B2E55EBB74F}" type="parTrans" cxnId="{F28A4C80-B649-4B4D-9582-BCCEC80C3478}">
      <dgm:prSet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endParaRPr lang="fr-FR" sz="1000"/>
        </a:p>
      </dgm:t>
    </dgm:pt>
    <dgm:pt modelId="{4564506E-7FB6-844D-8CD8-11BDE240AA5E}" type="sibTrans" cxnId="{F28A4C80-B649-4B4D-9582-BCCEC80C3478}">
      <dgm:prSet custT="1"/>
      <dgm:spPr>
        <a:ln>
          <a:solidFill>
            <a:schemeClr val="bg1">
              <a:lumMod val="50000"/>
            </a:schemeClr>
          </a:solidFill>
        </a:ln>
      </dgm:spPr>
      <dgm:t>
        <a:bodyPr lIns="14400" tIns="14400" rIns="14400" bIns="14400"/>
        <a:lstStyle/>
        <a:p>
          <a:pPr algn="ctr"/>
          <a:r>
            <a:rPr lang="fr-FR" sz="1000" b="1" i="0" dirty="0" err="1"/>
            <a:t>instance_of</a:t>
          </a:r>
          <a:r>
            <a:rPr lang="fr-FR" sz="1000" b="1" i="0" dirty="0"/>
            <a:t> </a:t>
          </a:r>
          <a:r>
            <a:rPr lang="fr-FR" sz="1000" i="1" dirty="0" err="1"/>
            <a:t>Dosing</a:t>
          </a:r>
          <a:r>
            <a:rPr lang="fr-FR" sz="1000" i="1" dirty="0"/>
            <a:t> condition</a:t>
          </a:r>
          <a:r>
            <a:rPr lang="fr-FR" sz="1000" dirty="0"/>
            <a:t> (DC)</a:t>
          </a:r>
          <a:endParaRPr lang="fr-FR" sz="1000" i="1" dirty="0"/>
        </a:p>
      </dgm:t>
    </dgm:pt>
    <dgm:pt modelId="{6A8549AE-CD07-E143-975B-F0C9C62826D4}" type="pres">
      <dgm:prSet presAssocID="{E39F5E77-A52C-8B48-9DF2-30D272C49E9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430BD4B-06E3-E044-BC48-9863C5B705AF}" type="pres">
      <dgm:prSet presAssocID="{E7CD1C95-4D9F-9F48-AE5E-E92312BC7BBC}" presName="hierRoot1" presStyleCnt="0">
        <dgm:presLayoutVars>
          <dgm:hierBranch val="init"/>
        </dgm:presLayoutVars>
      </dgm:prSet>
      <dgm:spPr/>
    </dgm:pt>
    <dgm:pt modelId="{F97A293C-639E-6842-89C3-24C21D13005F}" type="pres">
      <dgm:prSet presAssocID="{E7CD1C95-4D9F-9F48-AE5E-E92312BC7BBC}" presName="rootComposite1" presStyleCnt="0"/>
      <dgm:spPr/>
    </dgm:pt>
    <dgm:pt modelId="{51D75D6B-47E1-3445-A118-C34D8B3C98A6}" type="pres">
      <dgm:prSet presAssocID="{E7CD1C95-4D9F-9F48-AE5E-E92312BC7BBC}" presName="rootText1" presStyleLbl="node0" presStyleIdx="0" presStyleCnt="1" custScaleX="321361" custScaleY="39447">
        <dgm:presLayoutVars>
          <dgm:chMax/>
          <dgm:chPref val="3"/>
        </dgm:presLayoutVars>
      </dgm:prSet>
      <dgm:spPr/>
    </dgm:pt>
    <dgm:pt modelId="{314CEA8C-57E6-534E-A884-5CF4B066D5CC}" type="pres">
      <dgm:prSet presAssocID="{E7CD1C95-4D9F-9F48-AE5E-E92312BC7BBC}" presName="titleText1" presStyleLbl="fgAcc0" presStyleIdx="0" presStyleCnt="1" custScaleX="366311" custScaleY="135214">
        <dgm:presLayoutVars>
          <dgm:chMax val="0"/>
          <dgm:chPref val="0"/>
        </dgm:presLayoutVars>
      </dgm:prSet>
      <dgm:spPr/>
    </dgm:pt>
    <dgm:pt modelId="{5FB4F0A0-896A-B343-9E1E-B5427525A4B2}" type="pres">
      <dgm:prSet presAssocID="{E7CD1C95-4D9F-9F48-AE5E-E92312BC7BBC}" presName="rootConnector1" presStyleLbl="node1" presStyleIdx="0" presStyleCnt="7"/>
      <dgm:spPr/>
    </dgm:pt>
    <dgm:pt modelId="{71C198D4-7D2A-F148-8F53-1D572489FB39}" type="pres">
      <dgm:prSet presAssocID="{E7CD1C95-4D9F-9F48-AE5E-E92312BC7BBC}" presName="hierChild2" presStyleCnt="0"/>
      <dgm:spPr/>
    </dgm:pt>
    <dgm:pt modelId="{803395E9-6080-6044-8E8E-88AB42FC3186}" type="pres">
      <dgm:prSet presAssocID="{FCBC5CD3-EE2F-C647-B7AC-FC968CF1FA40}" presName="Name37" presStyleLbl="parChTrans1D2" presStyleIdx="0" presStyleCnt="2"/>
      <dgm:spPr/>
    </dgm:pt>
    <dgm:pt modelId="{2BF0D723-38D1-7F4C-BF1B-BFDDAA319649}" type="pres">
      <dgm:prSet presAssocID="{652ED37C-3E0B-D949-966A-D9133DD407A1}" presName="hierRoot2" presStyleCnt="0">
        <dgm:presLayoutVars>
          <dgm:hierBranch val="init"/>
        </dgm:presLayoutVars>
      </dgm:prSet>
      <dgm:spPr/>
    </dgm:pt>
    <dgm:pt modelId="{8064D621-954F-914D-B018-7DBEA86BC57B}" type="pres">
      <dgm:prSet presAssocID="{652ED37C-3E0B-D949-966A-D9133DD407A1}" presName="rootComposite" presStyleCnt="0"/>
      <dgm:spPr/>
    </dgm:pt>
    <dgm:pt modelId="{6D55EB8B-CEBB-F840-B91B-E24890CCF5DB}" type="pres">
      <dgm:prSet presAssocID="{652ED37C-3E0B-D949-966A-D9133DD407A1}" presName="rootText" presStyleLbl="node1" presStyleIdx="0" presStyleCnt="7" custScaleX="147260" custScaleY="39447">
        <dgm:presLayoutVars>
          <dgm:chMax/>
          <dgm:chPref val="3"/>
        </dgm:presLayoutVars>
      </dgm:prSet>
      <dgm:spPr/>
    </dgm:pt>
    <dgm:pt modelId="{BC660D98-AEF2-144D-98B9-CA8620E376C2}" type="pres">
      <dgm:prSet presAssocID="{652ED37C-3E0B-D949-966A-D9133DD407A1}" presName="titleText2" presStyleLbl="fgAcc1" presStyleIdx="0" presStyleCnt="7" custScaleX="224647" custScaleY="121706">
        <dgm:presLayoutVars>
          <dgm:chMax val="0"/>
          <dgm:chPref val="0"/>
        </dgm:presLayoutVars>
      </dgm:prSet>
      <dgm:spPr/>
    </dgm:pt>
    <dgm:pt modelId="{4BBB5CFB-62FF-8E42-839A-B9D6E6226E4E}" type="pres">
      <dgm:prSet presAssocID="{652ED37C-3E0B-D949-966A-D9133DD407A1}" presName="rootConnector" presStyleLbl="node2" presStyleIdx="0" presStyleCnt="0"/>
      <dgm:spPr/>
    </dgm:pt>
    <dgm:pt modelId="{707EBE67-6246-C243-87D5-391D43B9FCAD}" type="pres">
      <dgm:prSet presAssocID="{652ED37C-3E0B-D949-966A-D9133DD407A1}" presName="hierChild4" presStyleCnt="0"/>
      <dgm:spPr/>
    </dgm:pt>
    <dgm:pt modelId="{C8A94DE5-72BD-7246-8D3D-17E58F867246}" type="pres">
      <dgm:prSet presAssocID="{652ED37C-3E0B-D949-966A-D9133DD407A1}" presName="hierChild5" presStyleCnt="0"/>
      <dgm:spPr/>
    </dgm:pt>
    <dgm:pt modelId="{DDE8EBE9-691E-3D4D-AA91-04A9F686F597}" type="pres">
      <dgm:prSet presAssocID="{A53E65B3-FD62-1D4E-AE3F-623B326E97CB}" presName="Name37" presStyleLbl="parChTrans1D2" presStyleIdx="1" presStyleCnt="2"/>
      <dgm:spPr/>
    </dgm:pt>
    <dgm:pt modelId="{1BD07C48-EFE7-174B-9F88-BA397F60A0B6}" type="pres">
      <dgm:prSet presAssocID="{23C5B782-16F3-0244-8C77-D1E036583719}" presName="hierRoot2" presStyleCnt="0">
        <dgm:presLayoutVars>
          <dgm:hierBranch val="init"/>
        </dgm:presLayoutVars>
      </dgm:prSet>
      <dgm:spPr/>
    </dgm:pt>
    <dgm:pt modelId="{4A34FEA0-5D05-D941-9EB8-0EB8AFC2063C}" type="pres">
      <dgm:prSet presAssocID="{23C5B782-16F3-0244-8C77-D1E036583719}" presName="rootComposite" presStyleCnt="0"/>
      <dgm:spPr/>
    </dgm:pt>
    <dgm:pt modelId="{FE3E55BB-1708-E248-9EEC-4D9A31CF080A}" type="pres">
      <dgm:prSet presAssocID="{23C5B782-16F3-0244-8C77-D1E036583719}" presName="rootText" presStyleLbl="node1" presStyleIdx="1" presStyleCnt="7" custScaleX="237931" custScaleY="39447">
        <dgm:presLayoutVars>
          <dgm:chMax/>
          <dgm:chPref val="3"/>
        </dgm:presLayoutVars>
      </dgm:prSet>
      <dgm:spPr/>
    </dgm:pt>
    <dgm:pt modelId="{B557CD4F-8B33-D346-93C9-5D95C04139EA}" type="pres">
      <dgm:prSet presAssocID="{23C5B782-16F3-0244-8C77-D1E036583719}" presName="titleText2" presStyleLbl="fgAcc1" presStyleIdx="1" presStyleCnt="7" custScaleX="260266" custScaleY="121706">
        <dgm:presLayoutVars>
          <dgm:chMax val="0"/>
          <dgm:chPref val="0"/>
        </dgm:presLayoutVars>
      </dgm:prSet>
      <dgm:spPr/>
    </dgm:pt>
    <dgm:pt modelId="{E67DC6F4-FE74-2F42-9BA2-32E75DBC08F4}" type="pres">
      <dgm:prSet presAssocID="{23C5B782-16F3-0244-8C77-D1E036583719}" presName="rootConnector" presStyleLbl="node2" presStyleIdx="0" presStyleCnt="0"/>
      <dgm:spPr/>
    </dgm:pt>
    <dgm:pt modelId="{47CFFF4B-9139-324A-B76F-6C490B4B9BA1}" type="pres">
      <dgm:prSet presAssocID="{23C5B782-16F3-0244-8C77-D1E036583719}" presName="hierChild4" presStyleCnt="0"/>
      <dgm:spPr/>
    </dgm:pt>
    <dgm:pt modelId="{237CF2F7-6168-4C45-AA4F-C6E776A625C1}" type="pres">
      <dgm:prSet presAssocID="{BDC322BB-904A-E246-80FA-EB72C30ABBDA}" presName="Name37" presStyleLbl="parChTrans1D3" presStyleIdx="0" presStyleCnt="2"/>
      <dgm:spPr/>
    </dgm:pt>
    <dgm:pt modelId="{FFAF3513-E6BD-1E4C-9FA1-1F25F8AD8152}" type="pres">
      <dgm:prSet presAssocID="{EF84F134-C688-474F-BD06-D512BD672F4B}" presName="hierRoot2" presStyleCnt="0">
        <dgm:presLayoutVars>
          <dgm:hierBranch val="init"/>
        </dgm:presLayoutVars>
      </dgm:prSet>
      <dgm:spPr/>
    </dgm:pt>
    <dgm:pt modelId="{45F98225-8D00-2840-A0EE-3D44D927C798}" type="pres">
      <dgm:prSet presAssocID="{EF84F134-C688-474F-BD06-D512BD672F4B}" presName="rootComposite" presStyleCnt="0"/>
      <dgm:spPr/>
    </dgm:pt>
    <dgm:pt modelId="{93BFAC5B-B23A-C74F-9492-CD8C87E055C3}" type="pres">
      <dgm:prSet presAssocID="{EF84F134-C688-474F-BD06-D512BD672F4B}" presName="rootText" presStyleLbl="node1" presStyleIdx="2" presStyleCnt="7" custScaleX="191438" custScaleY="39447">
        <dgm:presLayoutVars>
          <dgm:chMax/>
          <dgm:chPref val="3"/>
        </dgm:presLayoutVars>
      </dgm:prSet>
      <dgm:spPr/>
    </dgm:pt>
    <dgm:pt modelId="{E2CFA915-D2F8-4B4B-AAAE-B6194070AE84}" type="pres">
      <dgm:prSet presAssocID="{EF84F134-C688-474F-BD06-D512BD672F4B}" presName="titleText2" presStyleLbl="fgAcc1" presStyleIdx="2" presStyleCnt="7" custScaleX="260351" custScaleY="131449">
        <dgm:presLayoutVars>
          <dgm:chMax val="0"/>
          <dgm:chPref val="0"/>
        </dgm:presLayoutVars>
      </dgm:prSet>
      <dgm:spPr/>
    </dgm:pt>
    <dgm:pt modelId="{E53FD52F-FC81-CC4A-A18C-443926948064}" type="pres">
      <dgm:prSet presAssocID="{EF84F134-C688-474F-BD06-D512BD672F4B}" presName="rootConnector" presStyleLbl="node3" presStyleIdx="0" presStyleCnt="0"/>
      <dgm:spPr/>
    </dgm:pt>
    <dgm:pt modelId="{3FBD4B26-5150-C747-A000-6AC6C7A0AAB1}" type="pres">
      <dgm:prSet presAssocID="{EF84F134-C688-474F-BD06-D512BD672F4B}" presName="hierChild4" presStyleCnt="0"/>
      <dgm:spPr/>
    </dgm:pt>
    <dgm:pt modelId="{7C8F0E9A-4B0C-4C47-ACFA-0A7D51A756D7}" type="pres">
      <dgm:prSet presAssocID="{17A184B7-17BB-154A-B5ED-9ED5CD73E74B}" presName="Name37" presStyleLbl="parChTrans1D4" presStyleIdx="0" presStyleCnt="3"/>
      <dgm:spPr/>
    </dgm:pt>
    <dgm:pt modelId="{F1DD7640-642F-5B44-90B6-D731C93CC402}" type="pres">
      <dgm:prSet presAssocID="{FD36E701-2BF2-B74D-80FD-1E839128F93B}" presName="hierRoot2" presStyleCnt="0">
        <dgm:presLayoutVars>
          <dgm:hierBranch val="init"/>
        </dgm:presLayoutVars>
      </dgm:prSet>
      <dgm:spPr/>
    </dgm:pt>
    <dgm:pt modelId="{C6F2F9FF-9D35-CE4E-AFFD-9C034FBFA2C3}" type="pres">
      <dgm:prSet presAssocID="{FD36E701-2BF2-B74D-80FD-1E839128F93B}" presName="rootComposite" presStyleCnt="0"/>
      <dgm:spPr/>
    </dgm:pt>
    <dgm:pt modelId="{DB1DD1D8-1F55-C042-9624-C01DB84996E6}" type="pres">
      <dgm:prSet presAssocID="{FD36E701-2BF2-B74D-80FD-1E839128F93B}" presName="rootText" presStyleLbl="node1" presStyleIdx="3" presStyleCnt="7" custScaleX="85656" custScaleY="39447">
        <dgm:presLayoutVars>
          <dgm:chMax/>
          <dgm:chPref val="3"/>
        </dgm:presLayoutVars>
      </dgm:prSet>
      <dgm:spPr/>
    </dgm:pt>
    <dgm:pt modelId="{9AF1D83F-5253-8545-816E-652648566F8F}" type="pres">
      <dgm:prSet presAssocID="{FD36E701-2BF2-B74D-80FD-1E839128F93B}" presName="titleText2" presStyleLbl="fgAcc1" presStyleIdx="3" presStyleCnt="7" custScaleX="161574" custScaleY="131449">
        <dgm:presLayoutVars>
          <dgm:chMax val="0"/>
          <dgm:chPref val="0"/>
        </dgm:presLayoutVars>
      </dgm:prSet>
      <dgm:spPr/>
    </dgm:pt>
    <dgm:pt modelId="{E354EBE3-55E6-9345-85CF-54ED8C30E080}" type="pres">
      <dgm:prSet presAssocID="{FD36E701-2BF2-B74D-80FD-1E839128F93B}" presName="rootConnector" presStyleLbl="node4" presStyleIdx="0" presStyleCnt="0"/>
      <dgm:spPr/>
    </dgm:pt>
    <dgm:pt modelId="{77BE124A-0E4C-A541-93EB-35C2D3A0EDEB}" type="pres">
      <dgm:prSet presAssocID="{FD36E701-2BF2-B74D-80FD-1E839128F93B}" presName="hierChild4" presStyleCnt="0"/>
      <dgm:spPr/>
    </dgm:pt>
    <dgm:pt modelId="{EFB78C41-C14A-BC45-81EA-428E661010B6}" type="pres">
      <dgm:prSet presAssocID="{FD36E701-2BF2-B74D-80FD-1E839128F93B}" presName="hierChild5" presStyleCnt="0"/>
      <dgm:spPr/>
    </dgm:pt>
    <dgm:pt modelId="{CD4F5BD3-E93F-9D47-97CE-CF8516C52A64}" type="pres">
      <dgm:prSet presAssocID="{662C3D02-CA6E-2B49-B333-0D08C0ED71EC}" presName="Name37" presStyleLbl="parChTrans1D4" presStyleIdx="1" presStyleCnt="3"/>
      <dgm:spPr/>
    </dgm:pt>
    <dgm:pt modelId="{3C801F1A-F54D-0947-9616-647B8D5E3B0B}" type="pres">
      <dgm:prSet presAssocID="{4BA7390C-11B5-D24A-91F4-0825952EA137}" presName="hierRoot2" presStyleCnt="0">
        <dgm:presLayoutVars>
          <dgm:hierBranch val="init"/>
        </dgm:presLayoutVars>
      </dgm:prSet>
      <dgm:spPr/>
    </dgm:pt>
    <dgm:pt modelId="{5E4121C9-575C-8E4C-B92F-BB2408065FF7}" type="pres">
      <dgm:prSet presAssocID="{4BA7390C-11B5-D24A-91F4-0825952EA137}" presName="rootComposite" presStyleCnt="0"/>
      <dgm:spPr/>
    </dgm:pt>
    <dgm:pt modelId="{A55F73EF-42A5-9E4F-9A66-6BD0DCB8D7D3}" type="pres">
      <dgm:prSet presAssocID="{4BA7390C-11B5-D24A-91F4-0825952EA137}" presName="rootText" presStyleLbl="node1" presStyleIdx="4" presStyleCnt="7" custScaleY="39447">
        <dgm:presLayoutVars>
          <dgm:chMax/>
          <dgm:chPref val="3"/>
        </dgm:presLayoutVars>
      </dgm:prSet>
      <dgm:spPr/>
    </dgm:pt>
    <dgm:pt modelId="{6237DA44-F7E9-FD49-AB66-3F2844BE6B9A}" type="pres">
      <dgm:prSet presAssocID="{4BA7390C-11B5-D24A-91F4-0825952EA137}" presName="titleText2" presStyleLbl="fgAcc1" presStyleIdx="4" presStyleCnt="7" custScaleX="171047" custScaleY="131449">
        <dgm:presLayoutVars>
          <dgm:chMax val="0"/>
          <dgm:chPref val="0"/>
        </dgm:presLayoutVars>
      </dgm:prSet>
      <dgm:spPr/>
    </dgm:pt>
    <dgm:pt modelId="{2481C151-2B3F-6C41-B5E9-ED7055EA5E7D}" type="pres">
      <dgm:prSet presAssocID="{4BA7390C-11B5-D24A-91F4-0825952EA137}" presName="rootConnector" presStyleLbl="node4" presStyleIdx="0" presStyleCnt="0"/>
      <dgm:spPr/>
    </dgm:pt>
    <dgm:pt modelId="{527E758F-151C-E343-BF56-24D2BB181FB2}" type="pres">
      <dgm:prSet presAssocID="{4BA7390C-11B5-D24A-91F4-0825952EA137}" presName="hierChild4" presStyleCnt="0"/>
      <dgm:spPr/>
    </dgm:pt>
    <dgm:pt modelId="{8D7AB41E-C3C7-3541-8148-A5FA3DCF186F}" type="pres">
      <dgm:prSet presAssocID="{4BA7390C-11B5-D24A-91F4-0825952EA137}" presName="hierChild5" presStyleCnt="0"/>
      <dgm:spPr/>
    </dgm:pt>
    <dgm:pt modelId="{4EE8EECC-E328-7443-A2EA-3821A0AF9F30}" type="pres">
      <dgm:prSet presAssocID="{2192FAC8-A6C4-E541-A0DD-0B2E55EBB74F}" presName="Name37" presStyleLbl="parChTrans1D4" presStyleIdx="2" presStyleCnt="3"/>
      <dgm:spPr/>
    </dgm:pt>
    <dgm:pt modelId="{A0C506E1-745F-9F45-9FAE-508544C40D6E}" type="pres">
      <dgm:prSet presAssocID="{2020D759-1DA5-764C-B57D-AB86B07A6FAF}" presName="hierRoot2" presStyleCnt="0">
        <dgm:presLayoutVars>
          <dgm:hierBranch val="init"/>
        </dgm:presLayoutVars>
      </dgm:prSet>
      <dgm:spPr/>
    </dgm:pt>
    <dgm:pt modelId="{529AA193-F206-7F44-9E22-86698F2C3B71}" type="pres">
      <dgm:prSet presAssocID="{2020D759-1DA5-764C-B57D-AB86B07A6FAF}" presName="rootComposite" presStyleCnt="0"/>
      <dgm:spPr/>
    </dgm:pt>
    <dgm:pt modelId="{B9A2CDC7-7B38-634C-8810-2B2563496460}" type="pres">
      <dgm:prSet presAssocID="{2020D759-1DA5-764C-B57D-AB86B07A6FAF}" presName="rootText" presStyleLbl="node1" presStyleIdx="5" presStyleCnt="7" custScaleY="39447">
        <dgm:presLayoutVars>
          <dgm:chMax/>
          <dgm:chPref val="3"/>
        </dgm:presLayoutVars>
      </dgm:prSet>
      <dgm:spPr/>
    </dgm:pt>
    <dgm:pt modelId="{363A8D35-CBA6-864C-8C69-016503AEC4B8}" type="pres">
      <dgm:prSet presAssocID="{2020D759-1DA5-764C-B57D-AB86B07A6FAF}" presName="titleText2" presStyleLbl="fgAcc1" presStyleIdx="5" presStyleCnt="7" custScaleX="114796" custScaleY="131449">
        <dgm:presLayoutVars>
          <dgm:chMax val="0"/>
          <dgm:chPref val="0"/>
        </dgm:presLayoutVars>
      </dgm:prSet>
      <dgm:spPr/>
    </dgm:pt>
    <dgm:pt modelId="{1EA94A0D-68AE-0E46-9B26-C111DA04AC5B}" type="pres">
      <dgm:prSet presAssocID="{2020D759-1DA5-764C-B57D-AB86B07A6FAF}" presName="rootConnector" presStyleLbl="node4" presStyleIdx="0" presStyleCnt="0"/>
      <dgm:spPr/>
    </dgm:pt>
    <dgm:pt modelId="{DFCDCA79-4A95-A94F-A7C6-BD3FB1F5ACF6}" type="pres">
      <dgm:prSet presAssocID="{2020D759-1DA5-764C-B57D-AB86B07A6FAF}" presName="hierChild4" presStyleCnt="0"/>
      <dgm:spPr/>
    </dgm:pt>
    <dgm:pt modelId="{A752799F-2152-B94C-9626-D2D5A7E8587F}" type="pres">
      <dgm:prSet presAssocID="{2020D759-1DA5-764C-B57D-AB86B07A6FAF}" presName="hierChild5" presStyleCnt="0"/>
      <dgm:spPr/>
    </dgm:pt>
    <dgm:pt modelId="{C1A1F767-CDCB-DB4A-8B0D-40C82911F26C}" type="pres">
      <dgm:prSet presAssocID="{EF84F134-C688-474F-BD06-D512BD672F4B}" presName="hierChild5" presStyleCnt="0"/>
      <dgm:spPr/>
    </dgm:pt>
    <dgm:pt modelId="{0322F0A5-DD37-AD48-9E59-F0D1B9BFDB4E}" type="pres">
      <dgm:prSet presAssocID="{BA578A96-461E-BD47-8D3B-CE33B3D285CB}" presName="Name37" presStyleLbl="parChTrans1D3" presStyleIdx="1" presStyleCnt="2"/>
      <dgm:spPr/>
    </dgm:pt>
    <dgm:pt modelId="{3E14E9C0-7439-DD4D-8963-E7F039970CD2}" type="pres">
      <dgm:prSet presAssocID="{351D15B4-3F51-2840-8B69-0516A25EF459}" presName="hierRoot2" presStyleCnt="0">
        <dgm:presLayoutVars>
          <dgm:hierBranch val="init"/>
        </dgm:presLayoutVars>
      </dgm:prSet>
      <dgm:spPr/>
    </dgm:pt>
    <dgm:pt modelId="{18045798-CA5C-1542-A52A-CBBA0D4FF4CC}" type="pres">
      <dgm:prSet presAssocID="{351D15B4-3F51-2840-8B69-0516A25EF459}" presName="rootComposite" presStyleCnt="0"/>
      <dgm:spPr/>
    </dgm:pt>
    <dgm:pt modelId="{77832C7D-66E3-C144-8AC0-34195A960B7C}" type="pres">
      <dgm:prSet presAssocID="{351D15B4-3F51-2840-8B69-0516A25EF459}" presName="rootText" presStyleLbl="node1" presStyleIdx="6" presStyleCnt="7" custScaleX="96702" custScaleY="39447">
        <dgm:presLayoutVars>
          <dgm:chMax/>
          <dgm:chPref val="3"/>
        </dgm:presLayoutVars>
      </dgm:prSet>
      <dgm:spPr/>
    </dgm:pt>
    <dgm:pt modelId="{D9B9C426-F73D-E94A-A39F-D5F4C55E554C}" type="pres">
      <dgm:prSet presAssocID="{351D15B4-3F51-2840-8B69-0516A25EF459}" presName="titleText2" presStyleLbl="fgAcc1" presStyleIdx="6" presStyleCnt="7" custScaleX="161933" custScaleY="131449">
        <dgm:presLayoutVars>
          <dgm:chMax val="0"/>
          <dgm:chPref val="0"/>
        </dgm:presLayoutVars>
      </dgm:prSet>
      <dgm:spPr/>
    </dgm:pt>
    <dgm:pt modelId="{77FACBE4-75DF-514F-9B9C-30F4D55DE546}" type="pres">
      <dgm:prSet presAssocID="{351D15B4-3F51-2840-8B69-0516A25EF459}" presName="rootConnector" presStyleLbl="node3" presStyleIdx="0" presStyleCnt="0"/>
      <dgm:spPr/>
    </dgm:pt>
    <dgm:pt modelId="{4C50D53F-D8A1-9940-A0E0-6CEB9A82F03A}" type="pres">
      <dgm:prSet presAssocID="{351D15B4-3F51-2840-8B69-0516A25EF459}" presName="hierChild4" presStyleCnt="0"/>
      <dgm:spPr/>
    </dgm:pt>
    <dgm:pt modelId="{49D8D3FD-F499-144B-8385-A6620D2121A6}" type="pres">
      <dgm:prSet presAssocID="{351D15B4-3F51-2840-8B69-0516A25EF459}" presName="hierChild5" presStyleCnt="0"/>
      <dgm:spPr/>
    </dgm:pt>
    <dgm:pt modelId="{DF0F63E3-565F-024A-9B39-16563EAE4581}" type="pres">
      <dgm:prSet presAssocID="{23C5B782-16F3-0244-8C77-D1E036583719}" presName="hierChild5" presStyleCnt="0"/>
      <dgm:spPr/>
    </dgm:pt>
    <dgm:pt modelId="{2A6672B0-F626-4A44-9E84-C206E945C1E8}" type="pres">
      <dgm:prSet presAssocID="{E7CD1C95-4D9F-9F48-AE5E-E92312BC7BBC}" presName="hierChild3" presStyleCnt="0"/>
      <dgm:spPr/>
    </dgm:pt>
  </dgm:ptLst>
  <dgm:cxnLst>
    <dgm:cxn modelId="{210F0B01-7C41-6147-A96C-1D00D91864D8}" type="presOf" srcId="{F818B86F-99F7-CC4B-B2BD-33D2DF7B2DB8}" destId="{E2CFA915-D2F8-4B4B-AAAE-B6194070AE84}" srcOrd="0" destOrd="0" presId="urn:microsoft.com/office/officeart/2008/layout/NameandTitleOrganizationalChart"/>
    <dgm:cxn modelId="{9E6DC503-1DC9-D34B-A379-FF11DDE2D1F5}" type="presOf" srcId="{FD36E701-2BF2-B74D-80FD-1E839128F93B}" destId="{E354EBE3-55E6-9345-85CF-54ED8C30E080}" srcOrd="1" destOrd="0" presId="urn:microsoft.com/office/officeart/2008/layout/NameandTitleOrganizationalChart"/>
    <dgm:cxn modelId="{EDBA6C06-90A9-8443-A74D-846C60E60BB7}" srcId="{EF84F134-C688-474F-BD06-D512BD672F4B}" destId="{FD36E701-2BF2-B74D-80FD-1E839128F93B}" srcOrd="0" destOrd="0" parTransId="{17A184B7-17BB-154A-B5ED-9ED5CD73E74B}" sibTransId="{779C43EF-4455-E844-AA48-59DDF99EEB1A}"/>
    <dgm:cxn modelId="{628AC30C-B642-E148-8385-3A61B96FF0FE}" type="presOf" srcId="{779C43EF-4455-E844-AA48-59DDF99EEB1A}" destId="{9AF1D83F-5253-8545-816E-652648566F8F}" srcOrd="0" destOrd="0" presId="urn:microsoft.com/office/officeart/2008/layout/NameandTitleOrganizationalChart"/>
    <dgm:cxn modelId="{A30A9816-026D-4744-ACC6-4DF33DEE271F}" srcId="{E7CD1C95-4D9F-9F48-AE5E-E92312BC7BBC}" destId="{23C5B782-16F3-0244-8C77-D1E036583719}" srcOrd="1" destOrd="0" parTransId="{A53E65B3-FD62-1D4E-AE3F-623B326E97CB}" sibTransId="{7C2CFF01-0DF3-D243-BA51-9BC514372FA3}"/>
    <dgm:cxn modelId="{1FF4F025-62B1-F740-8752-C72C68CF2B54}" srcId="{23C5B782-16F3-0244-8C77-D1E036583719}" destId="{EF84F134-C688-474F-BD06-D512BD672F4B}" srcOrd="0" destOrd="0" parTransId="{BDC322BB-904A-E246-80FA-EB72C30ABBDA}" sibTransId="{F818B86F-99F7-CC4B-B2BD-33D2DF7B2DB8}"/>
    <dgm:cxn modelId="{427AAA26-41F1-7544-8D06-783A163E23B8}" type="presOf" srcId="{FD36E701-2BF2-B74D-80FD-1E839128F93B}" destId="{DB1DD1D8-1F55-C042-9624-C01DB84996E6}" srcOrd="0" destOrd="0" presId="urn:microsoft.com/office/officeart/2008/layout/NameandTitleOrganizationalChart"/>
    <dgm:cxn modelId="{13ABD327-7814-1A45-A97F-DDA8C1926788}" srcId="{E39F5E77-A52C-8B48-9DF2-30D272C49E9D}" destId="{E7CD1C95-4D9F-9F48-AE5E-E92312BC7BBC}" srcOrd="0" destOrd="0" parTransId="{FCC6F052-CE47-DA4B-A428-E205E0B377A4}" sibTransId="{29F869A9-CECA-5844-8332-39A879D3B120}"/>
    <dgm:cxn modelId="{CF47B02B-9B4B-024C-AD90-4575A8781859}" type="presOf" srcId="{662C3D02-CA6E-2B49-B333-0D08C0ED71EC}" destId="{CD4F5BD3-E93F-9D47-97CE-CF8516C52A64}" srcOrd="0" destOrd="0" presId="urn:microsoft.com/office/officeart/2008/layout/NameandTitleOrganizationalChart"/>
    <dgm:cxn modelId="{002DC92B-EC44-AE4E-80F8-BB3668477D56}" type="presOf" srcId="{EF84F134-C688-474F-BD06-D512BD672F4B}" destId="{E53FD52F-FC81-CC4A-A18C-443926948064}" srcOrd="1" destOrd="0" presId="urn:microsoft.com/office/officeart/2008/layout/NameandTitleOrganizationalChart"/>
    <dgm:cxn modelId="{51DBEC40-720E-504A-AC68-EA8B0D8EDC4E}" type="presOf" srcId="{2020D759-1DA5-764C-B57D-AB86B07A6FAF}" destId="{1EA94A0D-68AE-0E46-9B26-C111DA04AC5B}" srcOrd="1" destOrd="0" presId="urn:microsoft.com/office/officeart/2008/layout/NameandTitleOrganizationalChart"/>
    <dgm:cxn modelId="{C7BCB446-BA5C-2148-8CB4-A7F1DE4B7D30}" type="presOf" srcId="{7121D40D-7D91-D640-AF64-9ACD51C36F7F}" destId="{6237DA44-F7E9-FD49-AB66-3F2844BE6B9A}" srcOrd="0" destOrd="0" presId="urn:microsoft.com/office/officeart/2008/layout/NameandTitleOrganizationalChart"/>
    <dgm:cxn modelId="{2F805D56-5461-B144-9C56-0F6372F984B8}" type="presOf" srcId="{7C2CFF01-0DF3-D243-BA51-9BC514372FA3}" destId="{B557CD4F-8B33-D346-93C9-5D95C04139EA}" srcOrd="0" destOrd="0" presId="urn:microsoft.com/office/officeart/2008/layout/NameandTitleOrganizationalChart"/>
    <dgm:cxn modelId="{3A1B4D58-594C-984B-A05C-D59E3D4C9FCA}" type="presOf" srcId="{E7CD1C95-4D9F-9F48-AE5E-E92312BC7BBC}" destId="{5FB4F0A0-896A-B343-9E1E-B5427525A4B2}" srcOrd="1" destOrd="0" presId="urn:microsoft.com/office/officeart/2008/layout/NameandTitleOrganizationalChart"/>
    <dgm:cxn modelId="{00BC6F58-241B-154B-9B56-09E960C373F8}" type="presOf" srcId="{4BA7390C-11B5-D24A-91F4-0825952EA137}" destId="{A55F73EF-42A5-9E4F-9A66-6BD0DCB8D7D3}" srcOrd="0" destOrd="0" presId="urn:microsoft.com/office/officeart/2008/layout/NameandTitleOrganizationalChart"/>
    <dgm:cxn modelId="{D597076A-825E-0B4B-BA1F-E4423982EEA8}" srcId="{23C5B782-16F3-0244-8C77-D1E036583719}" destId="{351D15B4-3F51-2840-8B69-0516A25EF459}" srcOrd="1" destOrd="0" parTransId="{BA578A96-461E-BD47-8D3B-CE33B3D285CB}" sibTransId="{699412DE-85CE-C04F-AEE3-143FC5D8CACD}"/>
    <dgm:cxn modelId="{2FF8776D-81DC-BC42-8415-EBBC327B6EB3}" type="presOf" srcId="{E7CD1C95-4D9F-9F48-AE5E-E92312BC7BBC}" destId="{51D75D6B-47E1-3445-A118-C34D8B3C98A6}" srcOrd="0" destOrd="0" presId="urn:microsoft.com/office/officeart/2008/layout/NameandTitleOrganizationalChart"/>
    <dgm:cxn modelId="{54EF7872-1CE5-6F4D-94E5-B5AB9CE17ABC}" type="presOf" srcId="{EF84F134-C688-474F-BD06-D512BD672F4B}" destId="{93BFAC5B-B23A-C74F-9492-CD8C87E055C3}" srcOrd="0" destOrd="0" presId="urn:microsoft.com/office/officeart/2008/layout/NameandTitleOrganizationalChart"/>
    <dgm:cxn modelId="{C3638576-5F97-6345-B3EA-556EB4EFAA7C}" srcId="{E7CD1C95-4D9F-9F48-AE5E-E92312BC7BBC}" destId="{652ED37C-3E0B-D949-966A-D9133DD407A1}" srcOrd="0" destOrd="0" parTransId="{FCBC5CD3-EE2F-C647-B7AC-FC968CF1FA40}" sibTransId="{0620F299-D651-DB45-8EF2-8B62669BB0E3}"/>
    <dgm:cxn modelId="{2483777E-55A9-B140-BFA4-5AD61DF242AB}" type="presOf" srcId="{351D15B4-3F51-2840-8B69-0516A25EF459}" destId="{77FACBE4-75DF-514F-9B9C-30F4D55DE546}" srcOrd="1" destOrd="0" presId="urn:microsoft.com/office/officeart/2008/layout/NameandTitleOrganizationalChart"/>
    <dgm:cxn modelId="{F28A4C80-B649-4B4D-9582-BCCEC80C3478}" srcId="{EF84F134-C688-474F-BD06-D512BD672F4B}" destId="{2020D759-1DA5-764C-B57D-AB86B07A6FAF}" srcOrd="2" destOrd="0" parTransId="{2192FAC8-A6C4-E541-A0DD-0B2E55EBB74F}" sibTransId="{4564506E-7FB6-844D-8CD8-11BDE240AA5E}"/>
    <dgm:cxn modelId="{879D3586-8D1C-9942-8A95-4DBDA512231C}" type="presOf" srcId="{652ED37C-3E0B-D949-966A-D9133DD407A1}" destId="{4BBB5CFB-62FF-8E42-839A-B9D6E6226E4E}" srcOrd="1" destOrd="0" presId="urn:microsoft.com/office/officeart/2008/layout/NameandTitleOrganizationalChart"/>
    <dgm:cxn modelId="{2F824F8F-304A-DB42-84F9-52BE3046B921}" type="presOf" srcId="{29F869A9-CECA-5844-8332-39A879D3B120}" destId="{314CEA8C-57E6-534E-A884-5CF4B066D5CC}" srcOrd="0" destOrd="0" presId="urn:microsoft.com/office/officeart/2008/layout/NameandTitleOrganizationalChart"/>
    <dgm:cxn modelId="{6B7F3696-6999-984E-9207-17C6081EFE27}" type="presOf" srcId="{BA578A96-461E-BD47-8D3B-CE33B3D285CB}" destId="{0322F0A5-DD37-AD48-9E59-F0D1B9BFDB4E}" srcOrd="0" destOrd="0" presId="urn:microsoft.com/office/officeart/2008/layout/NameandTitleOrganizationalChart"/>
    <dgm:cxn modelId="{C8DEFA98-4779-8E4D-9A9D-BC7517A0D25C}" type="presOf" srcId="{2192FAC8-A6C4-E541-A0DD-0B2E55EBB74F}" destId="{4EE8EECC-E328-7443-A2EA-3821A0AF9F30}" srcOrd="0" destOrd="0" presId="urn:microsoft.com/office/officeart/2008/layout/NameandTitleOrganizationalChart"/>
    <dgm:cxn modelId="{5CBAEF9C-7E01-874F-976E-DD63C0F0237C}" type="presOf" srcId="{BDC322BB-904A-E246-80FA-EB72C30ABBDA}" destId="{237CF2F7-6168-4C45-AA4F-C6E776A625C1}" srcOrd="0" destOrd="0" presId="urn:microsoft.com/office/officeart/2008/layout/NameandTitleOrganizationalChart"/>
    <dgm:cxn modelId="{BD366CA6-75C7-BB4C-9CE8-6B22360C6D4B}" type="presOf" srcId="{0620F299-D651-DB45-8EF2-8B62669BB0E3}" destId="{BC660D98-AEF2-144D-98B9-CA8620E376C2}" srcOrd="0" destOrd="0" presId="urn:microsoft.com/office/officeart/2008/layout/NameandTitleOrganizationalChart"/>
    <dgm:cxn modelId="{43612DA8-71F3-564B-BC6B-C738C062A4CB}" type="presOf" srcId="{2020D759-1DA5-764C-B57D-AB86B07A6FAF}" destId="{B9A2CDC7-7B38-634C-8810-2B2563496460}" srcOrd="0" destOrd="0" presId="urn:microsoft.com/office/officeart/2008/layout/NameandTitleOrganizationalChart"/>
    <dgm:cxn modelId="{C0E25DAA-2660-4B45-95A7-B46AEC614FCA}" type="presOf" srcId="{E39F5E77-A52C-8B48-9DF2-30D272C49E9D}" destId="{6A8549AE-CD07-E143-975B-F0C9C62826D4}" srcOrd="0" destOrd="0" presId="urn:microsoft.com/office/officeart/2008/layout/NameandTitleOrganizationalChart"/>
    <dgm:cxn modelId="{B673B5AC-7CA4-BE4A-BC93-981849894460}" type="presOf" srcId="{652ED37C-3E0B-D949-966A-D9133DD407A1}" destId="{6D55EB8B-CEBB-F840-B91B-E24890CCF5DB}" srcOrd="0" destOrd="0" presId="urn:microsoft.com/office/officeart/2008/layout/NameandTitleOrganizationalChart"/>
    <dgm:cxn modelId="{87275DBB-0BC9-804C-ACFB-B18BD07FE6BB}" type="presOf" srcId="{351D15B4-3F51-2840-8B69-0516A25EF459}" destId="{77832C7D-66E3-C144-8AC0-34195A960B7C}" srcOrd="0" destOrd="0" presId="urn:microsoft.com/office/officeart/2008/layout/NameandTitleOrganizationalChart"/>
    <dgm:cxn modelId="{60486FBB-D974-7F41-8C22-2A05CE6616C2}" type="presOf" srcId="{23C5B782-16F3-0244-8C77-D1E036583719}" destId="{FE3E55BB-1708-E248-9EEC-4D9A31CF080A}" srcOrd="0" destOrd="0" presId="urn:microsoft.com/office/officeart/2008/layout/NameandTitleOrganizationalChart"/>
    <dgm:cxn modelId="{A2F013D2-0D01-8846-85C1-F4DBD9FB0E94}" type="presOf" srcId="{FCBC5CD3-EE2F-C647-B7AC-FC968CF1FA40}" destId="{803395E9-6080-6044-8E8E-88AB42FC3186}" srcOrd="0" destOrd="0" presId="urn:microsoft.com/office/officeart/2008/layout/NameandTitleOrganizationalChart"/>
    <dgm:cxn modelId="{D4B3BFDD-D708-EA42-873B-C3F19E22C268}" type="presOf" srcId="{17A184B7-17BB-154A-B5ED-9ED5CD73E74B}" destId="{7C8F0E9A-4B0C-4C47-ACFA-0A7D51A756D7}" srcOrd="0" destOrd="0" presId="urn:microsoft.com/office/officeart/2008/layout/NameandTitleOrganizationalChart"/>
    <dgm:cxn modelId="{A44CAEE3-AEB0-AB4D-B85C-88DC87C0F20C}" type="presOf" srcId="{A53E65B3-FD62-1D4E-AE3F-623B326E97CB}" destId="{DDE8EBE9-691E-3D4D-AA91-04A9F686F597}" srcOrd="0" destOrd="0" presId="urn:microsoft.com/office/officeart/2008/layout/NameandTitleOrganizationalChart"/>
    <dgm:cxn modelId="{16DCF6E9-F00F-7942-B92B-1B8FC5DA0C1C}" type="presOf" srcId="{23C5B782-16F3-0244-8C77-D1E036583719}" destId="{E67DC6F4-FE74-2F42-9BA2-32E75DBC08F4}" srcOrd="1" destOrd="0" presId="urn:microsoft.com/office/officeart/2008/layout/NameandTitleOrganizationalChart"/>
    <dgm:cxn modelId="{5E78E2EB-2665-A548-A078-D403EFAA2C6E}" srcId="{EF84F134-C688-474F-BD06-D512BD672F4B}" destId="{4BA7390C-11B5-D24A-91F4-0825952EA137}" srcOrd="1" destOrd="0" parTransId="{662C3D02-CA6E-2B49-B333-0D08C0ED71EC}" sibTransId="{7121D40D-7D91-D640-AF64-9ACD51C36F7F}"/>
    <dgm:cxn modelId="{518356F0-A21C-2640-9B9C-FFFC63A9FD48}" type="presOf" srcId="{699412DE-85CE-C04F-AEE3-143FC5D8CACD}" destId="{D9B9C426-F73D-E94A-A39F-D5F4C55E554C}" srcOrd="0" destOrd="0" presId="urn:microsoft.com/office/officeart/2008/layout/NameandTitleOrganizationalChart"/>
    <dgm:cxn modelId="{41038FF3-8A14-2441-9D58-A1A8E32477E0}" type="presOf" srcId="{4564506E-7FB6-844D-8CD8-11BDE240AA5E}" destId="{363A8D35-CBA6-864C-8C69-016503AEC4B8}" srcOrd="0" destOrd="0" presId="urn:microsoft.com/office/officeart/2008/layout/NameandTitleOrganizationalChart"/>
    <dgm:cxn modelId="{BDB21FFC-926A-BC42-9792-6FECC1E9DF81}" type="presOf" srcId="{4BA7390C-11B5-D24A-91F4-0825952EA137}" destId="{2481C151-2B3F-6C41-B5E9-ED7055EA5E7D}" srcOrd="1" destOrd="0" presId="urn:microsoft.com/office/officeart/2008/layout/NameandTitleOrganizationalChart"/>
    <dgm:cxn modelId="{3F38EB74-EA76-3147-B381-EE7D426D29AD}" type="presParOf" srcId="{6A8549AE-CD07-E143-975B-F0C9C62826D4}" destId="{A430BD4B-06E3-E044-BC48-9863C5B705AF}" srcOrd="0" destOrd="0" presId="urn:microsoft.com/office/officeart/2008/layout/NameandTitleOrganizationalChart"/>
    <dgm:cxn modelId="{D4FF950C-95C6-3A4D-B52C-9B070A10538D}" type="presParOf" srcId="{A430BD4B-06E3-E044-BC48-9863C5B705AF}" destId="{F97A293C-639E-6842-89C3-24C21D13005F}" srcOrd="0" destOrd="0" presId="urn:microsoft.com/office/officeart/2008/layout/NameandTitleOrganizationalChart"/>
    <dgm:cxn modelId="{8D4C5C46-41AF-554D-B4C1-AF2C37D761B3}" type="presParOf" srcId="{F97A293C-639E-6842-89C3-24C21D13005F}" destId="{51D75D6B-47E1-3445-A118-C34D8B3C98A6}" srcOrd="0" destOrd="0" presId="urn:microsoft.com/office/officeart/2008/layout/NameandTitleOrganizationalChart"/>
    <dgm:cxn modelId="{56130767-C034-2641-AC29-3FD0BC2D54F0}" type="presParOf" srcId="{F97A293C-639E-6842-89C3-24C21D13005F}" destId="{314CEA8C-57E6-534E-A884-5CF4B066D5CC}" srcOrd="1" destOrd="0" presId="urn:microsoft.com/office/officeart/2008/layout/NameandTitleOrganizationalChart"/>
    <dgm:cxn modelId="{F1015B9D-37A9-F246-A15F-EF169B4716F9}" type="presParOf" srcId="{F97A293C-639E-6842-89C3-24C21D13005F}" destId="{5FB4F0A0-896A-B343-9E1E-B5427525A4B2}" srcOrd="2" destOrd="0" presId="urn:microsoft.com/office/officeart/2008/layout/NameandTitleOrganizationalChart"/>
    <dgm:cxn modelId="{792457B8-781E-D649-843A-FC0930C3EC9B}" type="presParOf" srcId="{A430BD4B-06E3-E044-BC48-9863C5B705AF}" destId="{71C198D4-7D2A-F148-8F53-1D572489FB39}" srcOrd="1" destOrd="0" presId="urn:microsoft.com/office/officeart/2008/layout/NameandTitleOrganizationalChart"/>
    <dgm:cxn modelId="{E2B81D10-0DA3-7740-97C7-67A7C4BAE549}" type="presParOf" srcId="{71C198D4-7D2A-F148-8F53-1D572489FB39}" destId="{803395E9-6080-6044-8E8E-88AB42FC3186}" srcOrd="0" destOrd="0" presId="urn:microsoft.com/office/officeart/2008/layout/NameandTitleOrganizationalChart"/>
    <dgm:cxn modelId="{F37DA871-07B8-E34B-9D50-0E18365856DB}" type="presParOf" srcId="{71C198D4-7D2A-F148-8F53-1D572489FB39}" destId="{2BF0D723-38D1-7F4C-BF1B-BFDDAA319649}" srcOrd="1" destOrd="0" presId="urn:microsoft.com/office/officeart/2008/layout/NameandTitleOrganizationalChart"/>
    <dgm:cxn modelId="{75211B12-0B2D-894D-B59F-D6E921284C64}" type="presParOf" srcId="{2BF0D723-38D1-7F4C-BF1B-BFDDAA319649}" destId="{8064D621-954F-914D-B018-7DBEA86BC57B}" srcOrd="0" destOrd="0" presId="urn:microsoft.com/office/officeart/2008/layout/NameandTitleOrganizationalChart"/>
    <dgm:cxn modelId="{FDF6BD13-B9CD-A34A-B798-8AF61C5A0FD1}" type="presParOf" srcId="{8064D621-954F-914D-B018-7DBEA86BC57B}" destId="{6D55EB8B-CEBB-F840-B91B-E24890CCF5DB}" srcOrd="0" destOrd="0" presId="urn:microsoft.com/office/officeart/2008/layout/NameandTitleOrganizationalChart"/>
    <dgm:cxn modelId="{32C0B149-A8BF-8243-A5EC-4852A34115AA}" type="presParOf" srcId="{8064D621-954F-914D-B018-7DBEA86BC57B}" destId="{BC660D98-AEF2-144D-98B9-CA8620E376C2}" srcOrd="1" destOrd="0" presId="urn:microsoft.com/office/officeart/2008/layout/NameandTitleOrganizationalChart"/>
    <dgm:cxn modelId="{484D654D-51AD-594F-9D41-B77CF48F8C4B}" type="presParOf" srcId="{8064D621-954F-914D-B018-7DBEA86BC57B}" destId="{4BBB5CFB-62FF-8E42-839A-B9D6E6226E4E}" srcOrd="2" destOrd="0" presId="urn:microsoft.com/office/officeart/2008/layout/NameandTitleOrganizationalChart"/>
    <dgm:cxn modelId="{8ACB90A2-8FB7-2440-9C8F-8991B33A8F5F}" type="presParOf" srcId="{2BF0D723-38D1-7F4C-BF1B-BFDDAA319649}" destId="{707EBE67-6246-C243-87D5-391D43B9FCAD}" srcOrd="1" destOrd="0" presId="urn:microsoft.com/office/officeart/2008/layout/NameandTitleOrganizationalChart"/>
    <dgm:cxn modelId="{17C7DE32-89CA-894B-B409-2D0A9EC07D37}" type="presParOf" srcId="{2BF0D723-38D1-7F4C-BF1B-BFDDAA319649}" destId="{C8A94DE5-72BD-7246-8D3D-17E58F867246}" srcOrd="2" destOrd="0" presId="urn:microsoft.com/office/officeart/2008/layout/NameandTitleOrganizationalChart"/>
    <dgm:cxn modelId="{4E430891-4F3A-B049-AF5E-E9B057F4DA8A}" type="presParOf" srcId="{71C198D4-7D2A-F148-8F53-1D572489FB39}" destId="{DDE8EBE9-691E-3D4D-AA91-04A9F686F597}" srcOrd="2" destOrd="0" presId="urn:microsoft.com/office/officeart/2008/layout/NameandTitleOrganizationalChart"/>
    <dgm:cxn modelId="{13BE8E7D-3FE4-2E43-8332-C9DD7EADC67F}" type="presParOf" srcId="{71C198D4-7D2A-F148-8F53-1D572489FB39}" destId="{1BD07C48-EFE7-174B-9F88-BA397F60A0B6}" srcOrd="3" destOrd="0" presId="urn:microsoft.com/office/officeart/2008/layout/NameandTitleOrganizationalChart"/>
    <dgm:cxn modelId="{344B67CC-6057-2640-8EAB-FA949B125BC6}" type="presParOf" srcId="{1BD07C48-EFE7-174B-9F88-BA397F60A0B6}" destId="{4A34FEA0-5D05-D941-9EB8-0EB8AFC2063C}" srcOrd="0" destOrd="0" presId="urn:microsoft.com/office/officeart/2008/layout/NameandTitleOrganizationalChart"/>
    <dgm:cxn modelId="{4174EFA0-568F-F24C-8D32-1E8D4D38E9E7}" type="presParOf" srcId="{4A34FEA0-5D05-D941-9EB8-0EB8AFC2063C}" destId="{FE3E55BB-1708-E248-9EEC-4D9A31CF080A}" srcOrd="0" destOrd="0" presId="urn:microsoft.com/office/officeart/2008/layout/NameandTitleOrganizationalChart"/>
    <dgm:cxn modelId="{8A518EA6-3417-FC45-AB74-0883932D971C}" type="presParOf" srcId="{4A34FEA0-5D05-D941-9EB8-0EB8AFC2063C}" destId="{B557CD4F-8B33-D346-93C9-5D95C04139EA}" srcOrd="1" destOrd="0" presId="urn:microsoft.com/office/officeart/2008/layout/NameandTitleOrganizationalChart"/>
    <dgm:cxn modelId="{80F26CF7-0DA3-ED4B-8BA0-8F14A4D16208}" type="presParOf" srcId="{4A34FEA0-5D05-D941-9EB8-0EB8AFC2063C}" destId="{E67DC6F4-FE74-2F42-9BA2-32E75DBC08F4}" srcOrd="2" destOrd="0" presId="urn:microsoft.com/office/officeart/2008/layout/NameandTitleOrganizationalChart"/>
    <dgm:cxn modelId="{CFA41AF6-4B0A-9E4B-9434-603D0EB9CA8B}" type="presParOf" srcId="{1BD07C48-EFE7-174B-9F88-BA397F60A0B6}" destId="{47CFFF4B-9139-324A-B76F-6C490B4B9BA1}" srcOrd="1" destOrd="0" presId="urn:microsoft.com/office/officeart/2008/layout/NameandTitleOrganizationalChart"/>
    <dgm:cxn modelId="{9171EFED-37CA-BF4B-B93B-C370155E2FF9}" type="presParOf" srcId="{47CFFF4B-9139-324A-B76F-6C490B4B9BA1}" destId="{237CF2F7-6168-4C45-AA4F-C6E776A625C1}" srcOrd="0" destOrd="0" presId="urn:microsoft.com/office/officeart/2008/layout/NameandTitleOrganizationalChart"/>
    <dgm:cxn modelId="{223952B9-A98C-DE44-BDD6-5D5CDA931CBC}" type="presParOf" srcId="{47CFFF4B-9139-324A-B76F-6C490B4B9BA1}" destId="{FFAF3513-E6BD-1E4C-9FA1-1F25F8AD8152}" srcOrd="1" destOrd="0" presId="urn:microsoft.com/office/officeart/2008/layout/NameandTitleOrganizationalChart"/>
    <dgm:cxn modelId="{22C77E9F-6B7B-A143-8985-D56EC50FF298}" type="presParOf" srcId="{FFAF3513-E6BD-1E4C-9FA1-1F25F8AD8152}" destId="{45F98225-8D00-2840-A0EE-3D44D927C798}" srcOrd="0" destOrd="0" presId="urn:microsoft.com/office/officeart/2008/layout/NameandTitleOrganizationalChart"/>
    <dgm:cxn modelId="{5C94F6DE-3569-E546-A2AC-AEE3B106E1B9}" type="presParOf" srcId="{45F98225-8D00-2840-A0EE-3D44D927C798}" destId="{93BFAC5B-B23A-C74F-9492-CD8C87E055C3}" srcOrd="0" destOrd="0" presId="urn:microsoft.com/office/officeart/2008/layout/NameandTitleOrganizationalChart"/>
    <dgm:cxn modelId="{504AE355-3CA3-3445-BDE8-185F18D6D568}" type="presParOf" srcId="{45F98225-8D00-2840-A0EE-3D44D927C798}" destId="{E2CFA915-D2F8-4B4B-AAAE-B6194070AE84}" srcOrd="1" destOrd="0" presId="urn:microsoft.com/office/officeart/2008/layout/NameandTitleOrganizationalChart"/>
    <dgm:cxn modelId="{C6BC9A7C-2EDC-6944-AFEF-4F814C9EB3C6}" type="presParOf" srcId="{45F98225-8D00-2840-A0EE-3D44D927C798}" destId="{E53FD52F-FC81-CC4A-A18C-443926948064}" srcOrd="2" destOrd="0" presId="urn:microsoft.com/office/officeart/2008/layout/NameandTitleOrganizationalChart"/>
    <dgm:cxn modelId="{B3A3C232-8D33-2345-B859-C06A99B76E64}" type="presParOf" srcId="{FFAF3513-E6BD-1E4C-9FA1-1F25F8AD8152}" destId="{3FBD4B26-5150-C747-A000-6AC6C7A0AAB1}" srcOrd="1" destOrd="0" presId="urn:microsoft.com/office/officeart/2008/layout/NameandTitleOrganizationalChart"/>
    <dgm:cxn modelId="{5684BB52-191F-9345-962C-FD33298FE5F7}" type="presParOf" srcId="{3FBD4B26-5150-C747-A000-6AC6C7A0AAB1}" destId="{7C8F0E9A-4B0C-4C47-ACFA-0A7D51A756D7}" srcOrd="0" destOrd="0" presId="urn:microsoft.com/office/officeart/2008/layout/NameandTitleOrganizationalChart"/>
    <dgm:cxn modelId="{3720DE27-46CA-AA4E-BEB0-98C1922CABB0}" type="presParOf" srcId="{3FBD4B26-5150-C747-A000-6AC6C7A0AAB1}" destId="{F1DD7640-642F-5B44-90B6-D731C93CC402}" srcOrd="1" destOrd="0" presId="urn:microsoft.com/office/officeart/2008/layout/NameandTitleOrganizationalChart"/>
    <dgm:cxn modelId="{AB291907-FBA3-DD42-A06D-C57E5D35EE22}" type="presParOf" srcId="{F1DD7640-642F-5B44-90B6-D731C93CC402}" destId="{C6F2F9FF-9D35-CE4E-AFFD-9C034FBFA2C3}" srcOrd="0" destOrd="0" presId="urn:microsoft.com/office/officeart/2008/layout/NameandTitleOrganizationalChart"/>
    <dgm:cxn modelId="{04A8A44C-D053-8343-A041-9FCD5BAC9DAC}" type="presParOf" srcId="{C6F2F9FF-9D35-CE4E-AFFD-9C034FBFA2C3}" destId="{DB1DD1D8-1F55-C042-9624-C01DB84996E6}" srcOrd="0" destOrd="0" presId="urn:microsoft.com/office/officeart/2008/layout/NameandTitleOrganizationalChart"/>
    <dgm:cxn modelId="{363A84A2-7206-B546-8E89-5E2EDBCB4EAE}" type="presParOf" srcId="{C6F2F9FF-9D35-CE4E-AFFD-9C034FBFA2C3}" destId="{9AF1D83F-5253-8545-816E-652648566F8F}" srcOrd="1" destOrd="0" presId="urn:microsoft.com/office/officeart/2008/layout/NameandTitleOrganizationalChart"/>
    <dgm:cxn modelId="{245B1209-C8B0-C44D-BCA0-C546BAA4D897}" type="presParOf" srcId="{C6F2F9FF-9D35-CE4E-AFFD-9C034FBFA2C3}" destId="{E354EBE3-55E6-9345-85CF-54ED8C30E080}" srcOrd="2" destOrd="0" presId="urn:microsoft.com/office/officeart/2008/layout/NameandTitleOrganizationalChart"/>
    <dgm:cxn modelId="{2129867C-49A2-164B-8496-2B3FC06FD8DC}" type="presParOf" srcId="{F1DD7640-642F-5B44-90B6-D731C93CC402}" destId="{77BE124A-0E4C-A541-93EB-35C2D3A0EDEB}" srcOrd="1" destOrd="0" presId="urn:microsoft.com/office/officeart/2008/layout/NameandTitleOrganizationalChart"/>
    <dgm:cxn modelId="{052FFABB-51F1-CF48-9E94-66040CD0C66A}" type="presParOf" srcId="{F1DD7640-642F-5B44-90B6-D731C93CC402}" destId="{EFB78C41-C14A-BC45-81EA-428E661010B6}" srcOrd="2" destOrd="0" presId="urn:microsoft.com/office/officeart/2008/layout/NameandTitleOrganizationalChart"/>
    <dgm:cxn modelId="{DDBD3A10-9711-8044-8F54-0EB389ACBB5C}" type="presParOf" srcId="{3FBD4B26-5150-C747-A000-6AC6C7A0AAB1}" destId="{CD4F5BD3-E93F-9D47-97CE-CF8516C52A64}" srcOrd="2" destOrd="0" presId="urn:microsoft.com/office/officeart/2008/layout/NameandTitleOrganizationalChart"/>
    <dgm:cxn modelId="{655C7B96-8E9F-7A47-93DE-A62CD2C5A7B8}" type="presParOf" srcId="{3FBD4B26-5150-C747-A000-6AC6C7A0AAB1}" destId="{3C801F1A-F54D-0947-9616-647B8D5E3B0B}" srcOrd="3" destOrd="0" presId="urn:microsoft.com/office/officeart/2008/layout/NameandTitleOrganizationalChart"/>
    <dgm:cxn modelId="{BC299FFE-F355-CC42-9C6E-96E0A421D9DC}" type="presParOf" srcId="{3C801F1A-F54D-0947-9616-647B8D5E3B0B}" destId="{5E4121C9-575C-8E4C-B92F-BB2408065FF7}" srcOrd="0" destOrd="0" presId="urn:microsoft.com/office/officeart/2008/layout/NameandTitleOrganizationalChart"/>
    <dgm:cxn modelId="{16648585-CCB6-D04D-8EAB-4B6EA3B4F4F1}" type="presParOf" srcId="{5E4121C9-575C-8E4C-B92F-BB2408065FF7}" destId="{A55F73EF-42A5-9E4F-9A66-6BD0DCB8D7D3}" srcOrd="0" destOrd="0" presId="urn:microsoft.com/office/officeart/2008/layout/NameandTitleOrganizationalChart"/>
    <dgm:cxn modelId="{9BA47CB2-6986-7346-9EC5-D78394BBB032}" type="presParOf" srcId="{5E4121C9-575C-8E4C-B92F-BB2408065FF7}" destId="{6237DA44-F7E9-FD49-AB66-3F2844BE6B9A}" srcOrd="1" destOrd="0" presId="urn:microsoft.com/office/officeart/2008/layout/NameandTitleOrganizationalChart"/>
    <dgm:cxn modelId="{97D8D0FA-31D0-774B-9938-8684890105FF}" type="presParOf" srcId="{5E4121C9-575C-8E4C-B92F-BB2408065FF7}" destId="{2481C151-2B3F-6C41-B5E9-ED7055EA5E7D}" srcOrd="2" destOrd="0" presId="urn:microsoft.com/office/officeart/2008/layout/NameandTitleOrganizationalChart"/>
    <dgm:cxn modelId="{F20F0F4D-D6D7-5749-9381-DB99B69B8169}" type="presParOf" srcId="{3C801F1A-F54D-0947-9616-647B8D5E3B0B}" destId="{527E758F-151C-E343-BF56-24D2BB181FB2}" srcOrd="1" destOrd="0" presId="urn:microsoft.com/office/officeart/2008/layout/NameandTitleOrganizationalChart"/>
    <dgm:cxn modelId="{CD7E1118-7A80-CB4D-8002-EBCF14A8814D}" type="presParOf" srcId="{3C801F1A-F54D-0947-9616-647B8D5E3B0B}" destId="{8D7AB41E-C3C7-3541-8148-A5FA3DCF186F}" srcOrd="2" destOrd="0" presId="urn:microsoft.com/office/officeart/2008/layout/NameandTitleOrganizationalChart"/>
    <dgm:cxn modelId="{8E96DFA7-8D30-974E-91CF-370F2CF3C83E}" type="presParOf" srcId="{3FBD4B26-5150-C747-A000-6AC6C7A0AAB1}" destId="{4EE8EECC-E328-7443-A2EA-3821A0AF9F30}" srcOrd="4" destOrd="0" presId="urn:microsoft.com/office/officeart/2008/layout/NameandTitleOrganizationalChart"/>
    <dgm:cxn modelId="{A58BAD36-5A66-E041-A501-830D9E7E6560}" type="presParOf" srcId="{3FBD4B26-5150-C747-A000-6AC6C7A0AAB1}" destId="{A0C506E1-745F-9F45-9FAE-508544C40D6E}" srcOrd="5" destOrd="0" presId="urn:microsoft.com/office/officeart/2008/layout/NameandTitleOrganizationalChart"/>
    <dgm:cxn modelId="{3F7BD0AD-4F9E-8A43-986D-A2C41828B87F}" type="presParOf" srcId="{A0C506E1-745F-9F45-9FAE-508544C40D6E}" destId="{529AA193-F206-7F44-9E22-86698F2C3B71}" srcOrd="0" destOrd="0" presId="urn:microsoft.com/office/officeart/2008/layout/NameandTitleOrganizationalChart"/>
    <dgm:cxn modelId="{7B0AE8DE-2E3A-4E44-8168-84E345E807CE}" type="presParOf" srcId="{529AA193-F206-7F44-9E22-86698F2C3B71}" destId="{B9A2CDC7-7B38-634C-8810-2B2563496460}" srcOrd="0" destOrd="0" presId="urn:microsoft.com/office/officeart/2008/layout/NameandTitleOrganizationalChart"/>
    <dgm:cxn modelId="{4959B21E-81FE-8E46-A24D-95BC226D310B}" type="presParOf" srcId="{529AA193-F206-7F44-9E22-86698F2C3B71}" destId="{363A8D35-CBA6-864C-8C69-016503AEC4B8}" srcOrd="1" destOrd="0" presId="urn:microsoft.com/office/officeart/2008/layout/NameandTitleOrganizationalChart"/>
    <dgm:cxn modelId="{865CF06F-12B2-2B44-BB57-1EC750530232}" type="presParOf" srcId="{529AA193-F206-7F44-9E22-86698F2C3B71}" destId="{1EA94A0D-68AE-0E46-9B26-C111DA04AC5B}" srcOrd="2" destOrd="0" presId="urn:microsoft.com/office/officeart/2008/layout/NameandTitleOrganizationalChart"/>
    <dgm:cxn modelId="{DABADFA9-F85F-D84C-97A7-D29C19DD0BF4}" type="presParOf" srcId="{A0C506E1-745F-9F45-9FAE-508544C40D6E}" destId="{DFCDCA79-4A95-A94F-A7C6-BD3FB1F5ACF6}" srcOrd="1" destOrd="0" presId="urn:microsoft.com/office/officeart/2008/layout/NameandTitleOrganizationalChart"/>
    <dgm:cxn modelId="{E1653FA3-E771-EA48-9E64-D2768F436B6B}" type="presParOf" srcId="{A0C506E1-745F-9F45-9FAE-508544C40D6E}" destId="{A752799F-2152-B94C-9626-D2D5A7E8587F}" srcOrd="2" destOrd="0" presId="urn:microsoft.com/office/officeart/2008/layout/NameandTitleOrganizationalChart"/>
    <dgm:cxn modelId="{C551D0EF-811D-0A4F-994E-096C5EE20CCA}" type="presParOf" srcId="{FFAF3513-E6BD-1E4C-9FA1-1F25F8AD8152}" destId="{C1A1F767-CDCB-DB4A-8B0D-40C82911F26C}" srcOrd="2" destOrd="0" presId="urn:microsoft.com/office/officeart/2008/layout/NameandTitleOrganizationalChart"/>
    <dgm:cxn modelId="{821E5BF5-0ACD-8442-A628-04FBA9E05BB9}" type="presParOf" srcId="{47CFFF4B-9139-324A-B76F-6C490B4B9BA1}" destId="{0322F0A5-DD37-AD48-9E59-F0D1B9BFDB4E}" srcOrd="2" destOrd="0" presId="urn:microsoft.com/office/officeart/2008/layout/NameandTitleOrganizationalChart"/>
    <dgm:cxn modelId="{B2880430-C992-A84C-A899-D6F81B33B5B2}" type="presParOf" srcId="{47CFFF4B-9139-324A-B76F-6C490B4B9BA1}" destId="{3E14E9C0-7439-DD4D-8963-E7F039970CD2}" srcOrd="3" destOrd="0" presId="urn:microsoft.com/office/officeart/2008/layout/NameandTitleOrganizationalChart"/>
    <dgm:cxn modelId="{1D66FEF1-FA45-4346-A834-2540290B0026}" type="presParOf" srcId="{3E14E9C0-7439-DD4D-8963-E7F039970CD2}" destId="{18045798-CA5C-1542-A52A-CBBA0D4FF4CC}" srcOrd="0" destOrd="0" presId="urn:microsoft.com/office/officeart/2008/layout/NameandTitleOrganizationalChart"/>
    <dgm:cxn modelId="{5614DAEB-3572-D248-B0EF-4D3FD413DF8A}" type="presParOf" srcId="{18045798-CA5C-1542-A52A-CBBA0D4FF4CC}" destId="{77832C7D-66E3-C144-8AC0-34195A960B7C}" srcOrd="0" destOrd="0" presId="urn:microsoft.com/office/officeart/2008/layout/NameandTitleOrganizationalChart"/>
    <dgm:cxn modelId="{DA5FB161-37CD-0547-BD66-F18E35912A8F}" type="presParOf" srcId="{18045798-CA5C-1542-A52A-CBBA0D4FF4CC}" destId="{D9B9C426-F73D-E94A-A39F-D5F4C55E554C}" srcOrd="1" destOrd="0" presId="urn:microsoft.com/office/officeart/2008/layout/NameandTitleOrganizationalChart"/>
    <dgm:cxn modelId="{920113A3-F297-9142-B956-8356C49886F6}" type="presParOf" srcId="{18045798-CA5C-1542-A52A-CBBA0D4FF4CC}" destId="{77FACBE4-75DF-514F-9B9C-30F4D55DE546}" srcOrd="2" destOrd="0" presId="urn:microsoft.com/office/officeart/2008/layout/NameandTitleOrganizationalChart"/>
    <dgm:cxn modelId="{E73A0F2A-35ED-8C42-A73D-CE8D1B5FDE95}" type="presParOf" srcId="{3E14E9C0-7439-DD4D-8963-E7F039970CD2}" destId="{4C50D53F-D8A1-9940-A0E0-6CEB9A82F03A}" srcOrd="1" destOrd="0" presId="urn:microsoft.com/office/officeart/2008/layout/NameandTitleOrganizationalChart"/>
    <dgm:cxn modelId="{9E96835E-682D-8840-BE74-3634FEEA8CF7}" type="presParOf" srcId="{3E14E9C0-7439-DD4D-8963-E7F039970CD2}" destId="{49D8D3FD-F499-144B-8385-A6620D2121A6}" srcOrd="2" destOrd="0" presId="urn:microsoft.com/office/officeart/2008/layout/NameandTitleOrganizationalChart"/>
    <dgm:cxn modelId="{A642553D-BB9A-2A47-8CED-631C42A261FD}" type="presParOf" srcId="{1BD07C48-EFE7-174B-9F88-BA397F60A0B6}" destId="{DF0F63E3-565F-024A-9B39-16563EAE4581}" srcOrd="2" destOrd="0" presId="urn:microsoft.com/office/officeart/2008/layout/NameandTitleOrganizationalChart"/>
    <dgm:cxn modelId="{D8C83FFE-FE35-F24C-AB84-C1D5BB5AF51B}" type="presParOf" srcId="{A430BD4B-06E3-E044-BC48-9863C5B705AF}" destId="{2A6672B0-F626-4A44-9E84-C206E945C1E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2F0A5-DD37-AD48-9E59-F0D1B9BFDB4E}">
      <dsp:nvSpPr>
        <dsp:cNvPr id="0" name=""/>
        <dsp:cNvSpPr/>
      </dsp:nvSpPr>
      <dsp:spPr>
        <a:xfrm>
          <a:off x="5411564" y="2219410"/>
          <a:ext cx="1955834" cy="768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794"/>
              </a:lnTo>
              <a:lnTo>
                <a:pt x="1955834" y="572794"/>
              </a:lnTo>
              <a:lnTo>
                <a:pt x="1955834" y="768367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8EECC-E328-7443-A2EA-3821A0AF9F30}">
      <dsp:nvSpPr>
        <dsp:cNvPr id="0" name=""/>
        <dsp:cNvSpPr/>
      </dsp:nvSpPr>
      <dsp:spPr>
        <a:xfrm>
          <a:off x="3899979" y="3318411"/>
          <a:ext cx="2814238" cy="781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6404"/>
              </a:lnTo>
              <a:lnTo>
                <a:pt x="2814238" y="586404"/>
              </a:lnTo>
              <a:lnTo>
                <a:pt x="2814238" y="781978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F5BD3-E93F-9D47-97CE-CF8516C52A64}">
      <dsp:nvSpPr>
        <dsp:cNvPr id="0" name=""/>
        <dsp:cNvSpPr/>
      </dsp:nvSpPr>
      <dsp:spPr>
        <a:xfrm>
          <a:off x="3899979" y="3318411"/>
          <a:ext cx="340770" cy="781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6404"/>
              </a:lnTo>
              <a:lnTo>
                <a:pt x="340770" y="586404"/>
              </a:lnTo>
              <a:lnTo>
                <a:pt x="340770" y="781978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F0E9A-4B0C-4C47-ACFA-0A7D51A756D7}">
      <dsp:nvSpPr>
        <dsp:cNvPr id="0" name=""/>
        <dsp:cNvSpPr/>
      </dsp:nvSpPr>
      <dsp:spPr>
        <a:xfrm>
          <a:off x="1426512" y="3318411"/>
          <a:ext cx="2473467" cy="781978"/>
        </a:xfrm>
        <a:custGeom>
          <a:avLst/>
          <a:gdLst/>
          <a:ahLst/>
          <a:cxnLst/>
          <a:rect l="0" t="0" r="0" b="0"/>
          <a:pathLst>
            <a:path>
              <a:moveTo>
                <a:pt x="2473467" y="0"/>
              </a:moveTo>
              <a:lnTo>
                <a:pt x="2473467" y="586404"/>
              </a:lnTo>
              <a:lnTo>
                <a:pt x="0" y="586404"/>
              </a:lnTo>
              <a:lnTo>
                <a:pt x="0" y="781978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CF2F7-6168-4C45-AA4F-C6E776A625C1}">
      <dsp:nvSpPr>
        <dsp:cNvPr id="0" name=""/>
        <dsp:cNvSpPr/>
      </dsp:nvSpPr>
      <dsp:spPr>
        <a:xfrm>
          <a:off x="3899979" y="2219410"/>
          <a:ext cx="1511584" cy="768367"/>
        </a:xfrm>
        <a:custGeom>
          <a:avLst/>
          <a:gdLst/>
          <a:ahLst/>
          <a:cxnLst/>
          <a:rect l="0" t="0" r="0" b="0"/>
          <a:pathLst>
            <a:path>
              <a:moveTo>
                <a:pt x="1511584" y="0"/>
              </a:moveTo>
              <a:lnTo>
                <a:pt x="1511584" y="572794"/>
              </a:lnTo>
              <a:lnTo>
                <a:pt x="0" y="572794"/>
              </a:lnTo>
              <a:lnTo>
                <a:pt x="0" y="768367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E8EBE9-691E-3D4D-AA91-04A9F686F597}">
      <dsp:nvSpPr>
        <dsp:cNvPr id="0" name=""/>
        <dsp:cNvSpPr/>
      </dsp:nvSpPr>
      <dsp:spPr>
        <a:xfrm>
          <a:off x="3667219" y="1101539"/>
          <a:ext cx="1744344" cy="787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664"/>
              </a:lnTo>
              <a:lnTo>
                <a:pt x="1744344" y="591664"/>
              </a:lnTo>
              <a:lnTo>
                <a:pt x="1744344" y="787237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3395E9-6080-6044-8E8E-88AB42FC3186}">
      <dsp:nvSpPr>
        <dsp:cNvPr id="0" name=""/>
        <dsp:cNvSpPr/>
      </dsp:nvSpPr>
      <dsp:spPr>
        <a:xfrm>
          <a:off x="1487902" y="1101539"/>
          <a:ext cx="2179316" cy="787237"/>
        </a:xfrm>
        <a:custGeom>
          <a:avLst/>
          <a:gdLst/>
          <a:ahLst/>
          <a:cxnLst/>
          <a:rect l="0" t="0" r="0" b="0"/>
          <a:pathLst>
            <a:path>
              <a:moveTo>
                <a:pt x="2179316" y="0"/>
              </a:moveTo>
              <a:lnTo>
                <a:pt x="2179316" y="591664"/>
              </a:lnTo>
              <a:lnTo>
                <a:pt x="0" y="591664"/>
              </a:lnTo>
              <a:lnTo>
                <a:pt x="0" y="787237"/>
              </a:lnTo>
            </a:path>
          </a:pathLst>
        </a:custGeom>
        <a:noFill/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75D6B-47E1-3445-A118-C34D8B3C98A6}">
      <dsp:nvSpPr>
        <dsp:cNvPr id="0" name=""/>
        <dsp:cNvSpPr/>
      </dsp:nvSpPr>
      <dsp:spPr>
        <a:xfrm>
          <a:off x="1066036" y="770906"/>
          <a:ext cx="5202365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</a:t>
          </a:r>
          <a:r>
            <a:rPr lang="fr-FR" sz="1400" kern="1200" dirty="0" err="1"/>
            <a:t>Amoxicilin</a:t>
          </a:r>
          <a:r>
            <a:rPr lang="fr-FR" sz="1400" kern="1200" dirty="0"/>
            <a:t> 500 mg PO q8h x 7 </a:t>
          </a:r>
          <a:r>
            <a:rPr lang="fr-FR" sz="1400" kern="1200" dirty="0" err="1"/>
            <a:t>days</a:t>
          </a:r>
          <a:r>
            <a:rPr lang="fr-FR" sz="1400" kern="1200" dirty="0"/>
            <a:t>’</a:t>
          </a:r>
        </a:p>
      </dsp:txBody>
      <dsp:txXfrm>
        <a:off x="1066036" y="770906"/>
        <a:ext cx="5202365" cy="330633"/>
      </dsp:txXfrm>
    </dsp:sp>
    <dsp:sp modelId="{314CEA8C-57E6-534E-A884-5CF4B066D5CC}">
      <dsp:nvSpPr>
        <dsp:cNvPr id="0" name=""/>
        <dsp:cNvSpPr/>
      </dsp:nvSpPr>
      <dsp:spPr>
        <a:xfrm>
          <a:off x="1241528" y="1119856"/>
          <a:ext cx="5337036" cy="3777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/>
            <a:t>Drug administration </a:t>
          </a:r>
          <a:r>
            <a:rPr lang="fr-FR" sz="1000" i="1" kern="1200" dirty="0" err="1"/>
            <a:t>specification</a:t>
          </a:r>
          <a:r>
            <a:rPr lang="fr-FR" sz="1000" kern="1200" dirty="0"/>
            <a:t> (DAS)</a:t>
          </a:r>
          <a:endParaRPr lang="fr-FR" sz="1000" i="1" kern="1200" dirty="0">
            <a:solidFill>
              <a:srgbClr val="6EA1C5"/>
            </a:solidFill>
          </a:endParaRPr>
        </a:p>
      </dsp:txBody>
      <dsp:txXfrm>
        <a:off x="1241528" y="1119856"/>
        <a:ext cx="5337036" cy="377774"/>
      </dsp:txXfrm>
    </dsp:sp>
    <dsp:sp modelId="{6D55EB8B-CEBB-F840-B91B-E24890CCF5DB}">
      <dsp:nvSpPr>
        <dsp:cNvPr id="0" name=""/>
        <dsp:cNvSpPr/>
      </dsp:nvSpPr>
      <dsp:spPr>
        <a:xfrm>
          <a:off x="295940" y="1888777"/>
          <a:ext cx="2383924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</a:t>
          </a:r>
          <a:r>
            <a:rPr lang="fr-FR" sz="1400" kern="1200" dirty="0" err="1"/>
            <a:t>Amoxicilin</a:t>
          </a:r>
          <a:r>
            <a:rPr lang="fr-FR" sz="1400" kern="1200" dirty="0"/>
            <a:t>’</a:t>
          </a:r>
        </a:p>
      </dsp:txBody>
      <dsp:txXfrm>
        <a:off x="295940" y="1888777"/>
        <a:ext cx="2383924" cy="330633"/>
      </dsp:txXfrm>
    </dsp:sp>
    <dsp:sp modelId="{BC660D98-AEF2-144D-98B9-CA8620E376C2}">
      <dsp:nvSpPr>
        <dsp:cNvPr id="0" name=""/>
        <dsp:cNvSpPr/>
      </dsp:nvSpPr>
      <dsp:spPr>
        <a:xfrm>
          <a:off x="94212" y="2256597"/>
          <a:ext cx="3273036" cy="3400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b="0" i="1" kern="1200" dirty="0"/>
            <a:t>D</a:t>
          </a:r>
          <a:r>
            <a:rPr lang="fr-FR" sz="1000" i="1" kern="1200" dirty="0"/>
            <a:t>rug </a:t>
          </a:r>
          <a:r>
            <a:rPr lang="fr-FR" sz="1000" i="1" kern="1200" dirty="0" err="1"/>
            <a:t>product</a:t>
          </a:r>
          <a:r>
            <a:rPr lang="fr-FR" sz="1000" i="1" kern="1200" dirty="0"/>
            <a:t> </a:t>
          </a:r>
          <a:r>
            <a:rPr lang="fr-FR" sz="1000" i="1" kern="1200" dirty="0" err="1"/>
            <a:t>specification</a:t>
          </a:r>
          <a:r>
            <a:rPr lang="fr-FR" sz="1000" kern="1200" dirty="0"/>
            <a:t> (DPS)</a:t>
          </a:r>
          <a:endParaRPr lang="fr-FR" sz="1000" i="1" kern="1200" dirty="0"/>
        </a:p>
      </dsp:txBody>
      <dsp:txXfrm>
        <a:off x="94212" y="2256597"/>
        <a:ext cx="3273036" cy="340034"/>
      </dsp:txXfrm>
    </dsp:sp>
    <dsp:sp modelId="{FE3E55BB-1708-E248-9EEC-4D9A31CF080A}">
      <dsp:nvSpPr>
        <dsp:cNvPr id="0" name=""/>
        <dsp:cNvSpPr/>
      </dsp:nvSpPr>
      <dsp:spPr>
        <a:xfrm>
          <a:off x="3485686" y="1888777"/>
          <a:ext cx="3851755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‘500 mg PO q8h x 7 </a:t>
          </a:r>
          <a:r>
            <a:rPr lang="fr-FR" sz="1400" kern="1200" dirty="0" err="1"/>
            <a:t>days</a:t>
          </a:r>
          <a:r>
            <a:rPr lang="fr-FR" sz="1400" kern="1200" dirty="0"/>
            <a:t>’</a:t>
          </a:r>
        </a:p>
      </dsp:txBody>
      <dsp:txXfrm>
        <a:off x="3485686" y="1888777"/>
        <a:ext cx="3851755" cy="330633"/>
      </dsp:txXfrm>
    </dsp:sp>
    <dsp:sp modelId="{B557CD4F-8B33-D346-93C9-5D95C04139EA}">
      <dsp:nvSpPr>
        <dsp:cNvPr id="0" name=""/>
        <dsp:cNvSpPr/>
      </dsp:nvSpPr>
      <dsp:spPr>
        <a:xfrm>
          <a:off x="3758395" y="2256597"/>
          <a:ext cx="3791993" cy="3400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 err="1"/>
            <a:t>Prescribed</a:t>
          </a:r>
          <a:r>
            <a:rPr lang="fr-FR" sz="1000" i="1" kern="1200" dirty="0"/>
            <a:t> </a:t>
          </a:r>
          <a:r>
            <a:rPr lang="fr-FR" sz="1000" i="1" kern="1200" dirty="0" err="1"/>
            <a:t>dosing</a:t>
          </a:r>
          <a:r>
            <a:rPr lang="fr-FR" sz="1000" i="1" kern="1200" dirty="0"/>
            <a:t> </a:t>
          </a:r>
          <a:r>
            <a:rPr lang="fr-FR" sz="1000" i="1" kern="1200" dirty="0" err="1"/>
            <a:t>specification</a:t>
          </a:r>
          <a:r>
            <a:rPr lang="fr-FR" sz="1000" kern="1200" dirty="0"/>
            <a:t> (PDS)</a:t>
          </a:r>
          <a:endParaRPr lang="fr-FR" sz="1000" i="1" kern="1200" dirty="0"/>
        </a:p>
      </dsp:txBody>
      <dsp:txXfrm>
        <a:off x="3758395" y="2256597"/>
        <a:ext cx="3791993" cy="340034"/>
      </dsp:txXfrm>
    </dsp:sp>
    <dsp:sp modelId="{93BFAC5B-B23A-C74F-9492-CD8C87E055C3}">
      <dsp:nvSpPr>
        <dsp:cNvPr id="0" name=""/>
        <dsp:cNvSpPr/>
      </dsp:nvSpPr>
      <dsp:spPr>
        <a:xfrm>
          <a:off x="2350428" y="2987778"/>
          <a:ext cx="3099101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‘500 mg PO q8h’</a:t>
          </a:r>
        </a:p>
      </dsp:txBody>
      <dsp:txXfrm>
        <a:off x="2350428" y="2987778"/>
        <a:ext cx="3099101" cy="330633"/>
      </dsp:txXfrm>
    </dsp:sp>
    <dsp:sp modelId="{E2CFA915-D2F8-4B4B-AAAE-B6194070AE84}">
      <dsp:nvSpPr>
        <dsp:cNvPr id="0" name=""/>
        <dsp:cNvSpPr/>
      </dsp:nvSpPr>
      <dsp:spPr>
        <a:xfrm>
          <a:off x="2246191" y="3341987"/>
          <a:ext cx="3793232" cy="367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/>
            <a:t>Dose administration </a:t>
          </a:r>
          <a:r>
            <a:rPr lang="fr-FR" sz="1000" i="1" kern="1200" dirty="0" err="1"/>
            <a:t>specification</a:t>
          </a:r>
          <a:r>
            <a:rPr lang="fr-FR" sz="1000" kern="1200" dirty="0"/>
            <a:t> (</a:t>
          </a:r>
          <a:r>
            <a:rPr lang="fr-FR" sz="1000" kern="1200" dirty="0" err="1"/>
            <a:t>DoAS</a:t>
          </a:r>
          <a:r>
            <a:rPr lang="fr-FR" sz="1000" kern="1200" dirty="0"/>
            <a:t>)</a:t>
          </a:r>
          <a:endParaRPr lang="fr-FR" sz="1000" i="1" kern="1200" dirty="0"/>
        </a:p>
      </dsp:txBody>
      <dsp:txXfrm>
        <a:off x="2246191" y="3341987"/>
        <a:ext cx="3793232" cy="367255"/>
      </dsp:txXfrm>
    </dsp:sp>
    <dsp:sp modelId="{DB1DD1D8-1F55-C042-9624-C01DB84996E6}">
      <dsp:nvSpPr>
        <dsp:cNvPr id="0" name=""/>
        <dsp:cNvSpPr/>
      </dsp:nvSpPr>
      <dsp:spPr>
        <a:xfrm>
          <a:off x="733189" y="4100389"/>
          <a:ext cx="1386645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‘500 mg’</a:t>
          </a:r>
        </a:p>
      </dsp:txBody>
      <dsp:txXfrm>
        <a:off x="733189" y="4100389"/>
        <a:ext cx="1386645" cy="330633"/>
      </dsp:txXfrm>
    </dsp:sp>
    <dsp:sp modelId="{9AF1D83F-5253-8545-816E-652648566F8F}">
      <dsp:nvSpPr>
        <dsp:cNvPr id="0" name=""/>
        <dsp:cNvSpPr/>
      </dsp:nvSpPr>
      <dsp:spPr>
        <a:xfrm>
          <a:off x="492298" y="4454598"/>
          <a:ext cx="2354082" cy="367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/>
            <a:t>Dose quantification </a:t>
          </a:r>
          <a:r>
            <a:rPr lang="fr-FR" sz="1000" i="1" kern="1200" dirty="0" err="1"/>
            <a:t>specification</a:t>
          </a:r>
          <a:r>
            <a:rPr lang="fr-FR" sz="1000" kern="1200" dirty="0"/>
            <a:t> (DQS)</a:t>
          </a:r>
          <a:endParaRPr lang="fr-FR" sz="1000" i="1" kern="1200" dirty="0"/>
        </a:p>
      </dsp:txBody>
      <dsp:txXfrm>
        <a:off x="492298" y="4454598"/>
        <a:ext cx="2354082" cy="367255"/>
      </dsp:txXfrm>
    </dsp:sp>
    <dsp:sp modelId="{A55F73EF-42A5-9E4F-9A66-6BD0DCB8D7D3}">
      <dsp:nvSpPr>
        <dsp:cNvPr id="0" name=""/>
        <dsp:cNvSpPr/>
      </dsp:nvSpPr>
      <dsp:spPr>
        <a:xfrm>
          <a:off x="3431323" y="4100389"/>
          <a:ext cx="1618854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‘PO’</a:t>
          </a:r>
        </a:p>
      </dsp:txBody>
      <dsp:txXfrm>
        <a:off x="3431323" y="4100389"/>
        <a:ext cx="1618854" cy="330633"/>
      </dsp:txXfrm>
    </dsp:sp>
    <dsp:sp modelId="{6237DA44-F7E9-FD49-AB66-3F2844BE6B9A}">
      <dsp:nvSpPr>
        <dsp:cNvPr id="0" name=""/>
        <dsp:cNvSpPr/>
      </dsp:nvSpPr>
      <dsp:spPr>
        <a:xfrm>
          <a:off x="3237527" y="4454598"/>
          <a:ext cx="2492101" cy="367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/>
            <a:t>Route of administration </a:t>
          </a:r>
          <a:r>
            <a:rPr lang="fr-FR" sz="1000" i="1" kern="1200" dirty="0" err="1"/>
            <a:t>specification</a:t>
          </a:r>
          <a:r>
            <a:rPr lang="fr-FR" sz="1000" i="1" kern="1200" dirty="0"/>
            <a:t> </a:t>
          </a:r>
          <a:r>
            <a:rPr lang="fr-FR" sz="1000" kern="1200" dirty="0"/>
            <a:t>(</a:t>
          </a:r>
          <a:r>
            <a:rPr lang="fr-FR" sz="1000" kern="1200" dirty="0" err="1"/>
            <a:t>RoAS</a:t>
          </a:r>
          <a:r>
            <a:rPr lang="fr-FR" sz="1000" kern="1200" dirty="0"/>
            <a:t>)</a:t>
          </a:r>
          <a:endParaRPr lang="fr-FR" sz="1000" i="1" kern="1200" dirty="0"/>
        </a:p>
      </dsp:txBody>
      <dsp:txXfrm>
        <a:off x="3237527" y="4454598"/>
        <a:ext cx="2492101" cy="367255"/>
      </dsp:txXfrm>
    </dsp:sp>
    <dsp:sp modelId="{B9A2CDC7-7B38-634C-8810-2B2563496460}">
      <dsp:nvSpPr>
        <dsp:cNvPr id="0" name=""/>
        <dsp:cNvSpPr/>
      </dsp:nvSpPr>
      <dsp:spPr>
        <a:xfrm>
          <a:off x="5904791" y="4100389"/>
          <a:ext cx="1618854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‘q8h’</a:t>
          </a:r>
        </a:p>
      </dsp:txBody>
      <dsp:txXfrm>
        <a:off x="5904791" y="4100389"/>
        <a:ext cx="1618854" cy="330633"/>
      </dsp:txXfrm>
    </dsp:sp>
    <dsp:sp modelId="{363A8D35-CBA6-864C-8C69-016503AEC4B8}">
      <dsp:nvSpPr>
        <dsp:cNvPr id="0" name=""/>
        <dsp:cNvSpPr/>
      </dsp:nvSpPr>
      <dsp:spPr>
        <a:xfrm>
          <a:off x="6120775" y="4454598"/>
          <a:ext cx="1672541" cy="367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 err="1"/>
            <a:t>Dosing</a:t>
          </a:r>
          <a:r>
            <a:rPr lang="fr-FR" sz="1000" i="1" kern="1200" dirty="0"/>
            <a:t> condition</a:t>
          </a:r>
          <a:r>
            <a:rPr lang="fr-FR" sz="1000" kern="1200" dirty="0"/>
            <a:t> (DC)</a:t>
          </a:r>
          <a:endParaRPr lang="fr-FR" sz="1000" i="1" kern="1200" dirty="0"/>
        </a:p>
      </dsp:txBody>
      <dsp:txXfrm>
        <a:off x="6120775" y="4454598"/>
        <a:ext cx="1672541" cy="367255"/>
      </dsp:txXfrm>
    </dsp:sp>
    <dsp:sp modelId="{77832C7D-66E3-C144-8AC0-34195A960B7C}">
      <dsp:nvSpPr>
        <dsp:cNvPr id="0" name=""/>
        <dsp:cNvSpPr/>
      </dsp:nvSpPr>
      <dsp:spPr>
        <a:xfrm>
          <a:off x="6584666" y="2987778"/>
          <a:ext cx="1565464" cy="330633"/>
        </a:xfrm>
        <a:prstGeom prst="rect">
          <a:avLst/>
        </a:prstGeom>
        <a:solidFill>
          <a:schemeClr val="bg1">
            <a:lumMod val="5000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‘x7 </a:t>
          </a:r>
          <a:r>
            <a:rPr lang="fr-FR" sz="1400" kern="1200" dirty="0" err="1"/>
            <a:t>days</a:t>
          </a:r>
          <a:r>
            <a:rPr lang="fr-FR" sz="1400" kern="1200" dirty="0"/>
            <a:t>’</a:t>
          </a:r>
        </a:p>
      </dsp:txBody>
      <dsp:txXfrm>
        <a:off x="6584666" y="2987778"/>
        <a:ext cx="1565464" cy="330633"/>
      </dsp:txXfrm>
    </dsp:sp>
    <dsp:sp modelId="{D9B9C426-F73D-E94A-A39F-D5F4C55E554C}">
      <dsp:nvSpPr>
        <dsp:cNvPr id="0" name=""/>
        <dsp:cNvSpPr/>
      </dsp:nvSpPr>
      <dsp:spPr>
        <a:xfrm>
          <a:off x="6430570" y="3341987"/>
          <a:ext cx="2359312" cy="367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0" tIns="14400" rIns="14400" bIns="14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 err="1"/>
            <a:t>instance_of</a:t>
          </a:r>
          <a:r>
            <a:rPr lang="fr-FR" sz="1000" b="1" i="0" kern="1200" dirty="0"/>
            <a:t> </a:t>
          </a:r>
          <a:r>
            <a:rPr lang="fr-FR" sz="1000" i="1" kern="1200" dirty="0" err="1"/>
            <a:t>Continuing</a:t>
          </a:r>
          <a:r>
            <a:rPr lang="fr-FR" sz="1000" i="1" kern="1200" dirty="0"/>
            <a:t> condition</a:t>
          </a:r>
          <a:r>
            <a:rPr lang="fr-FR" sz="1000" kern="1200" dirty="0"/>
            <a:t> (CC)</a:t>
          </a:r>
          <a:endParaRPr lang="fr-FR" sz="1000" i="1" kern="1200" dirty="0"/>
        </a:p>
      </dsp:txBody>
      <dsp:txXfrm>
        <a:off x="6430570" y="3341987"/>
        <a:ext cx="2359312" cy="367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iraGO" panose="020B05030500000200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iraGO" panose="020B0503050000020004" pitchFamily="34" charset="0"/>
              </a:defRPr>
            </a:lvl1pPr>
          </a:lstStyle>
          <a:p>
            <a:fld id="{20982AFF-2AAA-2541-80DC-081AC6DD20B7}" type="datetimeFigureOut">
              <a:rPr lang="fr-FR"/>
              <a:pPr/>
              <a:t>24/05/2026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iraGO" panose="020B05030500000200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iraGO" panose="020B0503050000020004" pitchFamily="34" charset="0"/>
              </a:defRPr>
            </a:lvl1pPr>
          </a:lstStyle>
          <a:p>
            <a:fld id="{C13D0E0D-C774-0A46-8FFA-A56A7232B337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726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FiraGO" panose="020B05030500000200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FiraGO" panose="020B05030500000200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FiraGO" panose="020B05030500000200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FiraGO" panose="020B05030500000200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FiraGO" panose="020B05030500000200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18194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2955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823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4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Partie 1 : 12’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259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35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00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1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4490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2280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1449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Partie 2 : 16’ (total : 28’)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1911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927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615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205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004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76C72314-6645-A349-A629-2CEBA4DC9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C8980C-2E77-7442-8E8B-6BC0C9C2ACF3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259B2484-F134-1844-BC2A-029C55A72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0393C2A3-FE24-3848-A9BF-0B4B199FE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080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1A83DC4E-1C6D-F945-AD6B-EC5399B9B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D43D7E-CABC-454C-971F-C8DCCBB81E54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074FE7DC-6545-F746-8FB8-8CCE1E7482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A4ACBD52-9ED6-5341-B1E9-106817B44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09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Total: 52’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43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941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b="0" i="0">
              <a:latin typeface="FiraGO" panose="020B05030500000200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DC8E5A5-7AB4-1948-A059-2AFB11125D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0162" y="6369619"/>
            <a:ext cx="1855304" cy="54542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1CEDB62-F90B-4E4D-ADE9-E35F2ADCE9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2158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>
            <a:lvl1pPr>
              <a:defRPr b="1" i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182" y="2262079"/>
            <a:ext cx="7279546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4164216-E876-A34D-87E4-FD42814639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CF622F2-AC7F-7047-B7E5-A96263A4DD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150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fond blanc avec lign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AF60B98-5333-D542-AB29-F6B8FC3361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FE4191B-95B0-5A45-AD85-55C2BE4E1E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9D52DC6-4E3F-4E4B-8623-259AC5D9E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916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fond pâle avec ligne orange"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2E216E1-717D-2F44-9D4D-C2E6A12718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E313044-8886-0B48-9A7F-E5F04290B1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38E94ED-A8BC-1949-B844-FD69E89A88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7911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3B3819D-FDBA-D948-97F7-1E9152230B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66B9CC0-7742-5341-9B6B-E02BB5A955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882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Titre de section"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BE66AD-A6D2-5140-9A0C-246A52814A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7460B0-1A40-3649-9E97-44908D687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060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1D04E8A-B66F-AF4B-B20D-B326EEC870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9FB4D9D-21CE-D044-9A2E-E0A03C961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7452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EA1C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65A0598-8E98-5243-A192-5E3CC1B78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76D1690-44FF-8C48-8D02-33B97C661F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822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5DC4550-2DC4-C444-A341-86AF4A3859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3B8A4C3-A6CD-044A-B931-BA152DE28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129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D067C3D-EA3D-BD43-BAEA-3FBF572BB9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C6056D-0F65-C44E-87A7-4C6BBB997A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858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9AD82F-5ABE-F94E-A9F5-66F7FBBE2E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8F8FAA0-6824-D847-B444-867241D58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6844187-9788-C546-B60B-446C78012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343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29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9AD82F-5ABE-F94E-A9F5-66F7FBBE2E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58873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rgbClr val="6EA1C5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rgbClr val="6EA1C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21712A6-D4BD-474A-BEC4-D9C5D6843D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9F308C0-A6A5-9C40-A214-D1896CC38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256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6EA1C5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17FFD95-8D2C-D94C-BD67-5C96BC6A1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52BC092-A782-4148-A875-016526A48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2592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48E6A-0493-C240-9F4F-E28FCD5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0BC219-C05C-9E4D-B9F6-E4FAF112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845E37A-95EC-D049-84E3-297D0BB67F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1C9C897-FB98-5D41-98DD-CD9E36247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7308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48E6A-0493-C240-9F4F-E28FCD5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0BC219-C05C-9E4D-B9F6-E4FAF112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808F50-CB56-E640-8FF8-E8966D099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027" y="6398756"/>
            <a:ext cx="1509142" cy="44366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BA15293-65E9-0348-A0FA-554B743B70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172" y="6477291"/>
            <a:ext cx="1353297" cy="365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4735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1191" y="1020432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Équipe</a:t>
            </a:r>
            <a:endParaRPr lang="en-US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C2FB12B-2AF7-584B-AB90-84C603F243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E38C2B9-3F9B-3345-AA68-D6883FA362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124B5C9-1F82-F64C-A152-8A7FD7F289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27" y="1890643"/>
            <a:ext cx="10675875" cy="40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43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1191" y="1020432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Partenaires</a:t>
            </a:r>
            <a:endParaRPr lang="en-US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C2FB12B-2AF7-584B-AB90-84C603F243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E38C2B9-3F9B-3345-AA68-D6883FA362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418632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merci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9225" y="1712975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Merci!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9A3A1D-F97E-744C-8113-D0B5A28C7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D87D606-1FDD-454E-9E00-C9A6F284E1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592400B-B097-114C-A6CC-C5C5609E95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228" y="2298706"/>
            <a:ext cx="10993546" cy="5246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cap="none" baseline="0">
                <a:solidFill>
                  <a:schemeClr val="accent4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err="1"/>
              <a:t>Prenom-nom@USherbrooke.ca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b="0" i="0">
              <a:latin typeface="FiraGO" panose="020B05030500000200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dirty="0"/>
              <a:t>Modifier le style des sous-titres du masque</a:t>
            </a:r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DC8E5A5-7AB4-1948-A059-2AFB11125D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0162" y="6369619"/>
            <a:ext cx="1855304" cy="54542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1CEDB62-F90B-4E4D-ADE9-E35F2ADCE9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31A1B74-C16E-BD48-823B-8915A321B0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81784" y="0"/>
            <a:ext cx="4210218" cy="1907044"/>
          </a:xfrm>
          <a:prstGeom prst="rect">
            <a:avLst/>
          </a:prstGeom>
          <a:solidFill>
            <a:schemeClr val="lt1"/>
          </a:solidFill>
        </p:spPr>
      </p:pic>
    </p:spTree>
    <p:extLst>
      <p:ext uri="{BB962C8B-B14F-4D97-AF65-F5344CB8AC3E}">
        <p14:creationId xmlns:p14="http://schemas.microsoft.com/office/powerpoint/2010/main" val="298475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>
            <a:lvl1pPr>
              <a:defRPr b="1" i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182" y="2262079"/>
            <a:ext cx="7279546" cy="3678303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4EC75BB-7EA4-5547-ADE1-293B6587FF48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74164216-E876-A34D-87E4-FD42814639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DCF622F2-AC7F-7047-B7E5-A96263A4DD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5A09819-3AF8-AD48-AF73-EB77CC7958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305909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fond blanc avec lign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AF60B98-5333-D542-AB29-F6B8FC3361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CDFBA08-88FC-7F4E-9AE6-27FDB9DECD3E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78BB6980-27E1-4A4D-8456-22CB3478B7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16E96BA6-6EFB-0545-9E70-820028BC89D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F810C409-D768-7C4F-8658-FCEE678475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9725388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fond pâle avec ligne orange"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2E216E1-717D-2F44-9D4D-C2E6A12718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DF06093-C2AD-3041-899B-B00589D6833D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213F7C49-BF34-3E41-A5B4-11DB5BE884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3BB3B301-E13A-4C43-BA77-BB44BA003B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0F262FF3-603C-A144-B381-246673DC00A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838717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1FFEC17-1C5B-BC43-8577-A07DF2BD1934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8D5DF29-EF01-984F-91CD-0FCB723B44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1672DA5A-0429-E349-B78F-8836790B6A2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259B4119-57A9-A541-B8FB-EF7A31E4FA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9409621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Titre de section"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1" i="0" cap="none" baseline="0">
                <a:solidFill>
                  <a:srgbClr val="6EA1C5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rgbClr val="6EA1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9547BC7-5134-1A43-ADFC-77D79AF61AC7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315D257A-AB6A-D94C-B663-B920A193FD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0946A277-E559-D34B-8673-832302DE92B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F9B2A5DF-7779-0F4F-A97A-791236C874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0702773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6F071F9-95A9-F44C-8B48-EF1DE059AA97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87F2F187-F54F-4E4E-842D-71D898CD5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5EF32FD-BB87-5544-9663-C176176E41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749FFEDA-1705-0D4C-BA55-A60377F0D2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81067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EA1C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F155BFE-1B6F-F04B-A158-EC5D024E774C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A64DB974-7D36-D748-9A88-C49E46ACE9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A3DE35B7-61C9-AC4C-9551-5774ECB013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5545C4D8-3C26-AC43-8FC1-BB4327A5B2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572961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>
            <a:lvl1pPr>
              <a:defRPr b="1" i="0"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069B465E-8A12-484E-8417-15AB1A112B8C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7E1FDC4D-FD7C-FB49-A578-639C258AE3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1EDBAE73-FA2A-9746-9EA6-B9DEBFEAD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D30C879-A250-1640-AAC9-2DB354E3BD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4390067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B810E875-1C5A-BA45-A66D-7BCDF2FC1EF2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9369C2B4-9F33-9B4C-A63C-49A16D8D39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8D6B1FC4-CF68-EE4B-BF2E-8B194C7DB8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1FCFA539-B700-9C4B-B04A-78509970E3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6550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9AD82F-5ABE-F94E-A9F5-66F7FBBE2E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293DD30-4E61-C948-B74C-758D7CDCB5FB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4206BA54-5948-EA48-A328-75269D74F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705BBB99-4CA7-B04E-AA2B-96284D70EC4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3474E69-DE80-374F-B2C7-B28DF99836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059379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6157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9AD82F-5ABE-F94E-A9F5-66F7FBBE2E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900000" flipH="1">
            <a:off x="4628775" y="3937609"/>
            <a:ext cx="8572814" cy="46580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3089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rgbClr val="6EA1C5"/>
                </a:solidFill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rgbClr val="6EA1C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0C22CEB-9EF9-5146-B145-AA7D33C66122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BBA23BEE-3E5C-DF44-9F32-161B1DA907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2863C08C-C54F-7B40-9D5F-799DCBA89CB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3A0D8B7D-48B3-1D40-897A-DD950E88B21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2259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6EA1C5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‹n°›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5771F93-4394-DF4C-8DC8-C433F9852904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C6BB4D7-64C1-1043-A602-913A658384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25AEBF8-9D1F-4142-A075-31A57B4F5F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23B6CB3-AF65-504B-9E6A-E9B4C70974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4785014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48E6A-0493-C240-9F4F-E28FCD5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0BC219-C05C-9E4D-B9F6-E4FAF112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49EAF26-0DE3-2740-B158-6881F7B5704A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76C812E9-98A3-8E4B-92C1-4768D9DD6D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AB0CB897-4657-CF4C-A46F-D4EB0545CA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87DEA85F-75A2-3D4C-A85C-16E8D8271A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9490692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48E6A-0493-C240-9F4F-E28FCD5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0BC219-C05C-9E4D-B9F6-E4FAF112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33FE4F11-0E0F-BC4C-B446-AD3A2DEBA01E}"/>
              </a:ext>
            </a:extLst>
          </p:cNvPr>
          <p:cNvGrpSpPr/>
          <p:nvPr userDrawn="1"/>
        </p:nvGrpSpPr>
        <p:grpSpPr>
          <a:xfrm>
            <a:off x="93800" y="6306394"/>
            <a:ext cx="4305813" cy="476740"/>
            <a:chOff x="93800" y="6306394"/>
            <a:chExt cx="4305813" cy="47674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6E869FE0-E6CE-454C-8A8D-980822F0AD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90471" y="6322934"/>
              <a:ext cx="1509142" cy="44366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7C55AF0A-8A17-1F42-884F-E7EFFACB21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8" b="-1"/>
            <a:stretch/>
          </p:blipFill>
          <p:spPr>
            <a:xfrm>
              <a:off x="93800" y="6338521"/>
              <a:ext cx="1353297" cy="412486"/>
            </a:xfrm>
            <a:prstGeom prst="rect">
              <a:avLst/>
            </a:prstGeom>
            <a:noFill/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9C1B9E7B-ACED-D54B-86EF-86CAD6E1CF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2530" y="6306394"/>
              <a:ext cx="1052508" cy="4767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077027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1191" y="1020432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Équipe</a:t>
            </a:r>
            <a:endParaRPr lang="en-US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C2FB12B-2AF7-584B-AB90-84C603F243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E38C2B9-3F9B-3345-AA68-D6883FA362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124B5C9-1F82-F64C-A152-8A7FD7F289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27" y="1945953"/>
            <a:ext cx="10675875" cy="402251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14B45BC-E402-4D4C-B915-AC11E9E5D1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81784" y="0"/>
            <a:ext cx="4210218" cy="1907044"/>
          </a:xfrm>
          <a:prstGeom prst="rect">
            <a:avLst/>
          </a:prstGeom>
          <a:solidFill>
            <a:schemeClr val="lt1"/>
          </a:solidFill>
        </p:spPr>
      </p:pic>
    </p:spTree>
    <p:extLst>
      <p:ext uri="{BB962C8B-B14F-4D97-AF65-F5344CB8AC3E}">
        <p14:creationId xmlns:p14="http://schemas.microsoft.com/office/powerpoint/2010/main" val="29170210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1191" y="1020432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Partenaires</a:t>
            </a:r>
            <a:endParaRPr lang="en-US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C2FB12B-2AF7-584B-AB90-84C603F243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E38C2B9-3F9B-3345-AA68-D6883FA362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9752F46-A890-F042-BEF6-C408676F0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81784" y="0"/>
            <a:ext cx="4210218" cy="1907044"/>
          </a:xfrm>
          <a:prstGeom prst="rect">
            <a:avLst/>
          </a:prstGeom>
          <a:solidFill>
            <a:schemeClr val="lt1"/>
          </a:solidFill>
        </p:spPr>
      </p:pic>
    </p:spTree>
    <p:extLst>
      <p:ext uri="{BB962C8B-B14F-4D97-AF65-F5344CB8AC3E}">
        <p14:creationId xmlns:p14="http://schemas.microsoft.com/office/powerpoint/2010/main" val="26737955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merci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9225" y="1712975"/>
            <a:ext cx="10993549" cy="585731"/>
          </a:xfrm>
          <a:effectLst/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r>
              <a:rPr lang="fr-FR" dirty="0"/>
              <a:t>Merci!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9A3A1D-F97E-744C-8113-D0B5A28C7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0218" cy="11359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D87D606-1FDD-454E-9E00-C9A6F284E1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413" y="6007379"/>
            <a:ext cx="2338983" cy="68761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592400B-B097-114C-A6CC-C5C5609E95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228" y="2298706"/>
            <a:ext cx="10993546" cy="5246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cap="none" baseline="0">
                <a:solidFill>
                  <a:schemeClr val="accent4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err="1"/>
              <a:t>Prenom-nom@USherbrooke.ca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54BE5E7-8189-BB43-AB70-158B5A435B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81784" y="0"/>
            <a:ext cx="4210218" cy="1907044"/>
          </a:xfrm>
          <a:prstGeom prst="rect">
            <a:avLst/>
          </a:prstGeom>
          <a:solidFill>
            <a:schemeClr val="lt1"/>
          </a:solidFill>
        </p:spPr>
      </p:pic>
    </p:spTree>
    <p:extLst>
      <p:ext uri="{BB962C8B-B14F-4D97-AF65-F5344CB8AC3E}">
        <p14:creationId xmlns:p14="http://schemas.microsoft.com/office/powerpoint/2010/main" val="259253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3717" y="2338289"/>
            <a:ext cx="7279546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408" y="6477292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66666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fld id="{A77F2FD4-1180-E945-8AAD-6AFE33919740}" type="datetime1">
              <a:rPr lang="fr-CA" smtClean="0"/>
              <a:t>2026-05-24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298" y="6477291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66666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8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80" r:id="rId4"/>
    <p:sldLayoutId id="2147483782" r:id="rId5"/>
    <p:sldLayoutId id="2147483783" r:id="rId6"/>
    <p:sldLayoutId id="2147483772" r:id="rId7"/>
    <p:sldLayoutId id="2147483773" r:id="rId8"/>
    <p:sldLayoutId id="2147483774" r:id="rId9"/>
    <p:sldLayoutId id="2147483775" r:id="rId10"/>
    <p:sldLayoutId id="2147483781" r:id="rId11"/>
    <p:sldLayoutId id="2147483788" r:id="rId12"/>
    <p:sldLayoutId id="2147483789" r:id="rId13"/>
    <p:sldLayoutId id="2147483776" r:id="rId14"/>
    <p:sldLayoutId id="2147483777" r:id="rId15"/>
    <p:sldLayoutId id="2147483784" r:id="rId16"/>
    <p:sldLayoutId id="2147483785" r:id="rId17"/>
    <p:sldLayoutId id="2147483822" r:id="rId18"/>
    <p:sldLayoutId id="2147483823" r:id="rId19"/>
    <p:sldLayoutId id="2147483787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cap="none" baseline="0">
          <a:solidFill>
            <a:srgbClr val="6EA1C5"/>
          </a:solidFill>
          <a:latin typeface="FiraGO" panose="020B0503050000020004" pitchFamily="34" charset="0"/>
          <a:ea typeface="+mj-ea"/>
          <a:cs typeface="FiraGO" panose="020B05030500000200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1pPr>
      <a:lvl2pPr marL="630000" indent="-306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2pPr>
      <a:lvl3pPr marL="900000" indent="-270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3pPr>
      <a:lvl4pPr marL="1242000" indent="-234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4pPr>
      <a:lvl5pPr marL="1602000" indent="-234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3717" y="2338289"/>
            <a:ext cx="7279546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408" y="6477292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66666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fld id="{A77F2FD4-1180-E945-8AAD-6AFE33919740}" type="datetime1">
              <a:rPr lang="fr-CA" smtClean="0"/>
              <a:t>2026-05-24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298" y="6477291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66666"/>
                </a:solidFill>
                <a:latin typeface="FiraGO" panose="020B0503050000020004" pitchFamily="34" charset="0"/>
                <a:cs typeface="FiraGO" panose="020B0503050000020004" pitchFamily="34" charset="0"/>
              </a:defRPr>
            </a:lvl1pPr>
          </a:lstStyle>
          <a:p>
            <a:fld id="{2375FC80-0D10-DE47-AFF9-6AA2A89D77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33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4" r:id="rId18"/>
    <p:sldLayoutId id="2147483825" r:id="rId19"/>
    <p:sldLayoutId id="2147483821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cap="none" baseline="0">
          <a:solidFill>
            <a:srgbClr val="6EA1C5"/>
          </a:solidFill>
          <a:latin typeface="FiraGO" panose="020B0503050000020004" pitchFamily="34" charset="0"/>
          <a:ea typeface="+mj-ea"/>
          <a:cs typeface="FiraGO" panose="020B05030500000200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1pPr>
      <a:lvl2pPr marL="630000" indent="-306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2pPr>
      <a:lvl3pPr marL="900000" indent="-270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3pPr>
      <a:lvl4pPr marL="1242000" indent="-234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4pPr>
      <a:lvl5pPr marL="1602000" indent="-234000" algn="l" defTabSz="457200" rtl="0" eaLnBrk="1" latinLnBrk="0" hangingPunct="1">
        <a:lnSpc>
          <a:spcPct val="150000"/>
        </a:lnSpc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FiraGO" panose="020B0503050000020004" pitchFamily="34" charset="0"/>
          <a:ea typeface="+mn-ea"/>
          <a:cs typeface="FiraGO" panose="020B05030500000200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standards.iso.org/ittf/PubliclyAvailableStandards/c074572_ISO_IEC_21838-2_2021(E)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CDBB9-3BC7-524D-B217-4C9A501BC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sz="4400" dirty="0"/>
              <a:t>Introduction aux ontologies biomédicales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24875-7408-BB48-8A3B-3A9AB02E157A}"/>
              </a:ext>
            </a:extLst>
          </p:cNvPr>
          <p:cNvSpPr/>
          <p:nvPr/>
        </p:nvSpPr>
        <p:spPr>
          <a:xfrm>
            <a:off x="581190" y="3375684"/>
            <a:ext cx="8670965" cy="2569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fr-FR" sz="1600" dirty="0">
                <a:solidFill>
                  <a:srgbClr val="6EA1C5"/>
                </a:solidFill>
                <a:latin typeface="FiraGO Medium" panose="020B0503050000020004" pitchFamily="34" charset="0"/>
                <a:cs typeface="FiraGO Medium" panose="020B0503050000020004" pitchFamily="34" charset="0"/>
              </a:rPr>
              <a:t>Adrien Barton</a:t>
            </a:r>
          </a:p>
          <a:p>
            <a:pPr lvl="0">
              <a:lnSpc>
                <a:spcPct val="114000"/>
              </a:lnSpc>
              <a:defRPr/>
            </a:pPr>
            <a:endParaRPr lang="fr-FR" sz="1400" b="1" dirty="0">
              <a:solidFill>
                <a:srgbClr val="FFFFFF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  <a:p>
            <a:pPr lvl="0">
              <a:lnSpc>
                <a:spcPct val="114000"/>
              </a:lnSpc>
              <a:defRPr/>
            </a:pPr>
            <a:r>
              <a:rPr lang="fr-FR" sz="1400" dirty="0">
                <a:solidFill>
                  <a:srgbClr val="6EA1C5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Chargé de recherche CNRS</a:t>
            </a:r>
          </a:p>
          <a:p>
            <a:pPr>
              <a:lnSpc>
                <a:spcPct val="114000"/>
              </a:lnSpc>
              <a:defRPr/>
            </a:pPr>
            <a:r>
              <a:rPr lang="fr-FR" sz="1400" dirty="0">
                <a:solidFill>
                  <a:srgbClr val="666666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Institut de recherche en informatique de Toulouse (IRIT), Université de Toulouse</a:t>
            </a:r>
            <a:endParaRPr lang="fr-FR" sz="1400" dirty="0">
              <a:solidFill>
                <a:srgbClr val="F2F2F2"/>
              </a:solidFill>
              <a:latin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14000"/>
              </a:lnSpc>
              <a:defRPr/>
            </a:pPr>
            <a:endParaRPr lang="fr-FR" sz="1400" dirty="0">
              <a:solidFill>
                <a:srgbClr val="FFFFFF"/>
              </a:solidFill>
              <a:latin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14000"/>
              </a:lnSpc>
              <a:defRPr/>
            </a:pPr>
            <a:r>
              <a:rPr lang="fr-FR" sz="1400" dirty="0">
                <a:solidFill>
                  <a:srgbClr val="6EA1C5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Chercheur associé</a:t>
            </a:r>
          </a:p>
          <a:p>
            <a:pPr lvl="0">
              <a:lnSpc>
                <a:spcPct val="114000"/>
              </a:lnSpc>
              <a:defRPr/>
            </a:pPr>
            <a:r>
              <a:rPr lang="fr-FR" sz="1400" dirty="0">
                <a:solidFill>
                  <a:srgbClr val="666666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Groupe de recherche interdisciplinaire en informatique de la santé (GRIIS)</a:t>
            </a:r>
            <a:br>
              <a:rPr lang="fr-FR" sz="1400" dirty="0">
                <a:solidFill>
                  <a:srgbClr val="666666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</a:br>
            <a:endParaRPr lang="fr-FR" sz="1400" dirty="0">
              <a:solidFill>
                <a:srgbClr val="666666"/>
              </a:solidFill>
              <a:latin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14000"/>
              </a:lnSpc>
              <a:defRPr/>
            </a:pPr>
            <a:r>
              <a:rPr lang="fr-FR" sz="1400" dirty="0">
                <a:solidFill>
                  <a:srgbClr val="6EA1C5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Professeur associé</a:t>
            </a:r>
          </a:p>
          <a:p>
            <a:pPr lvl="0">
              <a:lnSpc>
                <a:spcPct val="114000"/>
              </a:lnSpc>
              <a:defRPr/>
            </a:pPr>
            <a:r>
              <a:rPr lang="fr-FR" sz="1400" dirty="0">
                <a:solidFill>
                  <a:srgbClr val="666666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Département de médecine, Université de Sherbrooke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2EF274C-DBE9-4043-B911-61BABBD777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12084" y="5188170"/>
            <a:ext cx="1497430" cy="11162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8253DA0-420B-884E-ADAD-D7FA39A0E3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1814" y="6416566"/>
            <a:ext cx="1793763" cy="441434"/>
          </a:xfrm>
          <a:prstGeom prst="rect">
            <a:avLst/>
          </a:prstGeom>
        </p:spPr>
      </p:pic>
      <p:sp>
        <p:nvSpPr>
          <p:cNvPr id="6" name="Sous-titre 5">
            <a:extLst>
              <a:ext uri="{FF2B5EF4-FFF2-40B4-BE49-F238E27FC236}">
                <a16:creationId xmlns:a16="http://schemas.microsoft.com/office/drawing/2014/main" id="{78BB6EB3-45E0-A340-9958-3685E9453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CA" sz="2000" dirty="0"/>
              <a:t> </a:t>
            </a:r>
            <a:r>
              <a:rPr lang="fr-CA" sz="2000" b="1" dirty="0"/>
              <a:t>École d’été interdisciplinaire en numérique de la santé (EINS 2026)</a:t>
            </a:r>
            <a:endParaRPr lang="fr-CA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5618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1B324-8711-2642-A68E-A729FA72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22E6A7-49E0-6445-AD7D-254FC1E4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</a:t>
            </a:fld>
            <a:endParaRPr lang="fr-FR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70AD078-5D35-AF4F-B33D-C5DACC427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9" y="1417637"/>
            <a:ext cx="6559106" cy="5059655"/>
          </a:xfrm>
        </p:spPr>
        <p:txBody>
          <a:bodyPr>
            <a:normAutofit/>
          </a:bodyPr>
          <a:lstStyle/>
          <a:p>
            <a:endParaRPr lang="fr-FR" sz="2000" dirty="0"/>
          </a:p>
          <a:p>
            <a:r>
              <a:rPr lang="fr-FR" sz="2000" b="1" dirty="0"/>
              <a:t>Partie I </a:t>
            </a:r>
            <a:r>
              <a:rPr lang="fr-FR" sz="2000" dirty="0"/>
              <a:t>: Les ontologies comme solution au problème de Babel de l’informatique médicale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b="1" dirty="0">
                <a:solidFill>
                  <a:schemeClr val="tx1"/>
                </a:solidFill>
              </a:rPr>
              <a:t>Partie II </a:t>
            </a:r>
            <a:r>
              <a:rPr lang="fr-FR" sz="2000" dirty="0">
                <a:solidFill>
                  <a:schemeClr val="tx1"/>
                </a:solidFill>
              </a:rPr>
              <a:t>: Les différents niveaux d’ontologies</a:t>
            </a:r>
          </a:p>
          <a:p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Partie III </a:t>
            </a:r>
            <a:r>
              <a:rPr lang="fr-FR" sz="2000" dirty="0">
                <a:solidFill>
                  <a:schemeClr val="tx1"/>
                </a:solidFill>
              </a:rPr>
              <a:t>: Définitions textuelles et formelles</a:t>
            </a:r>
          </a:p>
          <a:p>
            <a:pPr marL="324000" lvl="1" indent="0">
              <a:buNone/>
            </a:pPr>
            <a:r>
              <a:rPr lang="fr-FR" sz="1800" dirty="0"/>
              <a:t>	</a:t>
            </a:r>
            <a:r>
              <a:rPr lang="fr-FR" dirty="0"/>
              <a:t>Application à la classification : l’exemple de la maladie</a:t>
            </a:r>
            <a:endParaRPr lang="fr-FR" dirty="0">
              <a:solidFill>
                <a:schemeClr val="tx1"/>
              </a:solidFill>
            </a:endParaRPr>
          </a:p>
          <a:p>
            <a:endParaRPr lang="fr-FR" sz="2000" dirty="0"/>
          </a:p>
        </p:txBody>
      </p:sp>
      <p:pic>
        <p:nvPicPr>
          <p:cNvPr id="14" name="Content Placeholder 5" descr="Pieter_Bruegel_the_Elder_-_The_Tower_of_Babel_(Vienna)_-_Google_Art_Project_-_edited.jpg">
            <a:extLst>
              <a:ext uri="{FF2B5EF4-FFF2-40B4-BE49-F238E27FC236}">
                <a16:creationId xmlns:a16="http://schemas.microsoft.com/office/drawing/2014/main" id="{D1B1E852-7209-3A43-A1D5-40E5B52459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7700" y="1814577"/>
            <a:ext cx="2916057" cy="2132887"/>
          </a:xfrm>
          <a:prstGeom prst="rect">
            <a:avLst/>
          </a:prstGeom>
        </p:spPr>
      </p:pic>
      <p:pic>
        <p:nvPicPr>
          <p:cNvPr id="9" name="Image 8" descr="Une image contenant Accessoire de mode, ongle, doigt, bague de fiançailles&#10;&#10;Description générée automatiquement">
            <a:extLst>
              <a:ext uri="{FF2B5EF4-FFF2-40B4-BE49-F238E27FC236}">
                <a16:creationId xmlns:a16="http://schemas.microsoft.com/office/drawing/2014/main" id="{31B7C7F9-66A5-6748-95E3-E191C88873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3569" y="3170601"/>
            <a:ext cx="2626383" cy="1693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15BBAC6-29FE-0B47-BDBE-43FD661FACD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452" y="5001496"/>
            <a:ext cx="2642932" cy="1759201"/>
          </a:xfrm>
          <a:prstGeom prst="rect">
            <a:avLst/>
          </a:prstGeom>
        </p:spPr>
      </p:pic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16BFB03D-6DFF-674B-A94E-92EC86A840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2351" y="5001496"/>
            <a:ext cx="2345601" cy="175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0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Partie 1 : Les ontologies comme solution au problème de Babel </a:t>
            </a:r>
            <a:br>
              <a:rPr lang="fr-FR" sz="2800" dirty="0"/>
            </a:br>
            <a:r>
              <a:rPr lang="fr-FR" sz="2800" dirty="0"/>
              <a:t>de l’informatique médicale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3</a:t>
            </a:fld>
            <a:endParaRPr lang="fr-FR"/>
          </a:p>
        </p:txBody>
      </p:sp>
      <p:pic>
        <p:nvPicPr>
          <p:cNvPr id="7" name="Content Placeholder 5" descr="Pieter_Bruegel_the_Elder_-_The_Tower_of_Babel_(Vienna)_-_Google_Art_Project_-_edited.jpg">
            <a:extLst>
              <a:ext uri="{FF2B5EF4-FFF2-40B4-BE49-F238E27FC236}">
                <a16:creationId xmlns:a16="http://schemas.microsoft.com/office/drawing/2014/main" id="{DC03F592-1FBE-B343-ABE4-C13C4DCEB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964" y="1962760"/>
            <a:ext cx="6119366" cy="447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21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médicales</a:t>
            </a:r>
            <a:r>
              <a:rPr lang="en-US" dirty="0"/>
              <a:t> au Québec </a:t>
            </a:r>
            <a:r>
              <a:rPr lang="en-US" dirty="0" err="1"/>
              <a:t>aujourd’hui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BA8D89-E306-264F-8CE5-CA1C6C2D1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04" y="2062966"/>
            <a:ext cx="5281004" cy="3940385"/>
          </a:xfrm>
        </p:spPr>
        <p:txBody>
          <a:bodyPr anchor="t">
            <a:normAutofit fontScale="92500" lnSpcReduction="10000"/>
          </a:bodyPr>
          <a:lstStyle/>
          <a:p>
            <a:r>
              <a:rPr lang="fr-CA" sz="1600" dirty="0"/>
              <a:t>Cabinets de médecin</a:t>
            </a:r>
          </a:p>
          <a:p>
            <a:r>
              <a:rPr lang="fr-CA" sz="1600" dirty="0"/>
              <a:t>Hôpitaux</a:t>
            </a:r>
          </a:p>
          <a:p>
            <a:r>
              <a:rPr lang="fr-CA" sz="1600" dirty="0"/>
              <a:t>RAMQ</a:t>
            </a:r>
          </a:p>
          <a:p>
            <a:r>
              <a:rPr lang="fr-CA" sz="1600" dirty="0"/>
              <a:t>Centre Local de Service Communautaire (CLSC)</a:t>
            </a:r>
          </a:p>
          <a:p>
            <a:r>
              <a:rPr lang="fr-CA" sz="1600" dirty="0"/>
              <a:t>Ministère de la Santé et des Services Sociaux (MSSS) </a:t>
            </a:r>
          </a:p>
          <a:p>
            <a:r>
              <a:rPr lang="fr-CA" sz="1600" dirty="0"/>
              <a:t>Cohortes</a:t>
            </a:r>
          </a:p>
          <a:p>
            <a:r>
              <a:rPr lang="fr-CA" sz="1600" dirty="0"/>
              <a:t>Essais cliniques</a:t>
            </a:r>
          </a:p>
          <a:p>
            <a:r>
              <a:rPr lang="fr-CA" sz="1600" dirty="0" err="1"/>
              <a:t>Biobanques</a:t>
            </a:r>
            <a:endParaRPr lang="fr-CA" sz="1600" dirty="0"/>
          </a:p>
          <a:p>
            <a:r>
              <a:rPr lang="is-IS" sz="1600" dirty="0"/>
              <a:t>…</a:t>
            </a:r>
            <a:endParaRPr lang="fr-CA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4</a:t>
            </a:fld>
            <a:endParaRPr lang="fr-FR"/>
          </a:p>
        </p:txBody>
      </p:sp>
      <p:pic>
        <p:nvPicPr>
          <p:cNvPr id="6" name="Content Placeholder 5" descr="Pieter_Bruegel_the_Elder_-_The_Tower_of_Babel_(Vienna)_-_Google_Art_Project_-_edited.jpg">
            <a:extLst>
              <a:ext uri="{FF2B5EF4-FFF2-40B4-BE49-F238E27FC236}">
                <a16:creationId xmlns:a16="http://schemas.microsoft.com/office/drawing/2014/main" id="{EE736A33-68C2-5E4B-ABB2-AC1A4BFFB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3580" y="2156170"/>
            <a:ext cx="4038600" cy="2953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C4C44D-2D01-AE48-A2EC-8CDE828C6559}"/>
              </a:ext>
            </a:extLst>
          </p:cNvPr>
          <p:cNvSpPr txBox="1"/>
          <p:nvPr/>
        </p:nvSpPr>
        <p:spPr>
          <a:xfrm>
            <a:off x="6303580" y="5411806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FiraGO" panose="020B0503050000020004" pitchFamily="34" charset="0"/>
                <a:cs typeface="FiraGO" panose="020B0503050000020004" pitchFamily="34" charset="0"/>
              </a:rPr>
              <a:t>Tour de Babel des </a:t>
            </a:r>
            <a:r>
              <a:rPr lang="en-US" sz="2400" err="1">
                <a:latin typeface="FiraGO" panose="020B0503050000020004" pitchFamily="34" charset="0"/>
                <a:cs typeface="FiraGO" panose="020B0503050000020004" pitchFamily="34" charset="0"/>
              </a:rPr>
              <a:t>systèmes</a:t>
            </a:r>
            <a:r>
              <a:rPr lang="en-US" sz="240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2400" err="1">
                <a:latin typeface="FiraGO" panose="020B0503050000020004" pitchFamily="34" charset="0"/>
                <a:cs typeface="FiraGO" panose="020B0503050000020004" pitchFamily="34" charset="0"/>
              </a:rPr>
              <a:t>d’information</a:t>
            </a:r>
            <a:endParaRPr lang="en-US" sz="240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64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médicales</a:t>
            </a:r>
            <a:r>
              <a:rPr lang="en-US" dirty="0"/>
              <a:t> au Québec </a:t>
            </a:r>
            <a:r>
              <a:rPr lang="en-US" dirty="0" err="1"/>
              <a:t>aujourd’hui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BA8D89-E306-264F-8CE5-CA1C6C2D1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04" y="2062966"/>
            <a:ext cx="5281004" cy="3940385"/>
          </a:xfrm>
        </p:spPr>
        <p:txBody>
          <a:bodyPr anchor="t">
            <a:noAutofit/>
          </a:bodyPr>
          <a:lstStyle/>
          <a:p>
            <a:r>
              <a:rPr lang="en-US" sz="2000" dirty="0" err="1"/>
              <a:t>Défi</a:t>
            </a:r>
            <a:r>
              <a:rPr lang="en-US" sz="2000" dirty="0"/>
              <a:t> : </a:t>
            </a:r>
            <a:r>
              <a:rPr lang="en-US" sz="2000" dirty="0" err="1"/>
              <a:t>rendre</a:t>
            </a:r>
            <a:r>
              <a:rPr lang="en-US" sz="2000" dirty="0"/>
              <a:t> </a:t>
            </a:r>
            <a:r>
              <a:rPr lang="en-US" sz="2000" dirty="0" err="1"/>
              <a:t>l’information</a:t>
            </a:r>
            <a:r>
              <a:rPr lang="en-US" sz="2000" dirty="0"/>
              <a:t> </a:t>
            </a:r>
            <a:r>
              <a:rPr lang="en-US" sz="2000" dirty="0" err="1"/>
              <a:t>scientifique</a:t>
            </a:r>
            <a:r>
              <a:rPr lang="en-US" sz="2000" dirty="0"/>
              <a:t> </a:t>
            </a:r>
            <a:r>
              <a:rPr lang="en-US" sz="2000" dirty="0" err="1"/>
              <a:t>interopérable</a:t>
            </a:r>
            <a:r>
              <a:rPr lang="en-US" sz="2000" dirty="0"/>
              <a:t>, </a:t>
            </a:r>
            <a:r>
              <a:rPr lang="en-US" sz="2000" dirty="0" err="1"/>
              <a:t>partageable</a:t>
            </a:r>
            <a:r>
              <a:rPr lang="en-US" sz="2000" dirty="0"/>
              <a:t>, </a:t>
            </a:r>
            <a:r>
              <a:rPr lang="en-US" sz="2000" dirty="0" err="1"/>
              <a:t>réutilisable</a:t>
            </a:r>
            <a:endParaRPr lang="en-US" sz="2000" dirty="0"/>
          </a:p>
          <a:p>
            <a:r>
              <a:rPr lang="en-US" sz="2000" dirty="0"/>
              <a:t>Obstacle principal : </a:t>
            </a:r>
            <a:r>
              <a:rPr lang="en-US" sz="2000" dirty="0" err="1"/>
              <a:t>diversité</a:t>
            </a:r>
            <a:r>
              <a:rPr lang="en-US" sz="2000" dirty="0"/>
              <a:t> des </a:t>
            </a:r>
            <a:r>
              <a:rPr lang="en-US" sz="2000" dirty="0" err="1"/>
              <a:t>données</a:t>
            </a:r>
            <a:r>
              <a:rPr lang="en-US" sz="2000" dirty="0"/>
              <a:t>, </a:t>
            </a:r>
            <a:r>
              <a:rPr lang="en-US" sz="2000" dirty="0" err="1"/>
              <a:t>plutôt</a:t>
            </a:r>
            <a:r>
              <a:rPr lang="en-US" sz="2000" dirty="0"/>
              <a:t> que </a:t>
            </a:r>
            <a:r>
              <a:rPr lang="en-US" sz="2000" dirty="0" err="1"/>
              <a:t>leur</a:t>
            </a:r>
            <a:r>
              <a:rPr lang="en-US" sz="2000" dirty="0"/>
              <a:t> </a:t>
            </a:r>
            <a:r>
              <a:rPr lang="en-US" sz="2000" dirty="0" err="1"/>
              <a:t>quantité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Problème</a:t>
            </a:r>
            <a:r>
              <a:rPr lang="en-US" sz="2000" dirty="0"/>
              <a:t> de Babel” :</a:t>
            </a:r>
          </a:p>
          <a:p>
            <a:pPr lvl="1"/>
            <a:r>
              <a:rPr lang="en-US" sz="2000" dirty="0" err="1"/>
              <a:t>Idiosyncrasie</a:t>
            </a:r>
            <a:r>
              <a:rPr lang="en-US" sz="2000" dirty="0"/>
              <a:t> </a:t>
            </a:r>
            <a:r>
              <a:rPr lang="en-US" sz="2000" dirty="0" err="1"/>
              <a:t>technologique</a:t>
            </a:r>
            <a:endParaRPr lang="en-US" sz="2000" dirty="0"/>
          </a:p>
          <a:p>
            <a:pPr lvl="1"/>
            <a:r>
              <a:rPr lang="en-US" sz="2000" dirty="0" err="1"/>
              <a:t>Idiosyncrasie</a:t>
            </a:r>
            <a:r>
              <a:rPr lang="en-US" sz="2000" dirty="0"/>
              <a:t> </a:t>
            </a:r>
            <a:r>
              <a:rPr lang="en-US" sz="2000" dirty="0" err="1"/>
              <a:t>humaine</a:t>
            </a:r>
            <a:endParaRPr lang="en-US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5</a:t>
            </a:fld>
            <a:endParaRPr lang="fr-FR"/>
          </a:p>
        </p:txBody>
      </p:sp>
      <p:pic>
        <p:nvPicPr>
          <p:cNvPr id="6" name="Content Placeholder 5" descr="Pieter_Bruegel_the_Elder_-_The_Tower_of_Babel_(Vienna)_-_Google_Art_Project_-_edited.jpg">
            <a:extLst>
              <a:ext uri="{FF2B5EF4-FFF2-40B4-BE49-F238E27FC236}">
                <a16:creationId xmlns:a16="http://schemas.microsoft.com/office/drawing/2014/main" id="{EE736A33-68C2-5E4B-ABB2-AC1A4BFFB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3580" y="2156170"/>
            <a:ext cx="4038600" cy="2953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C4C44D-2D01-AE48-A2EC-8CDE828C6559}"/>
              </a:ext>
            </a:extLst>
          </p:cNvPr>
          <p:cNvSpPr txBox="1"/>
          <p:nvPr/>
        </p:nvSpPr>
        <p:spPr>
          <a:xfrm>
            <a:off x="6303580" y="5411806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FiraGO" panose="020B0503050000020004" pitchFamily="34" charset="0"/>
                <a:cs typeface="FiraGO" panose="020B0503050000020004" pitchFamily="34" charset="0"/>
              </a:rPr>
              <a:t>Tour de Babel des </a:t>
            </a:r>
            <a:r>
              <a:rPr lang="en-US" sz="2400" err="1">
                <a:latin typeface="FiraGO" panose="020B0503050000020004" pitchFamily="34" charset="0"/>
                <a:cs typeface="FiraGO" panose="020B0503050000020004" pitchFamily="34" charset="0"/>
              </a:rPr>
              <a:t>systèmes</a:t>
            </a:r>
            <a:r>
              <a:rPr lang="en-US" sz="240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2400" err="1">
                <a:latin typeface="FiraGO" panose="020B0503050000020004" pitchFamily="34" charset="0"/>
                <a:cs typeface="FiraGO" panose="020B0503050000020004" pitchFamily="34" charset="0"/>
              </a:rPr>
              <a:t>d’information</a:t>
            </a:r>
            <a:endParaRPr lang="en-US" sz="240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06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2800" dirty="0"/>
              <a:t>Un défi pour la mise au point de systèmes de santé apprenants</a:t>
            </a:r>
            <a:endParaRPr lang="fr-FR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z="800" smtClean="0"/>
              <a:t>6</a:t>
            </a:fld>
            <a:endParaRPr lang="fr-FR" sz="80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47E9007-789D-3C45-98A8-0F43BFC19AA9}"/>
              </a:ext>
            </a:extLst>
          </p:cNvPr>
          <p:cNvSpPr/>
          <p:nvPr/>
        </p:nvSpPr>
        <p:spPr>
          <a:xfrm>
            <a:off x="4298072" y="2176145"/>
            <a:ext cx="3430391" cy="1025780"/>
          </a:xfrm>
          <a:prstGeom prst="roundRect">
            <a:avLst/>
          </a:prstGeom>
          <a:solidFill>
            <a:srgbClr val="4590B8">
              <a:lumMod val="40000"/>
              <a:lumOff val="60000"/>
            </a:srgbClr>
          </a:solidFill>
          <a:ln w="22225" cap="rnd" cmpd="sng" algn="ctr">
            <a:solidFill>
              <a:srgbClr val="4590B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fr-FR" sz="1200" kern="0">
              <a:solidFill>
                <a:prstClr val="white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A394B274-9A51-8E48-B968-388C9C224D2E}"/>
              </a:ext>
            </a:extLst>
          </p:cNvPr>
          <p:cNvSpPr/>
          <p:nvPr/>
        </p:nvSpPr>
        <p:spPr>
          <a:xfrm>
            <a:off x="6155601" y="2271118"/>
            <a:ext cx="1436092" cy="820624"/>
          </a:xfrm>
          <a:prstGeom prst="roundRect">
            <a:avLst/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r>
              <a:rPr lang="fr-CA" sz="1400" kern="0">
                <a:solidFill>
                  <a:prstClr val="white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Données de santé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67F044E5-CC73-6E46-85CA-D6D587DD18C6}"/>
              </a:ext>
            </a:extLst>
          </p:cNvPr>
          <p:cNvSpPr/>
          <p:nvPr/>
        </p:nvSpPr>
        <p:spPr>
          <a:xfrm>
            <a:off x="4298073" y="5006532"/>
            <a:ext cx="1507278" cy="820624"/>
          </a:xfrm>
          <a:prstGeom prst="roundRect">
            <a:avLst/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r>
              <a:rPr lang="fr-CA" sz="1400" kern="0">
                <a:solidFill>
                  <a:prstClr val="white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Connaissances</a:t>
            </a:r>
            <a:endParaRPr lang="fr-CA" sz="1600" kern="0">
              <a:solidFill>
                <a:prstClr val="white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0" name="Curved Left Arrow 7">
            <a:extLst>
              <a:ext uri="{FF2B5EF4-FFF2-40B4-BE49-F238E27FC236}">
                <a16:creationId xmlns:a16="http://schemas.microsoft.com/office/drawing/2014/main" id="{DA929524-00ED-B342-BA22-AD2400E1B10C}"/>
              </a:ext>
            </a:extLst>
          </p:cNvPr>
          <p:cNvSpPr/>
          <p:nvPr/>
        </p:nvSpPr>
        <p:spPr>
          <a:xfrm>
            <a:off x="7796849" y="2544659"/>
            <a:ext cx="1983175" cy="3145725"/>
          </a:xfrm>
          <a:prstGeom prst="curvedLeftArrow">
            <a:avLst>
              <a:gd name="adj1" fmla="val 12097"/>
              <a:gd name="adj2" fmla="val 27600"/>
              <a:gd name="adj3" fmla="val 25000"/>
            </a:avLst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endParaRPr lang="fr-CA" sz="1200" kern="0">
              <a:solidFill>
                <a:prstClr val="black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FAA4E2F8-45CE-D948-8D51-1D69A7F5CD48}"/>
              </a:ext>
            </a:extLst>
          </p:cNvPr>
          <p:cNvSpPr txBox="1"/>
          <p:nvPr/>
        </p:nvSpPr>
        <p:spPr>
          <a:xfrm>
            <a:off x="7317134" y="3678373"/>
            <a:ext cx="2306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42900">
              <a:defRPr/>
            </a:pPr>
            <a:r>
              <a:rPr lang="fr-CA" sz="1400" kern="0" dirty="0">
                <a:solidFill>
                  <a:prstClr val="black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Études observationnelles</a:t>
            </a:r>
          </a:p>
          <a:p>
            <a:pPr algn="r" defTabSz="342900">
              <a:defRPr/>
            </a:pPr>
            <a:r>
              <a:rPr lang="fr-CA" sz="1400" kern="0" dirty="0">
                <a:solidFill>
                  <a:prstClr val="black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Études cliniques</a:t>
            </a:r>
          </a:p>
        </p:txBody>
      </p:sp>
      <p:sp>
        <p:nvSpPr>
          <p:cNvPr id="12" name="Curved Left Arrow 9">
            <a:extLst>
              <a:ext uri="{FF2B5EF4-FFF2-40B4-BE49-F238E27FC236}">
                <a16:creationId xmlns:a16="http://schemas.microsoft.com/office/drawing/2014/main" id="{D2634DB9-8DBE-6C40-8242-0F00930983C3}"/>
              </a:ext>
            </a:extLst>
          </p:cNvPr>
          <p:cNvSpPr/>
          <p:nvPr/>
        </p:nvSpPr>
        <p:spPr>
          <a:xfrm flipH="1" flipV="1">
            <a:off x="2120866" y="2339504"/>
            <a:ext cx="2051560" cy="3214110"/>
          </a:xfrm>
          <a:prstGeom prst="curvedLeftArrow">
            <a:avLst>
              <a:gd name="adj1" fmla="val 12097"/>
              <a:gd name="adj2" fmla="val 27600"/>
              <a:gd name="adj3" fmla="val 25000"/>
            </a:avLst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endParaRPr lang="fr-CA" sz="1200" kern="0">
              <a:solidFill>
                <a:prstClr val="black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89DC9F10-2F38-C646-8A7B-F01950718CB1}"/>
              </a:ext>
            </a:extLst>
          </p:cNvPr>
          <p:cNvSpPr txBox="1"/>
          <p:nvPr/>
        </p:nvSpPr>
        <p:spPr>
          <a:xfrm>
            <a:off x="2467396" y="3652495"/>
            <a:ext cx="177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defRPr/>
            </a:pPr>
            <a:r>
              <a:rPr lang="fr-CA" sz="1400" kern="0" dirty="0">
                <a:solidFill>
                  <a:prstClr val="black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Aide à la décision</a:t>
            </a:r>
          </a:p>
          <a:p>
            <a:pPr defTabSz="342900">
              <a:defRPr/>
            </a:pPr>
            <a:r>
              <a:rPr lang="fr-CA" sz="1400" kern="0" dirty="0">
                <a:solidFill>
                  <a:prstClr val="black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Pratique réflexive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D30A818-4C58-1E4A-972C-1065D3E259F4}"/>
              </a:ext>
            </a:extLst>
          </p:cNvPr>
          <p:cNvSpPr/>
          <p:nvPr/>
        </p:nvSpPr>
        <p:spPr>
          <a:xfrm>
            <a:off x="4445967" y="2278724"/>
            <a:ext cx="1250477" cy="820624"/>
          </a:xfrm>
          <a:prstGeom prst="roundRect">
            <a:avLst/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r>
              <a:rPr lang="fr-CA" sz="1400" kern="0">
                <a:solidFill>
                  <a:prstClr val="white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Activités de santé</a:t>
            </a:r>
          </a:p>
        </p:txBody>
      </p:sp>
      <p:sp>
        <p:nvSpPr>
          <p:cNvPr id="15" name="Right Arrow 12">
            <a:extLst>
              <a:ext uri="{FF2B5EF4-FFF2-40B4-BE49-F238E27FC236}">
                <a16:creationId xmlns:a16="http://schemas.microsoft.com/office/drawing/2014/main" id="{7731ABC9-5E95-DB40-8FB0-C1B4CD03A270}"/>
              </a:ext>
            </a:extLst>
          </p:cNvPr>
          <p:cNvSpPr/>
          <p:nvPr/>
        </p:nvSpPr>
        <p:spPr>
          <a:xfrm>
            <a:off x="5805351" y="2494223"/>
            <a:ext cx="341927" cy="341927"/>
          </a:xfrm>
          <a:prstGeom prst="rightArrow">
            <a:avLst/>
          </a:prstGeom>
          <a:solidFill>
            <a:srgbClr val="1A3260">
              <a:lumMod val="75000"/>
            </a:srgbClr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fr-CA" sz="1200" kern="0">
              <a:solidFill>
                <a:prstClr val="white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81B9947A-75D4-9745-B265-45C26FE679C3}"/>
              </a:ext>
            </a:extLst>
          </p:cNvPr>
          <p:cNvSpPr/>
          <p:nvPr/>
        </p:nvSpPr>
        <p:spPr>
          <a:xfrm>
            <a:off x="6429142" y="5006532"/>
            <a:ext cx="1279781" cy="820624"/>
          </a:xfrm>
          <a:prstGeom prst="roundRect">
            <a:avLst/>
          </a:prstGeom>
          <a:solidFill>
            <a:srgbClr val="1A3260"/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342900">
              <a:defRPr/>
            </a:pPr>
            <a:r>
              <a:rPr lang="fr-CA" sz="1400" kern="0">
                <a:solidFill>
                  <a:prstClr val="white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Données de recherche</a:t>
            </a: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2C60C899-4B6E-A040-A81A-99D1F356C6A9}"/>
              </a:ext>
            </a:extLst>
          </p:cNvPr>
          <p:cNvSpPr/>
          <p:nvPr/>
        </p:nvSpPr>
        <p:spPr>
          <a:xfrm flipH="1">
            <a:off x="5712365" y="2494223"/>
            <a:ext cx="263950" cy="341927"/>
          </a:xfrm>
          <a:prstGeom prst="rightArrow">
            <a:avLst>
              <a:gd name="adj1" fmla="val 50000"/>
              <a:gd name="adj2" fmla="val 70779"/>
            </a:avLst>
          </a:prstGeom>
          <a:solidFill>
            <a:srgbClr val="1A3260">
              <a:lumMod val="75000"/>
            </a:srgbClr>
          </a:solidFill>
          <a:ln w="22225" cap="rnd" cmpd="sng" algn="ctr">
            <a:solidFill>
              <a:srgbClr val="1A326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fr-CA" sz="1200" kern="0">
              <a:solidFill>
                <a:prstClr val="white"/>
              </a:solidFill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76F39A6-1780-394D-8074-F07E8A2383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5226" y="5129482"/>
            <a:ext cx="563917" cy="5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AE88B-71D4-8042-8D1A-5AF8F008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 du GRIIS : Utiliser les ontologies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3BBCECD-976E-2240-BA6C-AF6B7251E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8039" y="2348452"/>
            <a:ext cx="4330035" cy="411154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BD615B-7F6C-2C44-BEA2-E1ABE9F6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FC42FE8-303A-784D-988F-21EA42575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55" y="2045420"/>
            <a:ext cx="4752197" cy="475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6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Terminologies, taxonomies et ontologies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8</a:t>
            </a:fld>
            <a:endParaRPr lang="fr-FR"/>
          </a:p>
        </p:txBody>
      </p:sp>
      <p:pic>
        <p:nvPicPr>
          <p:cNvPr id="19" name="Picture 3" descr="taxonomy.jpg">
            <a:extLst>
              <a:ext uri="{FF2B5EF4-FFF2-40B4-BE49-F238E27FC236}">
                <a16:creationId xmlns:a16="http://schemas.microsoft.com/office/drawing/2014/main" id="{AAFBF9B3-C0AD-754E-964B-46E826B0BC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1226" y="2340076"/>
            <a:ext cx="3642189" cy="2781787"/>
          </a:xfrm>
          <a:prstGeom prst="rect">
            <a:avLst/>
          </a:prstGeom>
        </p:spPr>
      </p:pic>
      <p:pic>
        <p:nvPicPr>
          <p:cNvPr id="20" name="Picture 4" descr="terminology.jpg">
            <a:extLst>
              <a:ext uri="{FF2B5EF4-FFF2-40B4-BE49-F238E27FC236}">
                <a16:creationId xmlns:a16="http://schemas.microsoft.com/office/drawing/2014/main" id="{9E0E0911-D223-F94B-9419-CD4C1237B4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495" y="2495112"/>
            <a:ext cx="1531626" cy="2297439"/>
          </a:xfrm>
          <a:prstGeom prst="rect">
            <a:avLst/>
          </a:prstGeom>
        </p:spPr>
      </p:pic>
      <p:sp>
        <p:nvSpPr>
          <p:cNvPr id="21" name="TextBox 5">
            <a:extLst>
              <a:ext uri="{FF2B5EF4-FFF2-40B4-BE49-F238E27FC236}">
                <a16:creationId xmlns:a16="http://schemas.microsoft.com/office/drawing/2014/main" id="{C39278CF-51E9-C34F-B505-D518290D5724}"/>
              </a:ext>
            </a:extLst>
          </p:cNvPr>
          <p:cNvSpPr txBox="1"/>
          <p:nvPr/>
        </p:nvSpPr>
        <p:spPr>
          <a:xfrm>
            <a:off x="244090" y="5250572"/>
            <a:ext cx="3152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FiraGO" panose="020B0503050000020004" pitchFamily="34" charset="0"/>
                <a:cs typeface="FiraGO" panose="020B0503050000020004" pitchFamily="34" charset="0"/>
              </a:rPr>
              <a:t>Terminologie</a:t>
            </a:r>
            <a:endParaRPr lang="en-US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F9D25239-AD9F-D34D-B553-2B0BECF658A6}"/>
              </a:ext>
            </a:extLst>
          </p:cNvPr>
          <p:cNvSpPr txBox="1"/>
          <p:nvPr/>
        </p:nvSpPr>
        <p:spPr>
          <a:xfrm>
            <a:off x="3752128" y="5255982"/>
            <a:ext cx="431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FiraGO" panose="020B0503050000020004" pitchFamily="34" charset="0"/>
                <a:cs typeface="FiraGO" panose="020B0503050000020004" pitchFamily="34" charset="0"/>
              </a:rPr>
              <a:t>Taxonomie</a:t>
            </a:r>
            <a:endParaRPr lang="en-US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99F7FCEB-3F48-8445-98B3-2277F86A33B3}"/>
              </a:ext>
            </a:extLst>
          </p:cNvPr>
          <p:cNvSpPr txBox="1"/>
          <p:nvPr/>
        </p:nvSpPr>
        <p:spPr>
          <a:xfrm>
            <a:off x="7751783" y="5250572"/>
            <a:ext cx="431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FiraGO" panose="020B0503050000020004" pitchFamily="34" charset="0"/>
                <a:cs typeface="FiraGO" panose="020B0503050000020004" pitchFamily="34" charset="0"/>
              </a:rPr>
              <a:t>Ontologie</a:t>
            </a:r>
            <a:endParaRPr lang="en-US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pic>
        <p:nvPicPr>
          <p:cNvPr id="24" name="Picture 8" descr="ontology pizza.png">
            <a:extLst>
              <a:ext uri="{FF2B5EF4-FFF2-40B4-BE49-F238E27FC236}">
                <a16:creationId xmlns:a16="http://schemas.microsoft.com/office/drawing/2014/main" id="{4A529638-C675-4B49-B9D8-F68A3869A53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906" y="2429042"/>
            <a:ext cx="3067573" cy="242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5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Terminologie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6" name="Espace réservé du contenu 4">
            <a:extLst>
              <a:ext uri="{FF2B5EF4-FFF2-40B4-BE49-F238E27FC236}">
                <a16:creationId xmlns:a16="http://schemas.microsoft.com/office/drawing/2014/main" id="{2FBD0EFD-455E-9648-967C-FE896D4E7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994232"/>
              </p:ext>
            </p:extLst>
          </p:nvPr>
        </p:nvGraphicFramePr>
        <p:xfrm>
          <a:off x="819807" y="2262188"/>
          <a:ext cx="10239703" cy="264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785">
                  <a:extLst>
                    <a:ext uri="{9D8B030D-6E8A-4147-A177-3AD203B41FA5}">
                      <a16:colId xmlns:a16="http://schemas.microsoft.com/office/drawing/2014/main" val="4234959301"/>
                    </a:ext>
                  </a:extLst>
                </a:gridCol>
                <a:gridCol w="8771918">
                  <a:extLst>
                    <a:ext uri="{9D8B030D-6E8A-4147-A177-3AD203B41FA5}">
                      <a16:colId xmlns:a16="http://schemas.microsoft.com/office/drawing/2014/main" val="3227256802"/>
                    </a:ext>
                  </a:extLst>
                </a:gridCol>
              </a:tblGrid>
              <a:tr h="409310">
                <a:tc>
                  <a:txBody>
                    <a:bodyPr/>
                    <a:lstStyle/>
                    <a:p>
                      <a:r>
                        <a:rPr lang="fr-FR" noProof="0">
                          <a:latin typeface="+mj-lt"/>
                          <a:cs typeface="Helvetica LT Condensed (Body)"/>
                        </a:rPr>
                        <a:t>Terme</a:t>
                      </a:r>
                    </a:p>
                  </a:txBody>
                  <a:tcPr marL="82409" marR="82409"/>
                </a:tc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Définition</a:t>
                      </a:r>
                    </a:p>
                  </a:txBody>
                  <a:tcPr marL="82409" marR="82409"/>
                </a:tc>
                <a:extLst>
                  <a:ext uri="{0D108BD9-81ED-4DB2-BD59-A6C34878D82A}">
                    <a16:rowId xmlns:a16="http://schemas.microsoft.com/office/drawing/2014/main" val="42508951"/>
                  </a:ext>
                </a:extLst>
              </a:tr>
              <a:tr h="409310">
                <a:tc>
                  <a:txBody>
                    <a:bodyPr/>
                    <a:lstStyle/>
                    <a:p>
                      <a:r>
                        <a:rPr lang="fr-FR" noProof="0">
                          <a:latin typeface="+mj-lt"/>
                          <a:cs typeface="Helvetica LT Condensed (Body)"/>
                        </a:rPr>
                        <a:t>Maison</a:t>
                      </a:r>
                    </a:p>
                  </a:txBody>
                  <a:tcPr marL="82409" marR="82409"/>
                </a:tc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Bâtiment destiné à servir d’habitation</a:t>
                      </a:r>
                      <a:r>
                        <a:rPr lang="fr-FR" baseline="0" noProof="0" dirty="0">
                          <a:latin typeface="+mj-lt"/>
                          <a:cs typeface="Helvetica LT Condensed (Body)"/>
                        </a:rPr>
                        <a:t> à des humains.</a:t>
                      </a:r>
                      <a:endParaRPr lang="fr-FR" noProof="0" dirty="0">
                        <a:latin typeface="+mj-lt"/>
                        <a:cs typeface="Helvetica LT Condensed (Body)"/>
                      </a:endParaRPr>
                    </a:p>
                  </a:txBody>
                  <a:tcPr marL="82409" marR="82409"/>
                </a:tc>
                <a:extLst>
                  <a:ext uri="{0D108BD9-81ED-4DB2-BD59-A6C34878D82A}">
                    <a16:rowId xmlns:a16="http://schemas.microsoft.com/office/drawing/2014/main" val="4210197034"/>
                  </a:ext>
                </a:extLst>
              </a:tr>
              <a:tr h="409310">
                <a:tc>
                  <a:txBody>
                    <a:bodyPr/>
                    <a:lstStyle/>
                    <a:p>
                      <a:r>
                        <a:rPr lang="fr-FR" noProof="0">
                          <a:latin typeface="+mj-lt"/>
                          <a:cs typeface="Helvetica LT Condensed (Body)"/>
                        </a:rPr>
                        <a:t>Toit</a:t>
                      </a:r>
                    </a:p>
                  </a:txBody>
                  <a:tcPr marL="82409" marR="82409"/>
                </a:tc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Surface supérieure d’un</a:t>
                      </a:r>
                      <a:r>
                        <a:rPr lang="fr-FR" baseline="0" noProof="0" dirty="0">
                          <a:latin typeface="+mj-lt"/>
                          <a:cs typeface="Helvetica LT Condensed (Body)"/>
                        </a:rPr>
                        <a:t> bâtiment.</a:t>
                      </a:r>
                    </a:p>
                  </a:txBody>
                  <a:tcPr marL="82409" marR="82409"/>
                </a:tc>
                <a:extLst>
                  <a:ext uri="{0D108BD9-81ED-4DB2-BD59-A6C34878D82A}">
                    <a16:rowId xmlns:a16="http://schemas.microsoft.com/office/drawing/2014/main" val="1438078759"/>
                  </a:ext>
                </a:extLst>
              </a:tr>
              <a:tr h="706480"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Porte</a:t>
                      </a:r>
                    </a:p>
                  </a:txBody>
                  <a:tcPr marL="82409" marR="82409"/>
                </a:tc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Ouverture limitant un espace clos, permettant la communication entre cet espace et ce qui est extérieur</a:t>
                      </a:r>
                      <a:r>
                        <a:rPr lang="fr-FR" baseline="0" noProof="0" dirty="0">
                          <a:latin typeface="+mj-lt"/>
                          <a:cs typeface="Helvetica LT Condensed (Body)"/>
                        </a:rPr>
                        <a:t> à cet espace.</a:t>
                      </a:r>
                    </a:p>
                  </a:txBody>
                  <a:tcPr marL="82409" marR="82409"/>
                </a:tc>
                <a:extLst>
                  <a:ext uri="{0D108BD9-81ED-4DB2-BD59-A6C34878D82A}">
                    <a16:rowId xmlns:a16="http://schemas.microsoft.com/office/drawing/2014/main" val="2242748337"/>
                  </a:ext>
                </a:extLst>
              </a:tr>
              <a:tr h="706480">
                <a:tc>
                  <a:txBody>
                    <a:bodyPr/>
                    <a:lstStyle/>
                    <a:p>
                      <a:r>
                        <a:rPr lang="fr-FR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Helvetica LT Condensed (Body)"/>
                        </a:rPr>
                        <a:t>Mur</a:t>
                      </a:r>
                      <a:endParaRPr lang="fr-FR" noProof="0" dirty="0">
                        <a:latin typeface="+mj-lt"/>
                        <a:cs typeface="Helvetica LT Condensed (Body)"/>
                      </a:endParaRPr>
                    </a:p>
                  </a:txBody>
                  <a:tcPr marL="82409" marR="82409"/>
                </a:tc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+mj-lt"/>
                          <a:cs typeface="Helvetica LT Condensed (Body)"/>
                        </a:rPr>
                        <a:t>Ouvrage de maçonnerie vertical (parfois oblique), élevé sur une certaine longueur pour constituer le côté d'un bâtiment.</a:t>
                      </a:r>
                    </a:p>
                  </a:txBody>
                  <a:tcPr marL="82409" marR="82409"/>
                </a:tc>
                <a:extLst>
                  <a:ext uri="{0D108BD9-81ED-4DB2-BD59-A6C34878D82A}">
                    <a16:rowId xmlns:a16="http://schemas.microsoft.com/office/drawing/2014/main" val="2220097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58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Taxonomie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10</a:t>
            </a:fld>
            <a:endParaRPr lang="fr-FR"/>
          </a:p>
        </p:txBody>
      </p:sp>
      <p:pic>
        <p:nvPicPr>
          <p:cNvPr id="7" name="Content Placeholder 3" descr="Maison full - taxonomie.jpg">
            <a:extLst>
              <a:ext uri="{FF2B5EF4-FFF2-40B4-BE49-F238E27FC236}">
                <a16:creationId xmlns:a16="http://schemas.microsoft.com/office/drawing/2014/main" id="{DB52B5CE-6BF2-184C-AED3-B0CAAED2E9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1539" r="-31539"/>
          <a:stretch>
            <a:fillRect/>
          </a:stretch>
        </p:blipFill>
        <p:spPr>
          <a:xfrm>
            <a:off x="1636571" y="1911243"/>
            <a:ext cx="8635793" cy="474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3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Ontologie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11</a:t>
            </a:fld>
            <a:endParaRPr lang="fr-FR"/>
          </a:p>
        </p:txBody>
      </p:sp>
      <p:pic>
        <p:nvPicPr>
          <p:cNvPr id="5" name="Picture 2" descr="Maison full - ontologie.jpg">
            <a:extLst>
              <a:ext uri="{FF2B5EF4-FFF2-40B4-BE49-F238E27FC236}">
                <a16:creationId xmlns:a16="http://schemas.microsoft.com/office/drawing/2014/main" id="{6675E089-4080-0D45-BA1A-BB6223EAB8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0962" y="1891862"/>
            <a:ext cx="5307013" cy="4771445"/>
          </a:xfrm>
          <a:prstGeom prst="rect">
            <a:avLst/>
          </a:prstGeom>
        </p:spPr>
      </p:pic>
      <p:pic>
        <p:nvPicPr>
          <p:cNvPr id="6" name="Picture 3" descr="Screen Shot 2017-04-26 at 21.46.44.png">
            <a:extLst>
              <a:ext uri="{FF2B5EF4-FFF2-40B4-BE49-F238E27FC236}">
                <a16:creationId xmlns:a16="http://schemas.microsoft.com/office/drawing/2014/main" id="{9561BE7F-F868-4141-BA3C-3D9F01CB9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7136" y="4672758"/>
            <a:ext cx="1929474" cy="1181929"/>
          </a:xfrm>
          <a:prstGeom prst="rect">
            <a:avLst/>
          </a:prstGeom>
        </p:spPr>
      </p:pic>
      <p:pic>
        <p:nvPicPr>
          <p:cNvPr id="7" name="Picture 4" descr="Screen Shot 2017-04-26 at 21.47.36.png">
            <a:extLst>
              <a:ext uri="{FF2B5EF4-FFF2-40B4-BE49-F238E27FC236}">
                <a16:creationId xmlns:a16="http://schemas.microsoft.com/office/drawing/2014/main" id="{D5C18E9E-498B-6648-A1BD-51AAE8B9A5F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5019" y="4359847"/>
            <a:ext cx="1868880" cy="2485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41B400-BA75-DD48-987A-E3501189E42E}"/>
              </a:ext>
            </a:extLst>
          </p:cNvPr>
          <p:cNvSpPr/>
          <p:nvPr/>
        </p:nvSpPr>
        <p:spPr>
          <a:xfrm>
            <a:off x="8919840" y="5919061"/>
            <a:ext cx="3078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Capture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d’écran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de Protégé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D60E82-8D29-6F43-97D5-521EFE8F5DB8}"/>
              </a:ext>
            </a:extLst>
          </p:cNvPr>
          <p:cNvSpPr/>
          <p:nvPr/>
        </p:nvSpPr>
        <p:spPr>
          <a:xfrm>
            <a:off x="8797136" y="3310022"/>
            <a:ext cx="34355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OWL (Web Ontology Language),</a:t>
            </a:r>
          </a:p>
          <a:p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fondé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sur la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logique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</a:p>
          <a:p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de description (DL)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45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Ontologie de domaine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604" y="2367399"/>
            <a:ext cx="6820342" cy="101793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5370979" y="1769748"/>
            <a:ext cx="5645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Définition formelle de la sténose aortique valvulaire</a:t>
            </a:r>
          </a:p>
          <a:p>
            <a:pPr algn="ctr"/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(OWL)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8962032" y="3374853"/>
            <a:ext cx="3909165" cy="3308075"/>
            <a:chOff x="323528" y="2998308"/>
            <a:chExt cx="4804591" cy="3655437"/>
          </a:xfrm>
        </p:grpSpPr>
        <p:sp>
          <p:nvSpPr>
            <p:cNvPr id="8" name="ZoneTexte 7"/>
            <p:cNvSpPr txBox="1"/>
            <p:nvPr/>
          </p:nvSpPr>
          <p:spPr>
            <a:xfrm>
              <a:off x="375591" y="2998308"/>
              <a:ext cx="4752528" cy="40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FiraGO" panose="020B0503050000020004" pitchFamily="34" charset="0"/>
                  <a:cs typeface="FiraGO" panose="020B0503050000020004" pitchFamily="34" charset="0"/>
                </a:rPr>
                <a:t>Quelques relations</a:t>
              </a:r>
            </a:p>
          </p:txBody>
        </p:sp>
        <p:pic>
          <p:nvPicPr>
            <p:cNvPr id="9" name="Image 8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3528" y="3492285"/>
              <a:ext cx="3312368" cy="3161460"/>
            </a:xfrm>
            <a:prstGeom prst="rect">
              <a:avLst/>
            </a:prstGeom>
          </p:spPr>
        </p:pic>
      </p:grpSp>
      <p:grpSp>
        <p:nvGrpSpPr>
          <p:cNvPr id="13" name="Groupe 12"/>
          <p:cNvGrpSpPr/>
          <p:nvPr/>
        </p:nvGrpSpPr>
        <p:grpSpPr>
          <a:xfrm>
            <a:off x="4695023" y="3374853"/>
            <a:ext cx="3895838" cy="3190766"/>
            <a:chOff x="4790833" y="3160318"/>
            <a:chExt cx="4752528" cy="3467077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0833" y="3492285"/>
              <a:ext cx="4029639" cy="3135110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4790833" y="3160318"/>
              <a:ext cx="4752528" cy="401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>
                  <a:latin typeface="FiraGO" panose="020B0503050000020004" pitchFamily="34" charset="0"/>
                  <a:cs typeface="FiraGO" panose="020B0503050000020004" pitchFamily="34" charset="0"/>
                </a:rPr>
                <a:t>Hiérarchie de classes</a:t>
              </a:r>
            </a:p>
          </p:txBody>
        </p:sp>
      </p:grp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AA0457BC-30CE-BC4A-A51F-B624D36D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12</a:t>
            </a:fld>
            <a:endParaRPr lang="fr-F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B1A57A2-6AA4-014C-8A91-ECF8541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61" y="1979153"/>
            <a:ext cx="4012331" cy="4438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Représentation</a:t>
            </a:r>
            <a:r>
              <a:rPr lang="en-US" dirty="0"/>
              <a:t> </a:t>
            </a:r>
            <a:r>
              <a:rPr lang="en-US" dirty="0" err="1"/>
              <a:t>canonique</a:t>
            </a:r>
            <a:r>
              <a:rPr lang="en-US" dirty="0"/>
              <a:t> des </a:t>
            </a:r>
            <a:r>
              <a:rPr lang="en-US" dirty="0" err="1"/>
              <a:t>entités</a:t>
            </a:r>
            <a:r>
              <a:rPr lang="en-US" dirty="0"/>
              <a:t> et relations d’un </a:t>
            </a:r>
            <a:r>
              <a:rPr lang="en-US" dirty="0" err="1"/>
              <a:t>domaine</a:t>
            </a:r>
            <a:r>
              <a:rPr lang="en-US" dirty="0"/>
              <a:t> </a:t>
            </a:r>
            <a:r>
              <a:rPr lang="en-US" dirty="0" err="1"/>
              <a:t>donné</a:t>
            </a:r>
            <a:r>
              <a:rPr lang="en-US" dirty="0"/>
              <a:t>, </a:t>
            </a:r>
            <a:r>
              <a:rPr lang="en-US" dirty="0" err="1"/>
              <a:t>visant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l’exhaustivité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Exemple</a:t>
            </a:r>
            <a:r>
              <a:rPr lang="en-US" dirty="0"/>
              <a:t> : Cardiovascular Disease Ontology (CVDO)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5A92C41-65E0-4845-B6DC-8D83545D66B4}"/>
              </a:ext>
            </a:extLst>
          </p:cNvPr>
          <p:cNvSpPr txBox="1"/>
          <p:nvPr/>
        </p:nvSpPr>
        <p:spPr>
          <a:xfrm>
            <a:off x="5637517" y="6538915"/>
            <a:ext cx="5645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Vues d’écran du logiciel Protégé</a:t>
            </a:r>
          </a:p>
        </p:txBody>
      </p:sp>
    </p:spTree>
    <p:extLst>
      <p:ext uri="{BB962C8B-B14F-4D97-AF65-F5344CB8AC3E}">
        <p14:creationId xmlns:p14="http://schemas.microsoft.com/office/powerpoint/2010/main" val="1545218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Moteurs de recherche pour ontologies</a:t>
            </a:r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8BA42960-BD0E-7A44-ACF1-7FB71A572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7657" y="2248095"/>
            <a:ext cx="5317250" cy="2728200"/>
          </a:xfr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07931763-410A-9746-A38F-55AE75E5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1D190E-1597-9C4A-9A61-C2BE87E662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192" y="2027207"/>
            <a:ext cx="5532022" cy="20730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90CD64-7EF1-CE4E-AA4E-1C51D4D47E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2701" y="4309474"/>
            <a:ext cx="4624571" cy="20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ontologies comme légendes pour les bases de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14</a:t>
            </a:fld>
            <a:endParaRPr lang="fr-FR"/>
          </a:p>
        </p:txBody>
      </p:sp>
      <p:pic>
        <p:nvPicPr>
          <p:cNvPr id="29" name="Picture 9" descr="cluster">
            <a:extLst>
              <a:ext uri="{FF2B5EF4-FFF2-40B4-BE49-F238E27FC236}">
                <a16:creationId xmlns:a16="http://schemas.microsoft.com/office/drawing/2014/main" id="{85B70AAB-0511-5249-93BC-EA094DB4C85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77905" y="4084638"/>
            <a:ext cx="4152900" cy="2773362"/>
          </a:xfrm>
          <a:noFill/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0F8DA20D-6409-984D-9A24-38A6F0F62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35128" y="4343400"/>
            <a:ext cx="3352800" cy="2514600"/>
          </a:xfrm>
          <a:prstGeom prst="rect">
            <a:avLst/>
          </a:prstGeom>
          <a:noFill/>
        </p:spPr>
      </p:pic>
      <p:pic>
        <p:nvPicPr>
          <p:cNvPr id="31" name="Picture 3" descr="cluster">
            <a:extLst>
              <a:ext uri="{FF2B5EF4-FFF2-40B4-BE49-F238E27FC236}">
                <a16:creationId xmlns:a16="http://schemas.microsoft.com/office/drawing/2014/main" id="{3F9DE784-6025-BC41-861C-20F3121AF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38941" y="2060848"/>
            <a:ext cx="1016000" cy="4800600"/>
          </a:xfrm>
          <a:prstGeom prst="rect">
            <a:avLst/>
          </a:prstGeom>
          <a:noFill/>
        </p:spPr>
      </p:pic>
      <p:sp>
        <p:nvSpPr>
          <p:cNvPr id="32" name="Text Box 5">
            <a:extLst>
              <a:ext uri="{FF2B5EF4-FFF2-40B4-BE49-F238E27FC236}">
                <a16:creationId xmlns:a16="http://schemas.microsoft.com/office/drawing/2014/main" id="{E31135F0-E2D8-254B-A473-F0F02D8A2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9965" y="3645024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err="1">
                <a:solidFill>
                  <a:srgbClr val="000000"/>
                </a:solidFill>
              </a:rPr>
              <a:t>MouseEcotope</a:t>
            </a:r>
            <a:endParaRPr lang="en-US" sz="2400" b="1">
              <a:solidFill>
                <a:srgbClr val="000000"/>
              </a:solidFill>
            </a:endParaRPr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E136E744-45DE-6D4F-B159-CC82433BE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3748" y="1664229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 err="1">
                <a:solidFill>
                  <a:srgbClr val="000000"/>
                </a:solidFill>
              </a:rPr>
              <a:t>GlyProt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BC993260-D982-8A49-B0C8-432AE03C9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66" y="6237288"/>
            <a:ext cx="3048000" cy="3032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9BC0F572-97C8-6346-B3F4-1028B457A69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0516" y="3924573"/>
            <a:ext cx="990600" cy="1698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167765C4-BE57-2D46-B460-59572AA8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541" y="414908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err="1">
                <a:solidFill>
                  <a:srgbClr val="000000"/>
                </a:solidFill>
              </a:rPr>
              <a:t>DiabetInGene</a:t>
            </a:r>
            <a:endParaRPr lang="en-US" sz="2400" b="1">
              <a:solidFill>
                <a:srgbClr val="000000"/>
              </a:solidFill>
            </a:endParaRP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85C5BED6-B214-914F-ADCE-D1E90E3CF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8333" y="558924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err="1">
                <a:solidFill>
                  <a:srgbClr val="000000"/>
                </a:solidFill>
              </a:rPr>
              <a:t>GluChem</a:t>
            </a:r>
            <a:endParaRPr lang="en-US" sz="2400" b="1">
              <a:solidFill>
                <a:srgbClr val="000000"/>
              </a:solidFill>
            </a:endParaRP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637F2C23-289E-1F4E-BF01-77AA6536819C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722517" y="4719638"/>
            <a:ext cx="127000" cy="7667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F62017A0-4A9F-EA4D-9BF4-E4FE760F0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469" y="2060848"/>
            <a:ext cx="19812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i="1" err="1">
                <a:solidFill>
                  <a:srgbClr val="000000"/>
                </a:solidFill>
              </a:rPr>
              <a:t>sphingolipid</a:t>
            </a:r>
            <a:r>
              <a:rPr lang="en-US" sz="2000" b="1" i="1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sz="2000" b="1" i="1">
                <a:solidFill>
                  <a:srgbClr val="000000"/>
                </a:solidFill>
              </a:rPr>
              <a:t>transporter </a:t>
            </a:r>
          </a:p>
          <a:p>
            <a:pPr algn="ctr"/>
            <a:r>
              <a:rPr lang="en-US" sz="2000" b="1" i="1">
                <a:solidFill>
                  <a:srgbClr val="000000"/>
                </a:solidFill>
              </a:rPr>
              <a:t>activity</a:t>
            </a:r>
          </a:p>
        </p:txBody>
      </p:sp>
      <p:cxnSp>
        <p:nvCxnSpPr>
          <p:cNvPr id="40" name="AutoShape 15">
            <a:extLst>
              <a:ext uri="{FF2B5EF4-FFF2-40B4-BE49-F238E27FC236}">
                <a16:creationId xmlns:a16="http://schemas.microsoft.com/office/drawing/2014/main" id="{ACCFDE2B-AEB0-424A-850D-FD425512C2B3}"/>
              </a:ext>
            </a:extLst>
          </p:cNvPr>
          <p:cNvCxnSpPr>
            <a:cxnSpLocks noChangeShapeType="1"/>
            <a:stCxn id="34" idx="3"/>
            <a:endCxn id="39" idx="1"/>
          </p:cNvCxnSpPr>
          <p:nvPr/>
        </p:nvCxnSpPr>
        <p:spPr bwMode="auto">
          <a:xfrm flipV="1">
            <a:off x="4854566" y="2632348"/>
            <a:ext cx="1651903" cy="37565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16">
            <a:extLst>
              <a:ext uri="{FF2B5EF4-FFF2-40B4-BE49-F238E27FC236}">
                <a16:creationId xmlns:a16="http://schemas.microsoft.com/office/drawing/2014/main" id="{29ACF9DE-09C9-0B46-9A0D-AEB6057C56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97069" y="3203848"/>
            <a:ext cx="90636" cy="32707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2" name="AutoShape 17">
            <a:extLst>
              <a:ext uri="{FF2B5EF4-FFF2-40B4-BE49-F238E27FC236}">
                <a16:creationId xmlns:a16="http://schemas.microsoft.com/office/drawing/2014/main" id="{8F0972E8-CA5D-AA49-8776-496A6AC26D57}"/>
              </a:ext>
            </a:extLst>
          </p:cNvPr>
          <p:cNvCxnSpPr>
            <a:cxnSpLocks noChangeShapeType="1"/>
            <a:stCxn id="39" idx="3"/>
            <a:endCxn id="35" idx="1"/>
          </p:cNvCxnSpPr>
          <p:nvPr/>
        </p:nvCxnSpPr>
        <p:spPr bwMode="auto">
          <a:xfrm>
            <a:off x="8487669" y="2632348"/>
            <a:ext cx="1152847" cy="13771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18">
            <a:extLst>
              <a:ext uri="{FF2B5EF4-FFF2-40B4-BE49-F238E27FC236}">
                <a16:creationId xmlns:a16="http://schemas.microsoft.com/office/drawing/2014/main" id="{C4004A5A-6A10-FB4F-98AB-7FB592753E9C}"/>
              </a:ext>
            </a:extLst>
          </p:cNvPr>
          <p:cNvCxnSpPr>
            <a:cxnSpLocks noChangeShapeType="1"/>
            <a:stCxn id="38" idx="1"/>
            <a:endCxn id="39" idx="2"/>
          </p:cNvCxnSpPr>
          <p:nvPr/>
        </p:nvCxnSpPr>
        <p:spPr bwMode="auto">
          <a:xfrm flipV="1">
            <a:off x="6849517" y="3203848"/>
            <a:ext cx="647552" cy="18991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13">
            <a:extLst>
              <a:ext uri="{FF2B5EF4-FFF2-40B4-BE49-F238E27FC236}">
                <a16:creationId xmlns:a16="http://schemas.microsoft.com/office/drawing/2014/main" id="{EFE125B8-6882-2A4C-A5D4-50859975D91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7524205" y="6071105"/>
            <a:ext cx="127000" cy="7667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76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8" grpId="0" animBg="1"/>
      <p:bldP spid="39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B2B48-2595-894B-91FB-F36A6DA4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Utilisation d’une ontologie pour créer un modèle de base de données relationnelle</a:t>
            </a:r>
            <a:endParaRPr lang="fr-FR" sz="1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0D76D9-05A7-6B4F-A43C-3765DFB29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76" y="1800223"/>
            <a:ext cx="8850790" cy="455684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F6202F96-108C-B245-8927-6729A0B5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15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0A289E-7F1E-2F47-B36C-F79686E1DDC9}"/>
              </a:ext>
            </a:extLst>
          </p:cNvPr>
          <p:cNvSpPr/>
          <p:nvPr/>
        </p:nvSpPr>
        <p:spPr>
          <a:xfrm>
            <a:off x="3229154" y="6357065"/>
            <a:ext cx="803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200" dirty="0" err="1"/>
              <a:t>Khnaisser</a:t>
            </a:r>
            <a:r>
              <a:rPr lang="fr-CA" sz="1200" dirty="0"/>
              <a:t>, Christina, et al. </a:t>
            </a:r>
            <a:r>
              <a:rPr lang="fr-CA" sz="1200" dirty="0" err="1"/>
              <a:t>Using</a:t>
            </a:r>
            <a:r>
              <a:rPr lang="fr-CA" sz="1200" dirty="0"/>
              <a:t> an </a:t>
            </a:r>
            <a:r>
              <a:rPr lang="fr-CA" sz="1200" dirty="0" err="1"/>
              <a:t>ontology</a:t>
            </a:r>
            <a:r>
              <a:rPr lang="fr-CA" sz="1200" dirty="0"/>
              <a:t> to </a:t>
            </a:r>
            <a:r>
              <a:rPr lang="fr-CA" sz="1200" dirty="0" err="1"/>
              <a:t>derive</a:t>
            </a:r>
            <a:r>
              <a:rPr lang="fr-CA" sz="1200" dirty="0"/>
              <a:t> a </a:t>
            </a:r>
            <a:r>
              <a:rPr lang="fr-CA" sz="1200" dirty="0" err="1"/>
              <a:t>sharable</a:t>
            </a:r>
            <a:r>
              <a:rPr lang="fr-CA" sz="1200" dirty="0"/>
              <a:t> and </a:t>
            </a:r>
            <a:r>
              <a:rPr lang="fr-CA" sz="1200" dirty="0" err="1"/>
              <a:t>interoperable</a:t>
            </a:r>
            <a:r>
              <a:rPr lang="fr-CA" sz="1200" dirty="0"/>
              <a:t> </a:t>
            </a:r>
            <a:r>
              <a:rPr lang="fr-CA" sz="1200" dirty="0" err="1"/>
              <a:t>relational</a:t>
            </a:r>
            <a:r>
              <a:rPr lang="fr-CA" sz="1200" dirty="0"/>
              <a:t> data model for </a:t>
            </a:r>
            <a:r>
              <a:rPr lang="fr-CA" sz="1200" dirty="0" err="1"/>
              <a:t>heterogeneous</a:t>
            </a:r>
            <a:r>
              <a:rPr lang="fr-CA" sz="1200" dirty="0"/>
              <a:t> </a:t>
            </a:r>
            <a:r>
              <a:rPr lang="fr-CA" sz="1200" dirty="0" err="1"/>
              <a:t>healthcare</a:t>
            </a:r>
            <a:r>
              <a:rPr lang="fr-CA" sz="1200" dirty="0"/>
              <a:t> data and </a:t>
            </a:r>
            <a:r>
              <a:rPr lang="fr-CA" sz="1200" dirty="0" err="1"/>
              <a:t>various</a:t>
            </a:r>
            <a:r>
              <a:rPr lang="fr-CA" sz="1200" dirty="0"/>
              <a:t> applications. </a:t>
            </a:r>
            <a:r>
              <a:rPr lang="fr-CA" sz="1200" i="1" dirty="0" err="1"/>
              <a:t>Methods</a:t>
            </a:r>
            <a:r>
              <a:rPr lang="fr-CA" sz="1200" i="1" dirty="0"/>
              <a:t> of Information in </a:t>
            </a:r>
            <a:r>
              <a:rPr lang="fr-CA" sz="1200" i="1" dirty="0" err="1"/>
              <a:t>Medicine</a:t>
            </a:r>
            <a:r>
              <a:rPr lang="fr-CA" sz="1200" dirty="0"/>
              <a:t> 61.S 02 (2022): e73-e88.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26903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Partie 2 : Les différents niveaux d’ontologie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16</a:t>
            </a:fld>
            <a:endParaRPr lang="fr-FR"/>
          </a:p>
        </p:txBody>
      </p:sp>
      <p:pic>
        <p:nvPicPr>
          <p:cNvPr id="5" name="Image 4" descr="Une image contenant Accessoire de mode, ongle, doigt, bague de fiançailles&#10;&#10;Description générée automatiquement">
            <a:extLst>
              <a:ext uri="{FF2B5EF4-FFF2-40B4-BE49-F238E27FC236}">
                <a16:creationId xmlns:a16="http://schemas.microsoft.com/office/drawing/2014/main" id="{EC18A3F3-C5F5-CE4E-8CDE-25C4935C52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4486" y="2295220"/>
            <a:ext cx="5911273" cy="381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67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05DAD-36B5-1B4C-9F9F-D91BF889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Difficultés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5F3CF0-8EEA-DC44-8131-1749DBB40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5" y="1883979"/>
            <a:ext cx="6106511" cy="4871260"/>
          </a:xfrm>
        </p:spPr>
        <p:txBody>
          <a:bodyPr>
            <a:normAutofit/>
          </a:bodyPr>
          <a:lstStyle/>
          <a:p>
            <a:r>
              <a:rPr lang="en-US" dirty="0"/>
              <a:t>Formation de silos de </a:t>
            </a:r>
            <a:r>
              <a:rPr lang="en-US" dirty="0" err="1"/>
              <a:t>données</a:t>
            </a:r>
            <a:r>
              <a:rPr lang="en-US" dirty="0"/>
              <a:t> d’un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domaine</a:t>
            </a:r>
            <a:r>
              <a:rPr lang="en-US" dirty="0"/>
              <a:t> : la multiplication de terminologies et ontologies </a:t>
            </a:r>
            <a:r>
              <a:rPr lang="en-US" dirty="0" err="1"/>
              <a:t>recrée</a:t>
            </a:r>
            <a:r>
              <a:rPr lang="en-US" dirty="0"/>
              <a:t> le </a:t>
            </a:r>
            <a:r>
              <a:rPr lang="en-US" dirty="0" err="1"/>
              <a:t>problème</a:t>
            </a:r>
            <a:r>
              <a:rPr lang="en-US" dirty="0"/>
              <a:t> de </a:t>
            </a:r>
            <a:r>
              <a:rPr lang="en-US" dirty="0" err="1"/>
              <a:t>l’interopérabilité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un plus </a:t>
            </a:r>
            <a:r>
              <a:rPr lang="en-US" dirty="0" err="1"/>
              <a:t>haut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.</a:t>
            </a:r>
          </a:p>
          <a:p>
            <a:endParaRPr lang="fr-FR" dirty="0"/>
          </a:p>
          <a:p>
            <a:r>
              <a:rPr lang="fr-FR" dirty="0"/>
              <a:t>La multiplicité des domaines représentés par des ontologies : médecine, biologie, industrie, géographie, éducation…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2E06005-995C-D642-8B45-21EF648FA1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78791" y="4231894"/>
            <a:ext cx="1733203" cy="1947027"/>
          </a:xfrm>
          <a:prstGeom prst="rect">
            <a:avLst/>
          </a:prstGeom>
        </p:spPr>
      </p:pic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40017CF4-91A6-E942-9B03-194D0FD4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17</a:t>
            </a:fld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3AEF5E-F4C2-AB40-8A9E-DD7F965E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523" y="2007429"/>
            <a:ext cx="3223260" cy="161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1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18A1D-3E2E-2742-A142-6AC8686C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Solution</a:t>
            </a:r>
            <a:endParaRPr lang="fr-FR" sz="1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46A166-9303-5945-B227-209A637ED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54" y="1530293"/>
            <a:ext cx="5014377" cy="4800603"/>
          </a:xfrm>
        </p:spPr>
        <p:txBody>
          <a:bodyPr>
            <a:noAutofit/>
          </a:bodyPr>
          <a:lstStyle/>
          <a:p>
            <a:r>
              <a:rPr lang="fr-FR" sz="2200" dirty="0"/>
              <a:t>Créer des ensembles d’ontologies de domaine :</a:t>
            </a:r>
          </a:p>
          <a:p>
            <a:pPr lvl="1"/>
            <a:r>
              <a:rPr lang="fr-FR" sz="2200" dirty="0"/>
              <a:t>avec une seule ontologie par domaine </a:t>
            </a:r>
          </a:p>
          <a:p>
            <a:pPr lvl="1"/>
            <a:r>
              <a:rPr lang="en-US" sz="2200" dirty="0" err="1"/>
              <a:t>unifiées</a:t>
            </a:r>
            <a:r>
              <a:rPr lang="en-US" sz="2200" dirty="0"/>
              <a:t> par </a:t>
            </a:r>
            <a:r>
              <a:rPr lang="en-US" sz="2200" dirty="0" err="1"/>
              <a:t>une</a:t>
            </a:r>
            <a:r>
              <a:rPr lang="en-US" sz="2200" dirty="0"/>
              <a:t> </a:t>
            </a:r>
            <a:r>
              <a:rPr lang="en-US" sz="2200" dirty="0" err="1"/>
              <a:t>ontologie</a:t>
            </a:r>
            <a:r>
              <a:rPr lang="en-US" sz="2200" dirty="0"/>
              <a:t> de </a:t>
            </a:r>
            <a:r>
              <a:rPr lang="en-US" sz="2200" dirty="0" err="1"/>
              <a:t>haut</a:t>
            </a:r>
            <a:r>
              <a:rPr lang="en-US" sz="2200" dirty="0"/>
              <a:t> </a:t>
            </a:r>
            <a:r>
              <a:rPr lang="en-US" sz="2200" dirty="0" err="1"/>
              <a:t>niveau</a:t>
            </a:r>
            <a:r>
              <a:rPr lang="en-US" sz="2200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163E48-7559-3C44-84C9-616B196361E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8247" y="1939159"/>
            <a:ext cx="5915643" cy="481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40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Quatre types </a:t>
            </a:r>
            <a:r>
              <a:rPr lang="en-US" dirty="0" err="1"/>
              <a:t>d’ontologies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613" y="1966452"/>
            <a:ext cx="10987463" cy="4426466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 err="1"/>
              <a:t>Ontologie</a:t>
            </a:r>
            <a:r>
              <a:rPr lang="en-US" sz="1600" b="1" dirty="0"/>
              <a:t> de </a:t>
            </a:r>
            <a:r>
              <a:rPr lang="en-US" sz="1600" b="1" dirty="0" err="1"/>
              <a:t>haut-niveau</a:t>
            </a:r>
            <a:r>
              <a:rPr lang="en-US" sz="1600" b="1" dirty="0"/>
              <a:t> </a:t>
            </a:r>
            <a:r>
              <a:rPr lang="en-US" sz="1600" dirty="0"/>
              <a:t>: </a:t>
            </a:r>
            <a:r>
              <a:rPr lang="en-US" sz="1600" dirty="0" err="1"/>
              <a:t>indépendante</a:t>
            </a:r>
            <a:r>
              <a:rPr lang="en-US" sz="1600" dirty="0"/>
              <a:t> du </a:t>
            </a:r>
            <a:r>
              <a:rPr lang="en-US" sz="1600" dirty="0" err="1"/>
              <a:t>domaine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 err="1"/>
              <a:t>Exemple</a:t>
            </a:r>
            <a:r>
              <a:rPr lang="en-US" sz="1600" dirty="0"/>
              <a:t>: Basic Formal Ontology (BFO): Material entity, Process…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 err="1"/>
              <a:t>Ontologie</a:t>
            </a:r>
            <a:r>
              <a:rPr lang="en-US" sz="1600" b="1" dirty="0"/>
              <a:t> de </a:t>
            </a:r>
            <a:r>
              <a:rPr lang="en-US" sz="1600" b="1" dirty="0" err="1"/>
              <a:t>niveau</a:t>
            </a:r>
            <a:r>
              <a:rPr lang="en-US" sz="1600" b="1" dirty="0"/>
              <a:t> </a:t>
            </a:r>
            <a:r>
              <a:rPr lang="en-US" sz="1600" b="1" dirty="0" err="1"/>
              <a:t>intermédiaire</a:t>
            </a:r>
            <a:r>
              <a:rPr lang="en-US" sz="1600" dirty="0"/>
              <a:t>: </a:t>
            </a:r>
            <a:r>
              <a:rPr lang="en-US" sz="1600" dirty="0" err="1"/>
              <a:t>utilisable</a:t>
            </a:r>
            <a:r>
              <a:rPr lang="en-US" sz="1600" dirty="0"/>
              <a:t> par </a:t>
            </a:r>
            <a:r>
              <a:rPr lang="en-US" sz="1600" dirty="0" err="1"/>
              <a:t>plusieurs</a:t>
            </a:r>
            <a:r>
              <a:rPr lang="en-US" sz="1600" dirty="0"/>
              <a:t> ontologies de </a:t>
            </a:r>
            <a:r>
              <a:rPr lang="en-US" sz="1600" dirty="0" err="1"/>
              <a:t>domaine</a:t>
            </a:r>
            <a:r>
              <a:rPr lang="en-US" sz="1600" dirty="0"/>
              <a:t> (</a:t>
            </a:r>
            <a:r>
              <a:rPr lang="en-US" sz="1600" dirty="0" err="1"/>
              <a:t>mais</a:t>
            </a:r>
            <a:r>
              <a:rPr lang="en-US" sz="1600" dirty="0"/>
              <a:t> pas </a:t>
            </a:r>
            <a:r>
              <a:rPr lang="en-US" sz="1600" dirty="0" err="1"/>
              <a:t>toutes</a:t>
            </a:r>
            <a:r>
              <a:rPr lang="en-US" sz="1600" dirty="0"/>
              <a:t>).</a:t>
            </a:r>
          </a:p>
          <a:p>
            <a:pPr marL="0" indent="0">
              <a:buNone/>
            </a:pPr>
            <a:r>
              <a:rPr lang="en-US" sz="1600" i="1" dirty="0" err="1"/>
              <a:t>Exemple</a:t>
            </a:r>
            <a:r>
              <a:rPr lang="en-US" sz="1600" dirty="0"/>
              <a:t>: Ontology for General Medical Science (OGMS): Disease, Pathological process…</a:t>
            </a:r>
          </a:p>
          <a:p>
            <a:endParaRPr lang="en-US" sz="1600" dirty="0"/>
          </a:p>
          <a:p>
            <a:r>
              <a:rPr lang="en-US" sz="1600" b="1" dirty="0" err="1"/>
              <a:t>Ontologie</a:t>
            </a:r>
            <a:r>
              <a:rPr lang="en-US" sz="1600" b="1" dirty="0"/>
              <a:t> de </a:t>
            </a:r>
            <a:r>
              <a:rPr lang="en-US" sz="1600" b="1" dirty="0" err="1"/>
              <a:t>domaine</a:t>
            </a:r>
            <a:r>
              <a:rPr lang="en-US" sz="1600" b="1" dirty="0"/>
              <a:t> </a:t>
            </a:r>
            <a:r>
              <a:rPr lang="en-US" sz="1600" dirty="0"/>
              <a:t>(</a:t>
            </a:r>
            <a:r>
              <a:rPr lang="en-US" sz="1600" dirty="0" err="1"/>
              <a:t>ou</a:t>
            </a:r>
            <a:r>
              <a:rPr lang="en-US" sz="1600" dirty="0"/>
              <a:t> de </a:t>
            </a:r>
            <a:r>
              <a:rPr lang="en-US" sz="1600" dirty="0" err="1"/>
              <a:t>référence</a:t>
            </a:r>
            <a:r>
              <a:rPr lang="en-US" sz="1600" dirty="0"/>
              <a:t>):</a:t>
            </a:r>
            <a:r>
              <a:rPr lang="en-US" sz="1600" b="1" dirty="0"/>
              <a:t> </a:t>
            </a:r>
            <a:r>
              <a:rPr lang="en-US" sz="1600" dirty="0" err="1"/>
              <a:t>représentation</a:t>
            </a:r>
            <a:r>
              <a:rPr lang="en-US" sz="1600" dirty="0"/>
              <a:t> </a:t>
            </a:r>
            <a:r>
              <a:rPr lang="en-US" sz="1600" dirty="0" err="1"/>
              <a:t>canonique</a:t>
            </a:r>
            <a:r>
              <a:rPr lang="en-US" sz="1600" dirty="0"/>
              <a:t> des </a:t>
            </a:r>
            <a:r>
              <a:rPr lang="en-US" sz="1600" dirty="0" err="1"/>
              <a:t>entités</a:t>
            </a:r>
            <a:r>
              <a:rPr lang="en-US" sz="1600" dirty="0"/>
              <a:t> et relations d’un </a:t>
            </a:r>
            <a:r>
              <a:rPr lang="en-US" sz="1600" dirty="0" err="1"/>
              <a:t>domaine</a:t>
            </a:r>
            <a:r>
              <a:rPr lang="en-US" sz="1600" dirty="0"/>
              <a:t> </a:t>
            </a:r>
            <a:r>
              <a:rPr lang="en-US" sz="1600" dirty="0" err="1"/>
              <a:t>donné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i="1" dirty="0" err="1"/>
              <a:t>Exemple</a:t>
            </a:r>
            <a:r>
              <a:rPr lang="en-US" sz="1600" dirty="0"/>
              <a:t>: Cardiovascular Disease Ontology (CVDO): Aortic disease, Atrial fibrillation…</a:t>
            </a:r>
          </a:p>
          <a:p>
            <a:endParaRPr lang="en-US" sz="1600" dirty="0"/>
          </a:p>
          <a:p>
            <a:r>
              <a:rPr lang="en-US" sz="1600" b="1" dirty="0" err="1"/>
              <a:t>Ontologie</a:t>
            </a:r>
            <a:r>
              <a:rPr lang="en-US" sz="1600" b="1" dirty="0"/>
              <a:t> </a:t>
            </a:r>
            <a:r>
              <a:rPr lang="en-US" sz="1600" b="1" dirty="0" err="1"/>
              <a:t>d’application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 err="1"/>
              <a:t>créée</a:t>
            </a:r>
            <a:r>
              <a:rPr lang="en-US" sz="1600" dirty="0"/>
              <a:t> pour </a:t>
            </a:r>
            <a:r>
              <a:rPr lang="en-US" sz="1600" dirty="0" err="1"/>
              <a:t>accomplir</a:t>
            </a:r>
            <a:r>
              <a:rPr lang="en-US" sz="1600" dirty="0"/>
              <a:t> </a:t>
            </a:r>
            <a:r>
              <a:rPr lang="en-US" sz="1600" dirty="0" err="1"/>
              <a:t>certains</a:t>
            </a:r>
            <a:r>
              <a:rPr lang="en-US" sz="1600" dirty="0"/>
              <a:t> buts </a:t>
            </a:r>
            <a:r>
              <a:rPr lang="en-US" sz="1600" dirty="0" err="1"/>
              <a:t>spécifiques</a:t>
            </a:r>
            <a:r>
              <a:rPr lang="en-US" sz="160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213788-6A84-5740-8796-ED037055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35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350F70-0778-9B48-90EB-573A182C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Ontologies de haut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296AB5-87E0-0B4B-B8AE-C5F71B32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20" y="1881025"/>
            <a:ext cx="7037328" cy="4401534"/>
          </a:xfrm>
        </p:spPr>
        <p:txBody>
          <a:bodyPr>
            <a:normAutofit/>
          </a:bodyPr>
          <a:lstStyle/>
          <a:p>
            <a:r>
              <a:rPr lang="fr-FR" dirty="0"/>
              <a:t>Plusieurs ontologies de haut niveau proposées :</a:t>
            </a:r>
          </a:p>
          <a:p>
            <a:pPr lvl="1"/>
            <a:r>
              <a:rPr lang="fr-FR" dirty="0"/>
              <a:t>BFO (Basic </a:t>
            </a:r>
            <a:r>
              <a:rPr lang="fr-FR" dirty="0" err="1"/>
              <a:t>Formal</a:t>
            </a:r>
            <a:r>
              <a:rPr lang="fr-FR" dirty="0"/>
              <a:t> </a:t>
            </a:r>
            <a:r>
              <a:rPr lang="fr-FR" dirty="0" err="1"/>
              <a:t>Ontology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DOLCE (Descriptive </a:t>
            </a:r>
            <a:r>
              <a:rPr lang="fr-FR" dirty="0" err="1"/>
              <a:t>Ontology</a:t>
            </a:r>
            <a:r>
              <a:rPr lang="fr-FR" dirty="0"/>
              <a:t> for </a:t>
            </a:r>
            <a:r>
              <a:rPr lang="fr-FR" dirty="0" err="1"/>
              <a:t>Linguistic</a:t>
            </a:r>
            <a:r>
              <a:rPr lang="fr-FR" dirty="0"/>
              <a:t> and Cognitive Engineering)</a:t>
            </a:r>
          </a:p>
          <a:p>
            <a:pPr lvl="1"/>
            <a:r>
              <a:rPr lang="fr-FR" dirty="0"/>
              <a:t>UFO (</a:t>
            </a:r>
            <a:r>
              <a:rPr lang="fr-FR" dirty="0" err="1"/>
              <a:t>Unified</a:t>
            </a:r>
            <a:r>
              <a:rPr lang="fr-FR" dirty="0"/>
              <a:t> </a:t>
            </a:r>
            <a:r>
              <a:rPr lang="fr-FR" dirty="0" err="1"/>
              <a:t>Foundational</a:t>
            </a:r>
            <a:r>
              <a:rPr lang="fr-FR" dirty="0"/>
              <a:t> </a:t>
            </a:r>
            <a:r>
              <a:rPr lang="fr-FR" dirty="0" err="1"/>
              <a:t>Ontology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GFO (General </a:t>
            </a:r>
            <a:r>
              <a:rPr lang="fr-FR" dirty="0" err="1"/>
              <a:t>Formal</a:t>
            </a:r>
            <a:r>
              <a:rPr lang="fr-FR" dirty="0"/>
              <a:t> </a:t>
            </a:r>
            <a:r>
              <a:rPr lang="fr-FR" dirty="0" err="1"/>
              <a:t>Ontology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6E160D-A8CC-4C49-9579-3308FFECAE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9173" y="2369446"/>
            <a:ext cx="4457706" cy="25217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EF4A8E-CBE5-5E40-AC3B-D56413A564B2}"/>
              </a:ext>
            </a:extLst>
          </p:cNvPr>
          <p:cNvSpPr/>
          <p:nvPr/>
        </p:nvSpPr>
        <p:spPr>
          <a:xfrm>
            <a:off x="8030654" y="5010266"/>
            <a:ext cx="2574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dirty="0">
                <a:solidFill>
                  <a:srgbClr val="000000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https://</a:t>
            </a:r>
            <a:r>
              <a:rPr lang="fr-CA" dirty="0" err="1">
                <a:solidFill>
                  <a:srgbClr val="000000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xkcd.com</a:t>
            </a:r>
            <a:r>
              <a:rPr lang="fr-CA" dirty="0">
                <a:solidFill>
                  <a:srgbClr val="000000"/>
                </a:solidFill>
                <a:latin typeface="FiraGO" panose="020B0503050000020004" pitchFamily="34" charset="0"/>
                <a:cs typeface="FiraGO" panose="020B0503050000020004" pitchFamily="34" charset="0"/>
              </a:rPr>
              <a:t>/927/</a:t>
            </a:r>
            <a:endParaRPr lang="fr-FR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DB1A0D9-D4FD-7B44-9E0D-692DF6AE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57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124" y="522886"/>
            <a:ext cx="8229600" cy="1143000"/>
          </a:xfrm>
        </p:spPr>
        <p:txBody>
          <a:bodyPr/>
          <a:lstStyle/>
          <a:p>
            <a:r>
              <a:rPr lang="en-US" dirty="0" err="1"/>
              <a:t>Contexte</a:t>
            </a:r>
            <a:r>
              <a:rPr lang="en-US" dirty="0"/>
              <a:t> </a:t>
            </a:r>
            <a:r>
              <a:rPr lang="en-US" dirty="0" err="1"/>
              <a:t>interdisciplinaire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964" y="1933460"/>
            <a:ext cx="10581783" cy="1462807"/>
          </a:xfrm>
        </p:spPr>
        <p:txBody>
          <a:bodyPr>
            <a:noAutofit/>
          </a:bodyPr>
          <a:lstStyle/>
          <a:p>
            <a:r>
              <a:rPr lang="en-US" sz="1600" dirty="0"/>
              <a:t>La recherche de </a:t>
            </a:r>
            <a:r>
              <a:rPr lang="en-US" sz="1600" dirty="0" err="1"/>
              <a:t>cohérence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 </a:t>
            </a:r>
            <a:r>
              <a:rPr lang="en-US" sz="1600" dirty="0" err="1"/>
              <a:t>développement</a:t>
            </a:r>
            <a:r>
              <a:rPr lang="en-US" sz="1600" dirty="0"/>
              <a:t> </a:t>
            </a:r>
            <a:r>
              <a:rPr lang="en-US" sz="1600" dirty="0" err="1"/>
              <a:t>d’ontologie</a:t>
            </a:r>
            <a:r>
              <a:rPr lang="en-US" sz="1600" dirty="0"/>
              <a:t> a </a:t>
            </a:r>
            <a:r>
              <a:rPr lang="en-US" sz="1600" dirty="0" err="1"/>
              <a:t>mené</a:t>
            </a:r>
            <a:r>
              <a:rPr lang="en-US" sz="1600" dirty="0"/>
              <a:t> </a:t>
            </a:r>
            <a:r>
              <a:rPr lang="en-US" sz="1600" dirty="0" err="1"/>
              <a:t>à</a:t>
            </a:r>
            <a:r>
              <a:rPr lang="en-US" sz="1600" dirty="0"/>
              <a:t> des collaborations entre :</a:t>
            </a:r>
          </a:p>
          <a:p>
            <a:pPr lvl="1"/>
            <a:r>
              <a:rPr lang="en-US" dirty="0" err="1"/>
              <a:t>informaticiens</a:t>
            </a:r>
            <a:r>
              <a:rPr lang="en-US" dirty="0"/>
              <a:t> et </a:t>
            </a:r>
            <a:r>
              <a:rPr lang="en-US" dirty="0" err="1"/>
              <a:t>spécialistes</a:t>
            </a:r>
            <a:r>
              <a:rPr lang="en-US" dirty="0"/>
              <a:t> des sciences de </a:t>
            </a:r>
            <a:r>
              <a:rPr lang="en-US" dirty="0" err="1"/>
              <a:t>l’information</a:t>
            </a:r>
            <a:endParaRPr lang="en-US" dirty="0"/>
          </a:p>
          <a:p>
            <a:pPr lvl="1"/>
            <a:r>
              <a:rPr lang="en-US" dirty="0" err="1"/>
              <a:t>biologistes</a:t>
            </a:r>
            <a:r>
              <a:rPr lang="en-US" dirty="0"/>
              <a:t> et </a:t>
            </a:r>
            <a:r>
              <a:rPr lang="en-US" dirty="0" err="1"/>
              <a:t>cliniciens</a:t>
            </a:r>
            <a:endParaRPr lang="en-US" dirty="0"/>
          </a:p>
          <a:p>
            <a:pPr lvl="1"/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philosophes, </a:t>
            </a:r>
            <a:r>
              <a:rPr lang="en-US" dirty="0" err="1"/>
              <a:t>logiciens</a:t>
            </a:r>
            <a:r>
              <a:rPr lang="en-US" dirty="0"/>
              <a:t>, et </a:t>
            </a:r>
            <a:r>
              <a:rPr lang="en-US" dirty="0" err="1"/>
              <a:t>linguistes</a:t>
            </a:r>
            <a:r>
              <a:rPr lang="en-US" dirty="0"/>
              <a:t>.</a:t>
            </a:r>
          </a:p>
        </p:txBody>
      </p:sp>
      <p:pic>
        <p:nvPicPr>
          <p:cNvPr id="4" name="Picture 3" descr="philosoph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254" y="3695027"/>
            <a:ext cx="8408919" cy="24025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10200" y="6396335"/>
            <a:ext cx="85130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03990" y="6308482"/>
            <a:ext cx="301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Pourquoi</a:t>
            </a:r>
            <a:r>
              <a:rPr lang="en-US" dirty="0"/>
              <a:t> des philosophes ???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496263D-87DC-F54F-B0DC-BAF4EA9F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844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Maison full - ontologie.jpg">
            <a:extLst>
              <a:ext uri="{FF2B5EF4-FFF2-40B4-BE49-F238E27FC236}">
                <a16:creationId xmlns:a16="http://schemas.microsoft.com/office/drawing/2014/main" id="{4B014F3B-3611-8C4F-8FD6-C7692859AF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0962" y="1891862"/>
            <a:ext cx="5307013" cy="477144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L’apport de la philosophie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22</a:t>
            </a:fld>
            <a:endParaRPr lang="fr-FR"/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0D92B5A2-2554-8343-A199-65CFF2B49442}"/>
              </a:ext>
            </a:extLst>
          </p:cNvPr>
          <p:cNvSpPr/>
          <p:nvPr/>
        </p:nvSpPr>
        <p:spPr>
          <a:xfrm>
            <a:off x="3345272" y="1983931"/>
            <a:ext cx="965583" cy="296447"/>
          </a:xfrm>
          <a:prstGeom prst="ellipse">
            <a:avLst/>
          </a:prstGeom>
          <a:noFill/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0ECBDE6-E420-AE42-BA25-02369F303392}"/>
              </a:ext>
            </a:extLst>
          </p:cNvPr>
          <p:cNvSpPr/>
          <p:nvPr/>
        </p:nvSpPr>
        <p:spPr>
          <a:xfrm>
            <a:off x="4689342" y="3510999"/>
            <a:ext cx="613694" cy="245066"/>
          </a:xfrm>
          <a:prstGeom prst="ellipse">
            <a:avLst/>
          </a:prstGeom>
          <a:noFill/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9FB3F874-76F4-4247-81FF-B3ECE649C512}"/>
              </a:ext>
            </a:extLst>
          </p:cNvPr>
          <p:cNvSpPr/>
          <p:nvPr/>
        </p:nvSpPr>
        <p:spPr>
          <a:xfrm>
            <a:off x="5449071" y="5182934"/>
            <a:ext cx="565837" cy="252575"/>
          </a:xfrm>
          <a:prstGeom prst="ellipse">
            <a:avLst/>
          </a:prstGeom>
          <a:noFill/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1C059-49C8-8F42-A6F3-71C4B7BBD725}"/>
              </a:ext>
            </a:extLst>
          </p:cNvPr>
          <p:cNvSpPr/>
          <p:nvPr/>
        </p:nvSpPr>
        <p:spPr>
          <a:xfrm>
            <a:off x="459278" y="2163043"/>
            <a:ext cx="28416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Apports de la </a:t>
            </a:r>
            <a:r>
              <a:rPr lang="fr-FR" b="1" dirty="0">
                <a:latin typeface="FiraGO" panose="020B0503050000020004" pitchFamily="34" charset="0"/>
                <a:cs typeface="FiraGO" panose="020B0503050000020004" pitchFamily="34" charset="0"/>
              </a:rPr>
              <a:t>métaphysique </a:t>
            </a: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: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similarité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identité et changement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causalité 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 err="1">
                <a:latin typeface="FiraGO" panose="020B0503050000020004" pitchFamily="34" charset="0"/>
                <a:cs typeface="FiraGO" panose="020B0503050000020004" pitchFamily="34" charset="0"/>
              </a:rPr>
              <a:t>méréologie</a:t>
            </a: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 (relation de tout à partie) </a:t>
            </a:r>
          </a:p>
          <a:p>
            <a:pPr marL="285750" indent="-285750">
              <a:buFont typeface="Arial" charset="0"/>
              <a:buChar char="•"/>
            </a:pPr>
            <a:r>
              <a:rPr lang="is-IS" dirty="0">
                <a:latin typeface="FiraGO" panose="020B0503050000020004" pitchFamily="34" charset="0"/>
                <a:cs typeface="FiraGO" panose="020B0503050000020004" pitchFamily="34" charset="0"/>
              </a:rPr>
              <a:t>…</a:t>
            </a:r>
            <a:endParaRPr lang="fr-FR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49AFF-25B7-B84D-A7B4-A8D9EF376A3C}"/>
              </a:ext>
            </a:extLst>
          </p:cNvPr>
          <p:cNvSpPr/>
          <p:nvPr/>
        </p:nvSpPr>
        <p:spPr>
          <a:xfrm>
            <a:off x="8978461" y="2092528"/>
            <a:ext cx="30979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Apports de la </a:t>
            </a:r>
            <a:r>
              <a:rPr lang="fr-FR" b="1" dirty="0">
                <a:latin typeface="FiraGO" panose="020B0503050000020004" pitchFamily="34" charset="0"/>
                <a:cs typeface="FiraGO" panose="020B0503050000020004" pitchFamily="34" charset="0"/>
              </a:rPr>
              <a:t>philosophie des sciences </a:t>
            </a: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: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maladie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risque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>
                <a:latin typeface="FiraGO" panose="020B0503050000020004" pitchFamily="34" charset="0"/>
                <a:cs typeface="FiraGO" panose="020B0503050000020004" pitchFamily="34" charset="0"/>
              </a:rPr>
              <a:t>probabilités</a:t>
            </a:r>
          </a:p>
          <a:p>
            <a:pPr marL="285750" indent="-285750">
              <a:buFont typeface="Arial" charset="0"/>
              <a:buChar char="•"/>
            </a:pPr>
            <a:r>
              <a:rPr lang="is-IS" dirty="0">
                <a:latin typeface="FiraGO" panose="020B0503050000020004" pitchFamily="34" charset="0"/>
                <a:cs typeface="FiraGO" panose="020B0503050000020004" pitchFamily="34" charset="0"/>
              </a:rPr>
              <a:t>…</a:t>
            </a:r>
            <a:endParaRPr lang="fr-FR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B4FF1462-3734-BF4B-836C-9124FDB2CE18}"/>
              </a:ext>
            </a:extLst>
          </p:cNvPr>
          <p:cNvSpPr/>
          <p:nvPr/>
        </p:nvSpPr>
        <p:spPr>
          <a:xfrm>
            <a:off x="5866162" y="1952367"/>
            <a:ext cx="1157010" cy="379239"/>
          </a:xfrm>
          <a:prstGeom prst="ellipse">
            <a:avLst/>
          </a:prstGeom>
          <a:noFill/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2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41C69-B932-D447-B2A4-02392A06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BFO (Basic </a:t>
            </a:r>
            <a:r>
              <a:rPr lang="fr-FR" dirty="0" err="1"/>
              <a:t>Formal</a:t>
            </a:r>
            <a:r>
              <a:rPr lang="fr-FR" dirty="0"/>
              <a:t> </a:t>
            </a:r>
            <a:r>
              <a:rPr lang="fr-FR" dirty="0" err="1"/>
              <a:t>Ontology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946E9B-430D-3649-B7BE-6CB950E1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15" y="1964174"/>
            <a:ext cx="7279546" cy="3678303"/>
          </a:xfrm>
        </p:spPr>
        <p:txBody>
          <a:bodyPr>
            <a:normAutofit fontScale="85000" lnSpcReduction="10000"/>
          </a:bodyPr>
          <a:lstStyle/>
          <a:p>
            <a:r>
              <a:rPr lang="fr-CA" dirty="0">
                <a:latin typeface="Calibri" panose="020F0502020204030204" pitchFamily="34" charset="0"/>
                <a:cs typeface="Calibri" panose="020F0502020204030204" pitchFamily="34" charset="0"/>
              </a:rPr>
              <a:t>Ontologie à méthodologie dite « réaliste » : vise à décrire le réel en s’alignant sur nos meilleures théories scientifiques.</a:t>
            </a:r>
          </a:p>
          <a:p>
            <a:r>
              <a:rPr lang="fr-CA" dirty="0">
                <a:latin typeface="Calibri" panose="020F0502020204030204" pitchFamily="34" charset="0"/>
                <a:cs typeface="Calibri" panose="020F0502020204030204" pitchFamily="34" charset="0"/>
              </a:rPr>
              <a:t>Développée par différentes institutions, notamment à l’université de Buffalo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Standard ISO </a:t>
            </a:r>
            <a:r>
              <a:rPr lang="fr-CA" dirty="0">
                <a:latin typeface="Calibri" panose="020F0502020204030204" pitchFamily="34" charset="0"/>
                <a:cs typeface="Calibri" panose="020F0502020204030204" pitchFamily="34" charset="0"/>
              </a:rPr>
              <a:t>IEC 21838-2:2021</a:t>
            </a:r>
          </a:p>
          <a:p>
            <a:pPr marL="0" indent="0">
              <a:buNone/>
            </a:pPr>
            <a:r>
              <a:rPr lang="fr-CA" dirty="0">
                <a:hlinkClick r:id="rId2"/>
              </a:rPr>
              <a:t>https://standards.iso.org/ittf/PubliclyAvailableStandards/c074572_ISO_IEC_21838-2_2021(E).zip</a:t>
            </a:r>
            <a:endParaRPr lang="fr-CA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CA" dirty="0">
                <a:latin typeface="Calibri" panose="020F0502020204030204" pitchFamily="34" charset="0"/>
                <a:cs typeface="Calibri" panose="020F0502020204030204" pitchFamily="34" charset="0"/>
              </a:rPr>
              <a:t>Ontologie très utilisée dans le domaine biomédical, de plus en plus dans le domaine industriel.</a:t>
            </a:r>
          </a:p>
          <a:p>
            <a:r>
              <a:rPr lang="fr-CA" dirty="0">
                <a:latin typeface="Calibri" panose="020F0502020204030204" pitchFamily="34" charset="0"/>
                <a:cs typeface="Calibri" panose="020F0502020204030204" pitchFamily="34" charset="0"/>
              </a:rPr>
              <a:t>Largement utilisée par les ontologies de la OBO </a:t>
            </a:r>
            <a:r>
              <a:rPr lang="fr-CA" dirty="0" err="1">
                <a:latin typeface="Calibri" panose="020F0502020204030204" pitchFamily="34" charset="0"/>
                <a:cs typeface="Calibri" panose="020F0502020204030204" pitchFamily="34" charset="0"/>
              </a:rPr>
              <a:t>Foundry</a:t>
            </a:r>
            <a:endParaRPr lang="fr-CA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487662-8F69-924A-8BFD-056D694A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2F7DBC-032C-6D4E-869F-10A51B85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18" y="1873055"/>
            <a:ext cx="3481345" cy="4447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565AA2-5A3E-5447-9812-8BD8FF41EBA3}"/>
              </a:ext>
            </a:extLst>
          </p:cNvPr>
          <p:cNvSpPr/>
          <p:nvPr/>
        </p:nvSpPr>
        <p:spPr>
          <a:xfrm>
            <a:off x="3884761" y="6477291"/>
            <a:ext cx="85976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400" dirty="0">
                <a:latin typeface="Calibri" panose="020F0502020204030204" pitchFamily="34" charset="0"/>
                <a:cs typeface="Calibri" panose="020F0502020204030204" pitchFamily="34" charset="0"/>
              </a:rPr>
              <a:t>Arp, R., Smith, B., &amp; </a:t>
            </a:r>
            <a:r>
              <a:rPr lang="fr-CA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Spear</a:t>
            </a:r>
            <a:r>
              <a:rPr lang="fr-CA" sz="1400" dirty="0">
                <a:latin typeface="Calibri" panose="020F0502020204030204" pitchFamily="34" charset="0"/>
                <a:cs typeface="Calibri" panose="020F0502020204030204" pitchFamily="34" charset="0"/>
              </a:rPr>
              <a:t>, A. D. (2015). </a:t>
            </a:r>
            <a:r>
              <a:rPr lang="fr-CA" sz="1400" i="1" dirty="0">
                <a:latin typeface="Calibri" panose="020F0502020204030204" pitchFamily="34" charset="0"/>
                <a:cs typeface="Calibri" panose="020F0502020204030204" pitchFamily="34" charset="0"/>
              </a:rPr>
              <a:t>Building ontologies </a:t>
            </a:r>
            <a:r>
              <a:rPr lang="fr-CA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CA" sz="1400" i="1" dirty="0">
                <a:latin typeface="Calibri" panose="020F0502020204030204" pitchFamily="34" charset="0"/>
                <a:cs typeface="Calibri" panose="020F0502020204030204" pitchFamily="34" charset="0"/>
              </a:rPr>
              <a:t> Basic </a:t>
            </a:r>
            <a:r>
              <a:rPr lang="fr-CA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Formal</a:t>
            </a:r>
            <a:r>
              <a:rPr lang="fr-CA" sz="1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CA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Ontology</a:t>
            </a:r>
            <a:r>
              <a:rPr lang="fr-CA" sz="1400" dirty="0">
                <a:latin typeface="Calibri" panose="020F0502020204030204" pitchFamily="34" charset="0"/>
                <a:cs typeface="Calibri" panose="020F0502020204030204" pitchFamily="34" charset="0"/>
              </a:rPr>
              <a:t>. Mit </a:t>
            </a:r>
            <a:r>
              <a:rPr lang="fr-CA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Press</a:t>
            </a:r>
            <a:r>
              <a:rPr lang="fr-CA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0B303EC-D07F-6245-9C1B-9F2B252A6E7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9315" y="5396755"/>
            <a:ext cx="5393345" cy="102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60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Continuants et occurrents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24</a:t>
            </a:fld>
            <a:endParaRPr lang="fr-F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D5340E-F4E0-AD41-8EFC-57C95218F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49" y="3140491"/>
            <a:ext cx="4117920" cy="31657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500" dirty="0" err="1"/>
              <a:t>Mitochondrie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Cellule</a:t>
            </a:r>
          </a:p>
          <a:p>
            <a:pPr marL="0" indent="0">
              <a:buNone/>
            </a:pPr>
            <a:r>
              <a:rPr lang="en-US" sz="2500" dirty="0" err="1"/>
              <a:t>Organe</a:t>
            </a: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Organisme</a:t>
            </a: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Espèce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…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0B39CD-A332-A144-8F18-E7FC814BE089}"/>
              </a:ext>
            </a:extLst>
          </p:cNvPr>
          <p:cNvSpPr txBox="1">
            <a:spLocks/>
          </p:cNvSpPr>
          <p:nvPr/>
        </p:nvSpPr>
        <p:spPr>
          <a:xfrm>
            <a:off x="6485738" y="3223792"/>
            <a:ext cx="2654859" cy="2782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FiraGO" panose="020B0503050000020004" pitchFamily="34" charset="0"/>
                <a:cs typeface="FiraGO" panose="020B0503050000020004" pitchFamily="34" charset="0"/>
              </a:rPr>
              <a:t>Production </a:t>
            </a:r>
            <a:r>
              <a:rPr lang="en-US" sz="1800" dirty="0" err="1">
                <a:latin typeface="FiraGO" panose="020B0503050000020004" pitchFamily="34" charset="0"/>
                <a:cs typeface="FiraGO" panose="020B0503050000020004" pitchFamily="34" charset="0"/>
              </a:rPr>
              <a:t>d’ATP</a:t>
            </a:r>
            <a:endParaRPr lang="en-US" sz="1800" dirty="0">
              <a:latin typeface="FiraGO" panose="020B0503050000020004" pitchFamily="34" charset="0"/>
              <a:cs typeface="FiraGO" panose="020B05030500000200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FiraGO" panose="020B0503050000020004" pitchFamily="34" charset="0"/>
                <a:cs typeface="FiraGO" panose="020B0503050000020004" pitchFamily="34" charset="0"/>
              </a:rPr>
              <a:t>Division </a:t>
            </a:r>
            <a:r>
              <a:rPr lang="en-US" sz="1800" dirty="0" err="1">
                <a:latin typeface="FiraGO" panose="020B0503050000020004" pitchFamily="34" charset="0"/>
                <a:cs typeface="FiraGO" panose="020B0503050000020004" pitchFamily="34" charset="0"/>
              </a:rPr>
              <a:t>cellulaire</a:t>
            </a:r>
            <a:endParaRPr lang="en-US" sz="1800" dirty="0">
              <a:latin typeface="FiraGO" panose="020B0503050000020004" pitchFamily="34" charset="0"/>
              <a:cs typeface="FiraGO" panose="020B05030500000200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FiraGO" panose="020B0503050000020004" pitchFamily="34" charset="0"/>
                <a:cs typeface="FiraGO" panose="020B0503050000020004" pitchFamily="34" charset="0"/>
              </a:rPr>
              <a:t>Circulation sanguine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 err="1">
                <a:latin typeface="FiraGO" panose="020B0503050000020004" pitchFamily="34" charset="0"/>
                <a:cs typeface="FiraGO" panose="020B0503050000020004" pitchFamily="34" charset="0"/>
              </a:rPr>
              <a:t>Enfance</a:t>
            </a:r>
            <a:endParaRPr lang="en-US" sz="1800" dirty="0">
              <a:latin typeface="FiraGO" panose="020B0503050000020004" pitchFamily="34" charset="0"/>
              <a:cs typeface="FiraGO" panose="020B05030500000200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 err="1">
                <a:latin typeface="FiraGO" panose="020B0503050000020004" pitchFamily="34" charset="0"/>
                <a:cs typeface="FiraGO" panose="020B0503050000020004" pitchFamily="34" charset="0"/>
              </a:rPr>
              <a:t>Spéciation</a:t>
            </a:r>
            <a:endParaRPr lang="en-US" sz="1800" dirty="0">
              <a:latin typeface="FiraGO" panose="020B0503050000020004" pitchFamily="34" charset="0"/>
              <a:cs typeface="FiraGO" panose="020B05030500000200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FiraGO" panose="020B0503050000020004" pitchFamily="34" charset="0"/>
                <a:cs typeface="FiraGO" panose="020B0503050000020004" pitchFamily="34" charset="0"/>
              </a:rPr>
              <a:t>…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311B7A4-6352-7843-A016-7ACA518C1756}"/>
              </a:ext>
            </a:extLst>
          </p:cNvPr>
          <p:cNvSpPr txBox="1">
            <a:spLocks/>
          </p:cNvSpPr>
          <p:nvPr/>
        </p:nvSpPr>
        <p:spPr>
          <a:xfrm>
            <a:off x="1186790" y="1940768"/>
            <a:ext cx="2588797" cy="9749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latin typeface="FiraGO" panose="020B0503050000020004" pitchFamily="34" charset="0"/>
                <a:cs typeface="FiraGO" panose="020B0503050000020004" pitchFamily="34" charset="0"/>
              </a:rPr>
              <a:t>Continuants (perspective 3D)</a:t>
            </a:r>
          </a:p>
          <a:p>
            <a:pPr marL="0" indent="0">
              <a:buNone/>
            </a:pPr>
            <a:endParaRPr lang="en-US" sz="2500" b="1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EAC147-0E5A-E34D-88D8-799DAD4113C9}"/>
              </a:ext>
            </a:extLst>
          </p:cNvPr>
          <p:cNvSpPr txBox="1">
            <a:spLocks/>
          </p:cNvSpPr>
          <p:nvPr/>
        </p:nvSpPr>
        <p:spPr>
          <a:xfrm>
            <a:off x="6485738" y="1950339"/>
            <a:ext cx="2999117" cy="9557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latin typeface="FiraGO" panose="020B0503050000020004" pitchFamily="34" charset="0"/>
                <a:cs typeface="FiraGO" panose="020B0503050000020004" pitchFamily="34" charset="0"/>
              </a:rPr>
              <a:t>Occurrents </a:t>
            </a:r>
          </a:p>
          <a:p>
            <a:pPr marL="0" indent="0">
              <a:buNone/>
            </a:pPr>
            <a:r>
              <a:rPr lang="en-US" sz="2500" b="1" dirty="0">
                <a:latin typeface="FiraGO" panose="020B0503050000020004" pitchFamily="34" charset="0"/>
                <a:cs typeface="FiraGO" panose="020B0503050000020004" pitchFamily="34" charset="0"/>
              </a:rPr>
              <a:t>(perspective 4D)</a:t>
            </a:r>
          </a:p>
        </p:txBody>
      </p:sp>
      <p:pic>
        <p:nvPicPr>
          <p:cNvPr id="25" name="Picture 6">
            <a:extLst>
              <a:ext uri="{FF2B5EF4-FFF2-40B4-BE49-F238E27FC236}">
                <a16:creationId xmlns:a16="http://schemas.microsoft.com/office/drawing/2014/main" id="{001BBBF4-0683-4F4D-B8B4-77DF8D270B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428" y="1589094"/>
            <a:ext cx="2124920" cy="1566448"/>
          </a:xfrm>
          <a:prstGeom prst="rect">
            <a:avLst/>
          </a:prstGeom>
        </p:spPr>
      </p:pic>
      <p:pic>
        <p:nvPicPr>
          <p:cNvPr id="26" name="Image 4">
            <a:extLst>
              <a:ext uri="{FF2B5EF4-FFF2-40B4-BE49-F238E27FC236}">
                <a16:creationId xmlns:a16="http://schemas.microsoft.com/office/drawing/2014/main" id="{2A2C949E-42AE-7549-9803-07FC51AB9281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8653" y="1872234"/>
            <a:ext cx="1441039" cy="12682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A6CF020-5C01-9646-95F1-24FBB9E93DB8}"/>
              </a:ext>
            </a:extLst>
          </p:cNvPr>
          <p:cNvSpPr/>
          <p:nvPr/>
        </p:nvSpPr>
        <p:spPr>
          <a:xfrm>
            <a:off x="3679159" y="4061629"/>
            <a:ext cx="19102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FiraGO" panose="020B0503050000020004" pitchFamily="34" charset="0"/>
                <a:cs typeface="FiraGO" panose="020B0503050000020004" pitchFamily="34" charset="0"/>
              </a:rPr>
              <a:t>existent </a:t>
            </a:r>
            <a:r>
              <a:rPr lang="en-US" sz="2000" dirty="0" err="1">
                <a:latin typeface="FiraGO" panose="020B0503050000020004" pitchFamily="34" charset="0"/>
                <a:cs typeface="FiraGO" panose="020B0503050000020004" pitchFamily="34" charset="0"/>
              </a:rPr>
              <a:t>pleinement</a:t>
            </a:r>
            <a:r>
              <a:rPr lang="en-US" sz="2000" dirty="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2000" dirty="0" err="1">
                <a:latin typeface="FiraGO" panose="020B0503050000020004" pitchFamily="34" charset="0"/>
                <a:cs typeface="FiraGO" panose="020B0503050000020004" pitchFamily="34" charset="0"/>
              </a:rPr>
              <a:t>à</a:t>
            </a:r>
            <a:r>
              <a:rPr lang="en-US" sz="2000" dirty="0">
                <a:latin typeface="FiraGO" panose="020B0503050000020004" pitchFamily="34" charset="0"/>
                <a:cs typeface="FiraGO" panose="020B0503050000020004" pitchFamily="34" charset="0"/>
              </a:rPr>
              <a:t> tout instant de </a:t>
            </a:r>
            <a:r>
              <a:rPr lang="en-US" sz="2000" dirty="0" err="1">
                <a:latin typeface="FiraGO" panose="020B0503050000020004" pitchFamily="34" charset="0"/>
                <a:cs typeface="FiraGO" panose="020B0503050000020004" pitchFamily="34" charset="0"/>
              </a:rPr>
              <a:t>leur</a:t>
            </a:r>
            <a:r>
              <a:rPr lang="en-US" sz="2000" dirty="0">
                <a:latin typeface="FiraGO" panose="020B0503050000020004" pitchFamily="34" charset="0"/>
                <a:cs typeface="FiraGO" panose="020B0503050000020004" pitchFamily="34" charset="0"/>
              </a:rPr>
              <a:t> existence</a:t>
            </a:r>
            <a:endParaRPr lang="fr-FR" sz="2000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ECC40C-C572-C742-83CB-1760BFCB9C9D}"/>
              </a:ext>
            </a:extLst>
          </p:cNvPr>
          <p:cNvSpPr/>
          <p:nvPr/>
        </p:nvSpPr>
        <p:spPr>
          <a:xfrm>
            <a:off x="9601902" y="4400276"/>
            <a:ext cx="24271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n’existent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pas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pleinement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à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un instant :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ils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ont</a:t>
            </a:r>
            <a:r>
              <a:rPr lang="en-US" dirty="0">
                <a:latin typeface="FiraGO" panose="020B0503050000020004" pitchFamily="34" charset="0"/>
                <a:cs typeface="FiraGO" panose="020B0503050000020004" pitchFamily="34" charset="0"/>
              </a:rPr>
              <a:t> des parties </a:t>
            </a:r>
            <a:r>
              <a:rPr lang="en-US" dirty="0" err="1">
                <a:latin typeface="FiraGO" panose="020B0503050000020004" pitchFamily="34" charset="0"/>
                <a:cs typeface="FiraGO" panose="020B0503050000020004" pitchFamily="34" charset="0"/>
              </a:rPr>
              <a:t>temporelles</a:t>
            </a:r>
            <a:endParaRPr lang="en-US" dirty="0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29" name="Accolade fermante 28">
            <a:extLst>
              <a:ext uri="{FF2B5EF4-FFF2-40B4-BE49-F238E27FC236}">
                <a16:creationId xmlns:a16="http://schemas.microsoft.com/office/drawing/2014/main" id="{8E9ED7C5-17DF-6849-BB3D-3652913859E9}"/>
              </a:ext>
            </a:extLst>
          </p:cNvPr>
          <p:cNvSpPr/>
          <p:nvPr/>
        </p:nvSpPr>
        <p:spPr>
          <a:xfrm>
            <a:off x="3033641" y="3283216"/>
            <a:ext cx="344258" cy="30229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30" name="Accolade fermante 29">
            <a:extLst>
              <a:ext uri="{FF2B5EF4-FFF2-40B4-BE49-F238E27FC236}">
                <a16:creationId xmlns:a16="http://schemas.microsoft.com/office/drawing/2014/main" id="{5080BE25-3D0C-B947-8315-E565587E6786}"/>
              </a:ext>
            </a:extLst>
          </p:cNvPr>
          <p:cNvSpPr/>
          <p:nvPr/>
        </p:nvSpPr>
        <p:spPr>
          <a:xfrm>
            <a:off x="9140597" y="3298744"/>
            <a:ext cx="344258" cy="30074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atin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FAA99-FD3C-654E-9DE7-E26DCB92173E}"/>
              </a:ext>
            </a:extLst>
          </p:cNvPr>
          <p:cNvSpPr/>
          <p:nvPr/>
        </p:nvSpPr>
        <p:spPr>
          <a:xfrm>
            <a:off x="3377899" y="6448932"/>
            <a:ext cx="69169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Johnson, W. 1921. </a:t>
            </a:r>
            <a:r>
              <a:rPr lang="fr-CA" i="1" dirty="0" err="1"/>
              <a:t>Logic</a:t>
            </a:r>
            <a:r>
              <a:rPr lang="fr-CA" i="1" dirty="0"/>
              <a:t>: Part I</a:t>
            </a:r>
            <a:r>
              <a:rPr lang="fr-CA" dirty="0"/>
              <a:t>. Cambridge : Cambridge </a:t>
            </a:r>
            <a:r>
              <a:rPr lang="fr-CA" dirty="0" err="1"/>
              <a:t>University</a:t>
            </a:r>
            <a:r>
              <a:rPr lang="fr-CA" dirty="0"/>
              <a:t> </a:t>
            </a:r>
            <a:r>
              <a:rPr lang="fr-CA" dirty="0" err="1"/>
              <a:t>Press</a:t>
            </a:r>
            <a:r>
              <a:rPr lang="fr-CA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907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22" grpId="0"/>
      <p:bldP spid="23" grpId="0"/>
      <p:bldP spid="24" grpId="0"/>
      <p:bldP spid="27" grpId="0"/>
      <p:bldP spid="28" grpId="0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Continuants </a:t>
            </a:r>
            <a:r>
              <a:rPr lang="en-US" dirty="0" err="1"/>
              <a:t>indépendants</a:t>
            </a:r>
            <a:r>
              <a:rPr lang="en-US" dirty="0"/>
              <a:t> et </a:t>
            </a:r>
            <a:r>
              <a:rPr lang="en-US" dirty="0" err="1"/>
              <a:t>dépendants</a:t>
            </a:r>
            <a:br>
              <a:rPr lang="en-US" dirty="0"/>
            </a:br>
            <a:r>
              <a:rPr lang="en-US" dirty="0" err="1"/>
              <a:t>Universaux</a:t>
            </a:r>
            <a:r>
              <a:rPr lang="en-US" dirty="0"/>
              <a:t> et </a:t>
            </a:r>
            <a:r>
              <a:rPr lang="en-US" dirty="0" err="1"/>
              <a:t>particuliers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25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33771-D66B-9449-B897-4A6828C44B83}"/>
              </a:ext>
            </a:extLst>
          </p:cNvPr>
          <p:cNvSpPr/>
          <p:nvPr/>
        </p:nvSpPr>
        <p:spPr>
          <a:xfrm>
            <a:off x="3450019" y="6416621"/>
            <a:ext cx="77198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600" dirty="0"/>
              <a:t>Arp, R., Smith, B., &amp; </a:t>
            </a:r>
            <a:r>
              <a:rPr lang="fr-CA" sz="1600" dirty="0" err="1"/>
              <a:t>Spear</a:t>
            </a:r>
            <a:r>
              <a:rPr lang="fr-CA" sz="1600" dirty="0"/>
              <a:t>, A. D. (2015). </a:t>
            </a:r>
            <a:r>
              <a:rPr lang="fr-CA" sz="1600" i="1" dirty="0"/>
              <a:t>Building ontologies </a:t>
            </a:r>
            <a:r>
              <a:rPr lang="fr-CA" sz="1600" i="1" dirty="0" err="1"/>
              <a:t>with</a:t>
            </a:r>
            <a:r>
              <a:rPr lang="fr-CA" sz="1600" i="1" dirty="0"/>
              <a:t> basic </a:t>
            </a:r>
            <a:r>
              <a:rPr lang="fr-CA" sz="1600" i="1" dirty="0" err="1"/>
              <a:t>formal</a:t>
            </a:r>
            <a:r>
              <a:rPr lang="fr-CA" sz="1600" i="1" dirty="0"/>
              <a:t> </a:t>
            </a:r>
            <a:r>
              <a:rPr lang="fr-CA" sz="1600" i="1" dirty="0" err="1"/>
              <a:t>ontology</a:t>
            </a:r>
            <a:r>
              <a:rPr lang="fr-CA" sz="1600" dirty="0"/>
              <a:t>. Mit </a:t>
            </a:r>
            <a:r>
              <a:rPr lang="fr-CA" sz="1600" dirty="0" err="1"/>
              <a:t>Press</a:t>
            </a:r>
            <a:r>
              <a:rPr lang="fr-CA" sz="1600" dirty="0"/>
              <a:t>.</a:t>
            </a:r>
            <a:endParaRPr lang="fr-FR" sz="1600" dirty="0"/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B5EDADAD-18D0-2E4E-ABD7-F53CAE307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075410"/>
              </p:ext>
            </p:extLst>
          </p:nvPr>
        </p:nvGraphicFramePr>
        <p:xfrm>
          <a:off x="650708" y="2120296"/>
          <a:ext cx="11148001" cy="2105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769">
                  <a:extLst>
                    <a:ext uri="{9D8B030D-6E8A-4147-A177-3AD203B41FA5}">
                      <a16:colId xmlns:a16="http://schemas.microsoft.com/office/drawing/2014/main" val="4234959301"/>
                    </a:ext>
                  </a:extLst>
                </a:gridCol>
                <a:gridCol w="2104104">
                  <a:extLst>
                    <a:ext uri="{9D8B030D-6E8A-4147-A177-3AD203B41FA5}">
                      <a16:colId xmlns:a16="http://schemas.microsoft.com/office/drawing/2014/main" val="3227256802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2033999248"/>
                    </a:ext>
                  </a:extLst>
                </a:gridCol>
                <a:gridCol w="3244644">
                  <a:extLst>
                    <a:ext uri="{9D8B030D-6E8A-4147-A177-3AD203B41FA5}">
                      <a16:colId xmlns:a16="http://schemas.microsoft.com/office/drawing/2014/main" val="3035218519"/>
                    </a:ext>
                  </a:extLst>
                </a:gridCol>
              </a:tblGrid>
              <a:tr h="975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7" marB="4572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Continuant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indépendant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Continuant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dépendant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Occurrent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extLst>
                  <a:ext uri="{0D108BD9-81ED-4DB2-BD59-A6C34878D82A}">
                    <a16:rowId xmlns:a16="http://schemas.microsoft.com/office/drawing/2014/main" val="42508951"/>
                  </a:ext>
                </a:extLst>
              </a:tr>
              <a:tr h="975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Humain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Table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Rougeur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Forme </a:t>
                      </a: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rectangulaire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Fragilité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Conférence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Souper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Circulation</a:t>
                      </a: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sanguine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extLst>
                  <a:ext uri="{0D108BD9-81ED-4DB2-BD59-A6C34878D82A}">
                    <a16:rowId xmlns:a16="http://schemas.microsoft.com/office/drawing/2014/main" val="4210197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144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Continuants </a:t>
            </a:r>
            <a:r>
              <a:rPr lang="en-US" dirty="0" err="1"/>
              <a:t>indépendants</a:t>
            </a:r>
            <a:r>
              <a:rPr lang="en-US" dirty="0"/>
              <a:t> et </a:t>
            </a:r>
            <a:r>
              <a:rPr lang="en-US" dirty="0" err="1"/>
              <a:t>dépendants</a:t>
            </a:r>
            <a:br>
              <a:rPr lang="en-US" dirty="0"/>
            </a:br>
            <a:r>
              <a:rPr lang="en-US" dirty="0" err="1"/>
              <a:t>Universaux</a:t>
            </a:r>
            <a:r>
              <a:rPr lang="en-US" dirty="0"/>
              <a:t> et </a:t>
            </a:r>
            <a:r>
              <a:rPr lang="en-US" dirty="0" err="1"/>
              <a:t>particuliers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26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33771-D66B-9449-B897-4A6828C44B83}"/>
              </a:ext>
            </a:extLst>
          </p:cNvPr>
          <p:cNvSpPr/>
          <p:nvPr/>
        </p:nvSpPr>
        <p:spPr>
          <a:xfrm>
            <a:off x="3450019" y="6416621"/>
            <a:ext cx="77198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600" dirty="0"/>
              <a:t>Arp, R., Smith, B., &amp; </a:t>
            </a:r>
            <a:r>
              <a:rPr lang="fr-CA" sz="1600" dirty="0" err="1"/>
              <a:t>Spear</a:t>
            </a:r>
            <a:r>
              <a:rPr lang="fr-CA" sz="1600" dirty="0"/>
              <a:t>, A. D. (2015). </a:t>
            </a:r>
            <a:r>
              <a:rPr lang="fr-CA" sz="1600" i="1" dirty="0"/>
              <a:t>Building ontologies </a:t>
            </a:r>
            <a:r>
              <a:rPr lang="fr-CA" sz="1600" i="1" dirty="0" err="1"/>
              <a:t>with</a:t>
            </a:r>
            <a:r>
              <a:rPr lang="fr-CA" sz="1600" i="1" dirty="0"/>
              <a:t> basic </a:t>
            </a:r>
            <a:r>
              <a:rPr lang="fr-CA" sz="1600" i="1" dirty="0" err="1"/>
              <a:t>formal</a:t>
            </a:r>
            <a:r>
              <a:rPr lang="fr-CA" sz="1600" i="1" dirty="0"/>
              <a:t> </a:t>
            </a:r>
            <a:r>
              <a:rPr lang="fr-CA" sz="1600" i="1" dirty="0" err="1"/>
              <a:t>ontology</a:t>
            </a:r>
            <a:r>
              <a:rPr lang="fr-CA" sz="1600" dirty="0"/>
              <a:t>. Mit </a:t>
            </a:r>
            <a:r>
              <a:rPr lang="fr-CA" sz="1600" dirty="0" err="1"/>
              <a:t>Press</a:t>
            </a:r>
            <a:r>
              <a:rPr lang="fr-CA" sz="1600" dirty="0"/>
              <a:t>.</a:t>
            </a:r>
            <a:endParaRPr lang="fr-FR" sz="1600" dirty="0"/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B5EDADAD-18D0-2E4E-ABD7-F53CAE307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10678"/>
              </p:ext>
            </p:extLst>
          </p:nvPr>
        </p:nvGraphicFramePr>
        <p:xfrm>
          <a:off x="650708" y="2120296"/>
          <a:ext cx="11148001" cy="323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769">
                  <a:extLst>
                    <a:ext uri="{9D8B030D-6E8A-4147-A177-3AD203B41FA5}">
                      <a16:colId xmlns:a16="http://schemas.microsoft.com/office/drawing/2014/main" val="4234959301"/>
                    </a:ext>
                  </a:extLst>
                </a:gridCol>
                <a:gridCol w="2104104">
                  <a:extLst>
                    <a:ext uri="{9D8B030D-6E8A-4147-A177-3AD203B41FA5}">
                      <a16:colId xmlns:a16="http://schemas.microsoft.com/office/drawing/2014/main" val="3227256802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2033999248"/>
                    </a:ext>
                  </a:extLst>
                </a:gridCol>
                <a:gridCol w="3244644">
                  <a:extLst>
                    <a:ext uri="{9D8B030D-6E8A-4147-A177-3AD203B41FA5}">
                      <a16:colId xmlns:a16="http://schemas.microsoft.com/office/drawing/2014/main" val="3035218519"/>
                    </a:ext>
                  </a:extLst>
                </a:gridCol>
              </a:tblGrid>
              <a:tr h="975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7" marB="4572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Continuant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indépendant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Continuant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dépendant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Occurrent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extLst>
                  <a:ext uri="{0D108BD9-81ED-4DB2-BD59-A6C34878D82A}">
                    <a16:rowId xmlns:a16="http://schemas.microsoft.com/office/drawing/2014/main" val="42508951"/>
                  </a:ext>
                </a:extLst>
              </a:tr>
              <a:tr h="975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Universaux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/ Classes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Humain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Table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Rougeur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Forme </a:t>
                      </a: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rectangulaire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Fragilité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Conférence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Souper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Circulation</a:t>
                      </a:r>
                      <a:r>
                        <a:rPr kumimoji="0" lang="de-DE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sanguine</a:t>
                      </a:r>
                      <a:endParaRPr kumimoji="0" lang="de-DE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extLst>
                  <a:ext uri="{0D108BD9-81ED-4DB2-BD59-A6C34878D82A}">
                    <a16:rowId xmlns:a16="http://schemas.microsoft.com/office/drawing/2014/main" val="4210197034"/>
                  </a:ext>
                </a:extLst>
              </a:tr>
              <a:tr h="975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Particuliers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humain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chat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table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rougeur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forme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rectangulaire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fragilité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conférence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souper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cette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circulation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sanguine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0000" marR="90000" marT="46807" marB="46807" anchor="ctr" horzOverflow="overflow"/>
                </a:tc>
                <a:extLst>
                  <a:ext uri="{0D108BD9-81ED-4DB2-BD59-A6C34878D82A}">
                    <a16:rowId xmlns:a16="http://schemas.microsoft.com/office/drawing/2014/main" val="1438078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18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22EA9-4A5F-614A-99A5-8D693B5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Partie 3 : </a:t>
            </a:r>
            <a:br>
              <a:rPr lang="fr-FR" sz="3200" dirty="0"/>
            </a:br>
            <a:r>
              <a:rPr lang="fr-FR" sz="3200" dirty="0"/>
              <a:t>Définitions textuelles et formelles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342F2-C0E4-E94C-8585-4AB2016B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F41933-D7A6-8647-B013-34910AA4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61" y="2014354"/>
            <a:ext cx="6514717" cy="433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11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2C7A3-F5E0-D741-A7F0-7512E3A3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besoin de définitions textuelles :</a:t>
            </a:r>
            <a:br>
              <a:rPr lang="fr-FR" dirty="0"/>
            </a:br>
            <a:r>
              <a:rPr lang="fr-FR" dirty="0"/>
              <a:t>Eviter les imprécisions de pensée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560CB5-BA6B-044D-A8FE-2EB75179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28</a:t>
            </a:fld>
            <a:endParaRPr lang="fr-FR"/>
          </a:p>
        </p:txBody>
      </p:sp>
      <p:pic>
        <p:nvPicPr>
          <p:cNvPr id="5" name="Picture 4" descr="oneway.jpg">
            <a:extLst>
              <a:ext uri="{FF2B5EF4-FFF2-40B4-BE49-F238E27FC236}">
                <a16:creationId xmlns:a16="http://schemas.microsoft.com/office/drawing/2014/main" id="{F96C5A45-8DD5-F54F-8ADA-9DF4E8F38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2047" y="1873392"/>
            <a:ext cx="6530033" cy="49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47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48870-3AA9-0445-9C41-715D2FE1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Ambiguïté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2A4352-26EE-494E-9640-97F58674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29</a:t>
            </a:fld>
            <a:endParaRPr lang="fr-F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6E53BB-1FD3-D04C-A51F-311BC7D3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157" y="1794294"/>
            <a:ext cx="6038491" cy="4810076"/>
          </a:xfrm>
        </p:spPr>
        <p:txBody>
          <a:bodyPr>
            <a:normAutofit/>
          </a:bodyPr>
          <a:lstStyle/>
          <a:p>
            <a:r>
              <a:rPr lang="en-US" sz="2000" dirty="0"/>
              <a:t>La “International Classification of Nursing Practice” (ICNP) </a:t>
            </a:r>
            <a:r>
              <a:rPr lang="en-US" sz="2000" dirty="0" err="1"/>
              <a:t>définit</a:t>
            </a:r>
            <a:r>
              <a:rPr lang="en-US" sz="2000" dirty="0"/>
              <a:t> "water" </a:t>
            </a:r>
            <a:r>
              <a:rPr lang="en-US" sz="2000" dirty="0" err="1"/>
              <a:t>comme</a:t>
            </a:r>
            <a:r>
              <a:rPr lang="en-US" sz="2000" dirty="0"/>
              <a:t> :</a:t>
            </a:r>
          </a:p>
          <a:p>
            <a:pPr marL="0" indent="0">
              <a:buNone/>
            </a:pPr>
            <a:r>
              <a:rPr lang="en-US" sz="2000" dirty="0"/>
              <a:t>”A type of Nursing Phenomenon of Physical Environment with the specific characteristics: clear liquid compound of hydrogen and oxygen that is essential for most plant and animal life influencing life and development of human beings.”</a:t>
            </a:r>
          </a:p>
        </p:txBody>
      </p:sp>
      <p:pic>
        <p:nvPicPr>
          <p:cNvPr id="6" name="Picture 3" descr="nurse water.jpg">
            <a:extLst>
              <a:ext uri="{FF2B5EF4-FFF2-40B4-BE49-F238E27FC236}">
                <a16:creationId xmlns:a16="http://schemas.microsoft.com/office/drawing/2014/main" id="{A3BB3A30-ED58-404A-B486-5A6699A4DC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8406" y="1289130"/>
            <a:ext cx="3962400" cy="26517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1FD568A-24BB-F34F-9D4B-96D50D0ABD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4042" y="4062600"/>
            <a:ext cx="2700510" cy="27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3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420FA0-8362-1642-953A-0F6B4B8D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Circularité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3F8A2D-52D4-9F45-8314-48402C0F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30</a:t>
            </a:fld>
            <a:endParaRPr lang="fr-F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3BD8F2-FBE1-8348-9857-821A333E6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206" y="1867268"/>
            <a:ext cx="5940518" cy="4531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First Healthcare Interoperability Resources Specification (FHIR) :</a:t>
            </a:r>
          </a:p>
          <a:p>
            <a:pPr lvl="1"/>
            <a:r>
              <a:rPr lang="en-US" sz="1800" dirty="0" err="1"/>
              <a:t>Nourriture</a:t>
            </a:r>
            <a:r>
              <a:rPr lang="en-US" sz="1800" dirty="0"/>
              <a:t> (“food”) </a:t>
            </a:r>
            <a:r>
              <a:rPr lang="en-US" sz="1800" dirty="0" err="1"/>
              <a:t>défini</a:t>
            </a:r>
            <a:r>
              <a:rPr lang="en-US" sz="1800" dirty="0"/>
              <a:t> </a:t>
            </a:r>
            <a:r>
              <a:rPr lang="en-US" sz="1800" dirty="0" err="1"/>
              <a:t>comme</a:t>
            </a:r>
            <a:r>
              <a:rPr lang="en-US" sz="1800" dirty="0"/>
              <a:t> “naturally occurring, processed, or manufactured entities that are primarily used as food for humans and animals.”</a:t>
            </a:r>
          </a:p>
          <a:p>
            <a:pPr lvl="1"/>
            <a:r>
              <a:rPr lang="en-US" sz="1800" dirty="0" err="1"/>
              <a:t>Contenant</a:t>
            </a:r>
            <a:r>
              <a:rPr lang="en-US" sz="1800" dirty="0"/>
              <a:t> (“container”) </a:t>
            </a:r>
            <a:r>
              <a:rPr lang="en-US" sz="1800" dirty="0" err="1"/>
              <a:t>défini</a:t>
            </a:r>
            <a:r>
              <a:rPr lang="en-US" sz="1800" dirty="0"/>
              <a:t> </a:t>
            </a:r>
            <a:r>
              <a:rPr lang="en-US" sz="1800" dirty="0" err="1"/>
              <a:t>comme</a:t>
            </a:r>
            <a:r>
              <a:rPr lang="en-US" sz="1800" dirty="0"/>
              <a:t> “a container of other entities”</a:t>
            </a:r>
          </a:p>
        </p:txBody>
      </p:sp>
      <p:pic>
        <p:nvPicPr>
          <p:cNvPr id="6" name="Picture 3" descr="what is food.jpg">
            <a:extLst>
              <a:ext uri="{FF2B5EF4-FFF2-40B4-BE49-F238E27FC236}">
                <a16:creationId xmlns:a16="http://schemas.microsoft.com/office/drawing/2014/main" id="{0C695582-893D-274D-814B-BCC79D8487B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6499" y="1339491"/>
            <a:ext cx="3384329" cy="521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0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24557-5A34-AD4A-817B-6EAF8479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Confusion “</a:t>
            </a:r>
            <a:r>
              <a:rPr lang="en-US" dirty="0" err="1"/>
              <a:t>utilisation</a:t>
            </a:r>
            <a:r>
              <a:rPr lang="en-US" dirty="0"/>
              <a:t>-mention”</a:t>
            </a:r>
            <a:br>
              <a:rPr lang="en-US" dirty="0"/>
            </a:br>
            <a:r>
              <a:rPr lang="en-US" dirty="0"/>
              <a:t>(“use-mention”)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158CAF-DFF3-8D40-A406-3867F262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31</a:t>
            </a:fld>
            <a:endParaRPr lang="fr-F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EFE6F9-9F28-C14E-AD30-87E553EE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53" y="1909175"/>
            <a:ext cx="5987293" cy="4933242"/>
          </a:xfrm>
        </p:spPr>
        <p:txBody>
          <a:bodyPr>
            <a:noAutofit/>
          </a:bodyPr>
          <a:lstStyle/>
          <a:p>
            <a:r>
              <a:rPr lang="en-US" sz="2000" dirty="0"/>
              <a:t>HL7 </a:t>
            </a:r>
            <a:r>
              <a:rPr lang="en-US" sz="2000" dirty="0" err="1"/>
              <a:t>définit</a:t>
            </a:r>
            <a:r>
              <a:rPr lang="en-US" sz="2000" dirty="0"/>
              <a:t> un </a:t>
            </a:r>
            <a:r>
              <a:rPr lang="en-US" sz="2000" dirty="0" err="1"/>
              <a:t>sujet</a:t>
            </a:r>
            <a:r>
              <a:rPr lang="en-US" sz="2000" dirty="0"/>
              <a:t> vivant (“living subject”) </a:t>
            </a:r>
            <a:r>
              <a:rPr lang="en-US" sz="2000" dirty="0" err="1"/>
              <a:t>comme</a:t>
            </a:r>
            <a:r>
              <a:rPr lang="en-US" sz="2000" dirty="0"/>
              <a:t> : “a subtype of Entity representing an organism or complex animal, alive or not.”</a:t>
            </a:r>
          </a:p>
          <a:p>
            <a:r>
              <a:rPr lang="en-US" sz="2000" dirty="0" err="1"/>
              <a:t>Confond</a:t>
            </a:r>
            <a:r>
              <a:rPr lang="en-US" sz="2000" dirty="0"/>
              <a:t> un objet (un </a:t>
            </a:r>
            <a:r>
              <a:rPr lang="en-US" sz="2000" dirty="0" err="1"/>
              <a:t>sujet</a:t>
            </a:r>
            <a:r>
              <a:rPr lang="en-US" sz="2000" dirty="0"/>
              <a:t> vivant) avec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représentation</a:t>
            </a:r>
            <a:r>
              <a:rPr lang="en-US" sz="2000" dirty="0"/>
              <a:t> (“Entity representing […]”). </a:t>
            </a:r>
          </a:p>
          <a:p>
            <a:r>
              <a:rPr lang="en-US" sz="2000" dirty="0"/>
              <a:t>E.g. : “Le </a:t>
            </a:r>
            <a:r>
              <a:rPr lang="en-US" sz="2000" dirty="0" err="1"/>
              <a:t>sommeil</a:t>
            </a:r>
            <a:r>
              <a:rPr lang="en-US" sz="2000" dirty="0"/>
              <a:t> </a:t>
            </a:r>
            <a:r>
              <a:rPr lang="en-US" sz="2000" dirty="0" err="1"/>
              <a:t>est</a:t>
            </a:r>
            <a:r>
              <a:rPr lang="en-US" sz="2000" dirty="0"/>
              <a:t> bon pour la santé et </a:t>
            </a:r>
            <a:r>
              <a:rPr lang="en-US" sz="2000" dirty="0" err="1"/>
              <a:t>contient</a:t>
            </a:r>
            <a:r>
              <a:rPr lang="en-US" sz="2000" dirty="0"/>
              <a:t> trois </a:t>
            </a:r>
            <a:r>
              <a:rPr lang="en-US" sz="2000" dirty="0" err="1"/>
              <a:t>voyelles</a:t>
            </a:r>
            <a:r>
              <a:rPr lang="en-US" sz="2000" dirty="0"/>
              <a:t>.”</a:t>
            </a:r>
          </a:p>
        </p:txBody>
      </p:sp>
      <p:pic>
        <p:nvPicPr>
          <p:cNvPr id="6" name="Picture 3" descr="use-mention.jpg">
            <a:extLst>
              <a:ext uri="{FF2B5EF4-FFF2-40B4-BE49-F238E27FC236}">
                <a16:creationId xmlns:a16="http://schemas.microsoft.com/office/drawing/2014/main" id="{509E9FFD-2540-BB46-9874-25C8475B3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7747" y="1638592"/>
            <a:ext cx="4064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4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E06158-1963-9449-B2C8-5BDEF862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Un modèle utile : </a:t>
            </a:r>
            <a:br>
              <a:rPr lang="fr-FR" dirty="0"/>
            </a:br>
            <a:r>
              <a:rPr lang="fr-FR" dirty="0"/>
              <a:t>la définition aristotélicienne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53D68-A873-A945-B1BE-4D0769098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14" y="2182483"/>
            <a:ext cx="5494376" cy="393318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historique</a:t>
            </a:r>
            <a:r>
              <a:rPr lang="en-US" dirty="0"/>
              <a:t> chez </a:t>
            </a:r>
            <a:r>
              <a:rPr lang="en-US" dirty="0" err="1"/>
              <a:t>Aristote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Humain</a:t>
            </a:r>
            <a:r>
              <a:rPr lang="en-US" dirty="0"/>
              <a:t> =</a:t>
            </a:r>
            <a:r>
              <a:rPr lang="en-US" baseline="-25000" dirty="0"/>
              <a:t>def</a:t>
            </a:r>
            <a:r>
              <a:rPr lang="en-US" dirty="0"/>
              <a:t> Un animal qui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rationnel</a:t>
            </a:r>
            <a:r>
              <a:rPr lang="en-US" dirty="0"/>
              <a:t>.</a:t>
            </a:r>
          </a:p>
          <a:p>
            <a:r>
              <a:rPr lang="en-US" dirty="0" err="1"/>
              <a:t>Définition</a:t>
            </a:r>
            <a:r>
              <a:rPr lang="en-US" dirty="0"/>
              <a:t> </a:t>
            </a:r>
            <a:r>
              <a:rPr lang="en-US" dirty="0" err="1"/>
              <a:t>aritotélicienne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fille</a:t>
            </a:r>
            <a:r>
              <a:rPr lang="en-US" dirty="0"/>
              <a:t> (“</a:t>
            </a:r>
            <a:r>
              <a:rPr lang="en-US" dirty="0" err="1"/>
              <a:t>espèce</a:t>
            </a:r>
            <a:r>
              <a:rPr lang="en-US" dirty="0"/>
              <a:t>” E) par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parente</a:t>
            </a:r>
            <a:r>
              <a:rPr lang="en-US" dirty="0"/>
              <a:t> (“genre” G),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particularisant</a:t>
            </a:r>
            <a:r>
              <a:rPr lang="en-US" dirty="0"/>
              <a:t> avec un “</a:t>
            </a:r>
            <a:r>
              <a:rPr lang="en-US" i="1" dirty="0"/>
              <a:t>differentia” </a:t>
            </a:r>
            <a:r>
              <a:rPr lang="en-US" dirty="0"/>
              <a:t>(D)</a:t>
            </a:r>
            <a:r>
              <a:rPr lang="en-US" i="1" dirty="0"/>
              <a:t> 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E =</a:t>
            </a:r>
            <a:r>
              <a:rPr lang="en-US" baseline="-25000" dirty="0"/>
              <a:t>def</a:t>
            </a:r>
            <a:r>
              <a:rPr lang="en-US" dirty="0"/>
              <a:t> Un G qui D.</a:t>
            </a:r>
          </a:p>
          <a:p>
            <a:pPr marL="0" indent="0">
              <a:buNone/>
            </a:pPr>
            <a:r>
              <a:rPr lang="en-US" dirty="0" err="1"/>
              <a:t>Exemple</a:t>
            </a:r>
            <a:r>
              <a:rPr lang="en-US" dirty="0"/>
              <a:t> (FMA) : </a:t>
            </a:r>
            <a:r>
              <a:rPr lang="fr-CA" dirty="0" err="1"/>
              <a:t>Heart</a:t>
            </a:r>
            <a:r>
              <a:rPr lang="fr-CA" dirty="0"/>
              <a:t> =</a:t>
            </a:r>
            <a:r>
              <a:rPr lang="fr-CA" baseline="-25000" dirty="0" err="1"/>
              <a:t>def</a:t>
            </a:r>
            <a:r>
              <a:rPr lang="fr-CA" dirty="0"/>
              <a:t> An </a:t>
            </a:r>
            <a:r>
              <a:rPr lang="fr-CA" dirty="0" err="1"/>
              <a:t>organ</a:t>
            </a:r>
            <a:r>
              <a:rPr lang="fr-CA" dirty="0"/>
              <a:t> </a:t>
            </a:r>
            <a:r>
              <a:rPr lang="fr-CA" dirty="0" err="1"/>
              <a:t>with</a:t>
            </a:r>
            <a:r>
              <a:rPr lang="fr-CA" dirty="0"/>
              <a:t> </a:t>
            </a:r>
            <a:r>
              <a:rPr lang="fr-CA" dirty="0" err="1"/>
              <a:t>cavitated</a:t>
            </a:r>
            <a:r>
              <a:rPr lang="fr-CA" dirty="0"/>
              <a:t> </a:t>
            </a:r>
            <a:r>
              <a:rPr lang="fr-CA" dirty="0" err="1"/>
              <a:t>organ</a:t>
            </a:r>
            <a:r>
              <a:rPr lang="fr-CA" dirty="0"/>
              <a:t> parts, </a:t>
            </a:r>
            <a:r>
              <a:rPr lang="fr-CA" dirty="0" err="1"/>
              <a:t>which</a:t>
            </a:r>
            <a:r>
              <a:rPr lang="fr-CA" dirty="0"/>
              <a:t> </a:t>
            </a:r>
            <a:r>
              <a:rPr lang="fr-CA" dirty="0" err="1"/>
              <a:t>is</a:t>
            </a:r>
            <a:r>
              <a:rPr lang="fr-CA" dirty="0"/>
              <a:t> </a:t>
            </a:r>
            <a:r>
              <a:rPr lang="fr-CA" dirty="0" err="1"/>
              <a:t>continuous</a:t>
            </a:r>
            <a:r>
              <a:rPr lang="fr-CA" dirty="0"/>
              <a:t> </a:t>
            </a:r>
            <a:r>
              <a:rPr lang="fr-CA" dirty="0" err="1"/>
              <a:t>with</a:t>
            </a:r>
            <a:r>
              <a:rPr lang="fr-CA" dirty="0"/>
              <a:t> the </a:t>
            </a:r>
            <a:r>
              <a:rPr lang="fr-CA" dirty="0" err="1"/>
              <a:t>systemic</a:t>
            </a:r>
            <a:r>
              <a:rPr lang="fr-CA" dirty="0"/>
              <a:t> and </a:t>
            </a:r>
            <a:r>
              <a:rPr lang="fr-CA" dirty="0" err="1"/>
              <a:t>pulmonary</a:t>
            </a:r>
            <a:r>
              <a:rPr lang="fr-CA" dirty="0"/>
              <a:t> </a:t>
            </a:r>
            <a:r>
              <a:rPr lang="fr-CA" dirty="0" err="1"/>
              <a:t>arterial</a:t>
            </a:r>
            <a:r>
              <a:rPr lang="fr-CA" dirty="0"/>
              <a:t> and </a:t>
            </a:r>
            <a:r>
              <a:rPr lang="fr-CA" dirty="0" err="1"/>
              <a:t>venous</a:t>
            </a:r>
            <a:r>
              <a:rPr lang="fr-CA" dirty="0"/>
              <a:t> </a:t>
            </a:r>
            <a:r>
              <a:rPr lang="fr-CA" dirty="0" err="1"/>
              <a:t>trees</a:t>
            </a:r>
            <a:r>
              <a:rPr lang="fr-CA" dirty="0"/>
              <a:t>.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49CFB9-C0AF-B049-B0C6-615523F2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32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91C2E-3F87-FB40-92A1-3C10B72E7A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6488" y="2835724"/>
            <a:ext cx="2893366" cy="38698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266235-CBC3-474A-B762-0AB492FCA6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9338" y="914401"/>
            <a:ext cx="6033334" cy="22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23705D-42BD-FC49-ABB4-A5DC6C2E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70980"/>
            <a:ext cx="11029616" cy="1013800"/>
          </a:xfrm>
        </p:spPr>
        <p:txBody>
          <a:bodyPr>
            <a:noAutofit/>
          </a:bodyPr>
          <a:lstStyle/>
          <a:p>
            <a:r>
              <a:rPr lang="fr-FR" dirty="0"/>
              <a:t>Application à la classification : </a:t>
            </a:r>
            <a:br>
              <a:rPr lang="fr-FR" dirty="0"/>
            </a:br>
            <a:r>
              <a:rPr lang="fr-FR" dirty="0"/>
              <a:t>l’exemple de la maladie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1D9264-CED8-0D40-A92F-259C3A71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33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EE5ED18-568F-7D44-8672-E52D68D0E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8806" y="2038031"/>
            <a:ext cx="6003985" cy="450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5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8DB5D3F-E491-D04A-85AA-E2EF712E1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338" y="6381982"/>
            <a:ext cx="1803400" cy="660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703512" y="1840300"/>
            <a:ext cx="8856984" cy="3646070"/>
          </a:xfrm>
          <a:prstGeom prst="rect">
            <a:avLst/>
          </a:prstGeom>
          <a:solidFill>
            <a:schemeClr val="tx1">
              <a:alpha val="3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OGMS : Une ontologie générale de la maladie</a:t>
            </a:r>
            <a:br>
              <a:rPr lang="fr-FR" sz="1400" dirty="0"/>
            </a:br>
            <a:r>
              <a:rPr lang="fr-CA" sz="1400" dirty="0" err="1"/>
              <a:t>Scheuermann</a:t>
            </a:r>
            <a:r>
              <a:rPr lang="fr-CA" sz="1400" dirty="0"/>
              <a:t>, R. H., </a:t>
            </a:r>
            <a:r>
              <a:rPr lang="fr-CA" sz="1400" dirty="0" err="1"/>
              <a:t>Ceusters</a:t>
            </a:r>
            <a:r>
              <a:rPr lang="fr-CA" sz="1400" dirty="0"/>
              <a:t>, W., &amp; Smith, B. (2009). </a:t>
            </a:r>
            <a:r>
              <a:rPr lang="fr-CA" sz="1400" dirty="0" err="1"/>
              <a:t>Toward</a:t>
            </a:r>
            <a:r>
              <a:rPr lang="fr-CA" sz="1400" dirty="0"/>
              <a:t> an </a:t>
            </a:r>
            <a:r>
              <a:rPr lang="fr-CA" sz="1400" dirty="0" err="1"/>
              <a:t>ontological</a:t>
            </a:r>
            <a:r>
              <a:rPr lang="fr-CA" sz="1400" dirty="0"/>
              <a:t> </a:t>
            </a:r>
            <a:r>
              <a:rPr lang="fr-CA" sz="1400" dirty="0" err="1"/>
              <a:t>treatment</a:t>
            </a:r>
            <a:r>
              <a:rPr lang="fr-CA" sz="1400" dirty="0"/>
              <a:t> of </a:t>
            </a:r>
            <a:r>
              <a:rPr lang="fr-CA" sz="1400" dirty="0" err="1"/>
              <a:t>disease</a:t>
            </a:r>
            <a:r>
              <a:rPr lang="fr-CA" sz="1400" dirty="0"/>
              <a:t> and </a:t>
            </a:r>
            <a:r>
              <a:rPr lang="fr-CA" sz="1400" dirty="0" err="1"/>
              <a:t>diagnosis</a:t>
            </a:r>
            <a:r>
              <a:rPr lang="fr-CA" sz="1400" dirty="0"/>
              <a:t>. </a:t>
            </a:r>
            <a:r>
              <a:rPr lang="fr-CA" sz="1400" i="1" dirty="0" err="1"/>
              <a:t>Summit</a:t>
            </a:r>
            <a:r>
              <a:rPr lang="fr-CA" sz="1400" i="1" dirty="0"/>
              <a:t> on </a:t>
            </a:r>
            <a:r>
              <a:rPr lang="fr-CA" sz="1400" i="1" dirty="0" err="1"/>
              <a:t>translational</a:t>
            </a:r>
            <a:r>
              <a:rPr lang="fr-CA" sz="1400" i="1" dirty="0"/>
              <a:t> </a:t>
            </a:r>
            <a:r>
              <a:rPr lang="fr-CA" sz="1400" i="1" dirty="0" err="1"/>
              <a:t>bioinformatics</a:t>
            </a:r>
            <a:r>
              <a:rPr lang="fr-CA" sz="1400" dirty="0"/>
              <a:t>, </a:t>
            </a:r>
            <a:r>
              <a:rPr lang="fr-CA" sz="1400" i="1" dirty="0"/>
              <a:t>2009</a:t>
            </a:r>
            <a:r>
              <a:rPr lang="fr-CA" sz="1400" dirty="0"/>
              <a:t>, 116.</a:t>
            </a:r>
            <a:endParaRPr lang="fr-FR" sz="1400" dirty="0"/>
          </a:p>
        </p:txBody>
      </p:sp>
      <p:sp>
        <p:nvSpPr>
          <p:cNvPr id="8" name="Organigramme : Alternative 7"/>
          <p:cNvSpPr/>
          <p:nvPr/>
        </p:nvSpPr>
        <p:spPr>
          <a:xfrm>
            <a:off x="2618928" y="2176200"/>
            <a:ext cx="3693096" cy="648072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>
                    <a:lumMod val="50000"/>
                  </a:schemeClr>
                </a:solidFill>
              </a:rPr>
              <a:t>Continuant</a:t>
            </a:r>
            <a:endParaRPr lang="fr-F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Organigramme : Alternative 8"/>
          <p:cNvSpPr/>
          <p:nvPr/>
        </p:nvSpPr>
        <p:spPr>
          <a:xfrm>
            <a:off x="6788346" y="2176200"/>
            <a:ext cx="3689799" cy="648072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>
                    <a:lumMod val="50000"/>
                  </a:schemeClr>
                </a:solidFill>
              </a:rPr>
              <a:t>Occurrent</a:t>
            </a:r>
          </a:p>
        </p:txBody>
      </p:sp>
      <p:sp>
        <p:nvSpPr>
          <p:cNvPr id="10" name="Organigramme : Alternative 9"/>
          <p:cNvSpPr/>
          <p:nvPr/>
        </p:nvSpPr>
        <p:spPr>
          <a:xfrm>
            <a:off x="2618928" y="2929853"/>
            <a:ext cx="1810544" cy="648072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>
                    <a:lumMod val="50000"/>
                  </a:schemeClr>
                </a:solidFill>
              </a:rPr>
              <a:t>Continuant indépendant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Organigramme : Alternative 10"/>
          <p:cNvSpPr/>
          <p:nvPr/>
        </p:nvSpPr>
        <p:spPr>
          <a:xfrm>
            <a:off x="4583832" y="2929853"/>
            <a:ext cx="1728192" cy="648072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>
                    <a:lumMod val="50000"/>
                  </a:schemeClr>
                </a:solidFill>
              </a:rPr>
              <a:t>Continuant dépendant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Organigramme : Alternative 13"/>
          <p:cNvSpPr/>
          <p:nvPr/>
        </p:nvSpPr>
        <p:spPr>
          <a:xfrm>
            <a:off x="4583832" y="3675612"/>
            <a:ext cx="1728192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Maladie</a:t>
            </a:r>
            <a:endParaRPr lang="fr-FR" sz="1200" b="1" dirty="0"/>
          </a:p>
        </p:txBody>
      </p:sp>
      <p:sp>
        <p:nvSpPr>
          <p:cNvPr id="16" name="Organigramme : Alternative 15"/>
          <p:cNvSpPr/>
          <p:nvPr/>
        </p:nvSpPr>
        <p:spPr>
          <a:xfrm>
            <a:off x="2618928" y="3675612"/>
            <a:ext cx="1810544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Désordre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1703512" y="5570422"/>
            <a:ext cx="8856984" cy="1246350"/>
          </a:xfrm>
          <a:prstGeom prst="rect">
            <a:avLst/>
          </a:prstGeom>
          <a:solidFill>
            <a:schemeClr val="tx1">
              <a:alpha val="3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 rot="16200000">
            <a:off x="939577" y="347866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Types</a:t>
            </a:r>
          </a:p>
        </p:txBody>
      </p:sp>
      <p:sp>
        <p:nvSpPr>
          <p:cNvPr id="22" name="ZoneTexte 21"/>
          <p:cNvSpPr txBox="1"/>
          <p:nvPr/>
        </p:nvSpPr>
        <p:spPr>
          <a:xfrm rot="16200000">
            <a:off x="1474476" y="6084930"/>
            <a:ext cx="1234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Instances</a:t>
            </a:r>
          </a:p>
        </p:txBody>
      </p:sp>
      <p:sp>
        <p:nvSpPr>
          <p:cNvPr id="21" name="Organigramme : Alternative 20"/>
          <p:cNvSpPr/>
          <p:nvPr/>
        </p:nvSpPr>
        <p:spPr>
          <a:xfrm>
            <a:off x="8753249" y="3675612"/>
            <a:ext cx="1728192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Cours de maladie</a:t>
            </a:r>
            <a:endParaRPr lang="fr-FR" sz="1200" b="1" dirty="0"/>
          </a:p>
        </p:txBody>
      </p:sp>
      <p:sp>
        <p:nvSpPr>
          <p:cNvPr id="23" name="Organigramme : Alternative 22"/>
          <p:cNvSpPr/>
          <p:nvPr/>
        </p:nvSpPr>
        <p:spPr>
          <a:xfrm>
            <a:off x="6788345" y="3675612"/>
            <a:ext cx="1810544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Processus pathologique</a:t>
            </a:r>
            <a:endParaRPr lang="fr-FR" sz="1200" b="1" dirty="0"/>
          </a:p>
        </p:txBody>
      </p:sp>
      <p:sp>
        <p:nvSpPr>
          <p:cNvPr id="24" name="Organigramme : Alternative 23"/>
          <p:cNvSpPr/>
          <p:nvPr/>
        </p:nvSpPr>
        <p:spPr>
          <a:xfrm>
            <a:off x="6788345" y="2929853"/>
            <a:ext cx="3689799" cy="648072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>
                    <a:lumMod val="50000"/>
                  </a:schemeClr>
                </a:solidFill>
              </a:rPr>
              <a:t>Processus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4350906" y="4525285"/>
            <a:ext cx="2194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Disposition</a:t>
            </a:r>
            <a:r>
              <a:rPr lang="fr-FR" sz="1200" dirty="0"/>
              <a:t> réalisée par des processus pathologiques qui existe à cause d’un ou plusieurs désordres dans un organisme.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8598889" y="4525286"/>
            <a:ext cx="2002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Processus</a:t>
            </a:r>
            <a:r>
              <a:rPr lang="fr-FR" sz="1200" dirty="0"/>
              <a:t> formé de la totalité des processus pathologique qui réalisent une maladie donnée.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568824" y="5719221"/>
            <a:ext cx="18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Circuit neuronal anormal de Jean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470043" y="5719220"/>
            <a:ext cx="1985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L’épilepsie de Jean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6650817" y="5719221"/>
            <a:ext cx="1985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Crise d’épilepsie de Jean à 8h43 le 1</a:t>
            </a:r>
            <a:r>
              <a:rPr lang="fr-FR" baseline="30000" dirty="0"/>
              <a:t>er</a:t>
            </a:r>
            <a:r>
              <a:rPr lang="fr-FR" dirty="0"/>
              <a:t> février 2022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8625235" y="5719220"/>
            <a:ext cx="1985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Totalité des crises d’épilepsie de Jean</a:t>
            </a:r>
          </a:p>
        </p:txBody>
      </p:sp>
      <p:sp>
        <p:nvSpPr>
          <p:cNvPr id="33" name="Espace réservé du numéro de diapositive 3">
            <a:extLst>
              <a:ext uri="{FF2B5EF4-FFF2-40B4-BE49-F238E27FC236}">
                <a16:creationId xmlns:a16="http://schemas.microsoft.com/office/drawing/2014/main" id="{65DFC2B0-95C6-5C4D-B4E1-61C26EDA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889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047" y="634380"/>
            <a:ext cx="11087339" cy="1143000"/>
          </a:xfrm>
        </p:spPr>
        <p:txBody>
          <a:bodyPr>
            <a:normAutofit/>
          </a:bodyPr>
          <a:lstStyle/>
          <a:p>
            <a:r>
              <a:rPr lang="fr-FR" sz="3200" dirty="0" err="1"/>
              <a:t>Cardiovascular</a:t>
            </a:r>
            <a:r>
              <a:rPr lang="fr-FR" sz="3200" dirty="0"/>
              <a:t> </a:t>
            </a:r>
            <a:r>
              <a:rPr lang="fr-FR" sz="3200" dirty="0" err="1"/>
              <a:t>Disease</a:t>
            </a:r>
            <a:r>
              <a:rPr lang="fr-FR" sz="3200" dirty="0"/>
              <a:t> </a:t>
            </a:r>
            <a:r>
              <a:rPr lang="fr-FR" sz="3200" dirty="0" err="1"/>
              <a:t>Ontology</a:t>
            </a:r>
            <a:r>
              <a:rPr lang="fr-FR" sz="3200" dirty="0"/>
              <a:t>: </a:t>
            </a:r>
            <a:br>
              <a:rPr lang="fr-FR" sz="3200" dirty="0"/>
            </a:br>
            <a:r>
              <a:rPr lang="fr-FR" sz="3200" dirty="0"/>
              <a:t>Quelques exemples de classes</a:t>
            </a:r>
            <a:endParaRPr lang="fr-FR" sz="1600" dirty="0">
              <a:solidFill>
                <a:srgbClr val="FF0000"/>
              </a:solidFill>
            </a:endParaRPr>
          </a:p>
        </p:txBody>
      </p:sp>
      <p:pic>
        <p:nvPicPr>
          <p:cNvPr id="5" name="Picture 4" descr="Myocardium pathological proces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4831" y="4767412"/>
            <a:ext cx="3505200" cy="1685925"/>
          </a:xfrm>
          <a:prstGeom prst="rect">
            <a:avLst/>
          </a:prstGeom>
        </p:spPr>
      </p:pic>
      <p:pic>
        <p:nvPicPr>
          <p:cNvPr id="11" name="Picture 10" descr="Atrial fibrillatio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4831" y="3308577"/>
            <a:ext cx="2695575" cy="914400"/>
          </a:xfrm>
          <a:prstGeom prst="rect">
            <a:avLst/>
          </a:prstGeom>
        </p:spPr>
      </p:pic>
      <p:sp>
        <p:nvSpPr>
          <p:cNvPr id="15" name="Organigramme : Alternative 15"/>
          <p:cNvSpPr/>
          <p:nvPr/>
        </p:nvSpPr>
        <p:spPr>
          <a:xfrm>
            <a:off x="1299528" y="1916832"/>
            <a:ext cx="1810544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Disorder</a:t>
            </a:r>
            <a:endParaRPr lang="fr-FR" sz="1200" b="1" dirty="0"/>
          </a:p>
        </p:txBody>
      </p:sp>
      <p:sp>
        <p:nvSpPr>
          <p:cNvPr id="16" name="Organigramme : Alternative 13"/>
          <p:cNvSpPr/>
          <p:nvPr/>
        </p:nvSpPr>
        <p:spPr>
          <a:xfrm>
            <a:off x="1332090" y="3501008"/>
            <a:ext cx="1728192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Disease</a:t>
            </a:r>
            <a:endParaRPr lang="fr-FR" sz="1200" b="1" dirty="0"/>
          </a:p>
        </p:txBody>
      </p:sp>
      <p:sp>
        <p:nvSpPr>
          <p:cNvPr id="18" name="Organigramme : Alternative 22"/>
          <p:cNvSpPr/>
          <p:nvPr/>
        </p:nvSpPr>
        <p:spPr>
          <a:xfrm>
            <a:off x="1312349" y="5301208"/>
            <a:ext cx="1810544" cy="648072"/>
          </a:xfrm>
          <a:prstGeom prst="flowChartAlternate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Pathological</a:t>
            </a:r>
            <a:r>
              <a:rPr lang="fr-FR" sz="2000" b="1" dirty="0"/>
              <a:t> </a:t>
            </a:r>
            <a:r>
              <a:rPr lang="fr-FR" sz="2000" b="1" dirty="0" err="1"/>
              <a:t>Process</a:t>
            </a:r>
            <a:endParaRPr lang="fr-FR" sz="1200" b="1" dirty="0"/>
          </a:p>
        </p:txBody>
      </p:sp>
      <p:grpSp>
        <p:nvGrpSpPr>
          <p:cNvPr id="25" name="Group 24"/>
          <p:cNvGrpSpPr/>
          <p:nvPr/>
        </p:nvGrpSpPr>
        <p:grpSpPr>
          <a:xfrm>
            <a:off x="1155512" y="3356992"/>
            <a:ext cx="5623508" cy="3456384"/>
            <a:chOff x="683568" y="3356992"/>
            <a:chExt cx="5623508" cy="3456384"/>
          </a:xfrm>
        </p:grpSpPr>
        <p:pic>
          <p:nvPicPr>
            <p:cNvPr id="13" name="Picture 12" descr="Atrial fibrillation process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3501" y="6651451"/>
              <a:ext cx="1933575" cy="16192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83568" y="4581128"/>
              <a:ext cx="252028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fr-FR" sz="1600" dirty="0" err="1"/>
                <a:t>Désambiguation</a:t>
              </a:r>
              <a:endParaRPr lang="fr-FR" sz="1600" dirty="0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059832" y="3356992"/>
              <a:ext cx="1224136" cy="3384376"/>
              <a:chOff x="3059832" y="3356992"/>
              <a:chExt cx="1224136" cy="3384376"/>
            </a:xfrm>
          </p:grpSpPr>
          <p:cxnSp>
            <p:nvCxnSpPr>
              <p:cNvPr id="12" name="Elbow Connector 11"/>
              <p:cNvCxnSpPr>
                <a:cxnSpLocks/>
              </p:cNvCxnSpPr>
              <p:nvPr/>
            </p:nvCxnSpPr>
            <p:spPr>
              <a:xfrm rot="5400000" flipH="1" flipV="1">
                <a:off x="3222285" y="3698595"/>
                <a:ext cx="1403286" cy="720080"/>
              </a:xfrm>
              <a:prstGeom prst="bentConnector3">
                <a:avLst>
                  <a:gd name="adj1" fmla="val 99887"/>
                </a:avLst>
              </a:prstGeom>
              <a:ln w="28575" cmpd="sng"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Elbow Connector 16"/>
              <p:cNvCxnSpPr/>
              <p:nvPr/>
            </p:nvCxnSpPr>
            <p:spPr>
              <a:xfrm rot="16200000" flipH="1">
                <a:off x="2933381" y="5390781"/>
                <a:ext cx="1981090" cy="720083"/>
              </a:xfrm>
              <a:prstGeom prst="bentConnector3">
                <a:avLst>
                  <a:gd name="adj1" fmla="val 100128"/>
                </a:avLst>
              </a:prstGeom>
              <a:ln w="28575" cmpd="sng"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3059832" y="4797152"/>
                <a:ext cx="504056" cy="0"/>
              </a:xfrm>
              <a:prstGeom prst="line">
                <a:avLst/>
              </a:prstGeom>
              <a:ln w="28575" cmpd="sng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 descr="Heart conduction disorder.png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4831" y="1857570"/>
            <a:ext cx="4680471" cy="1187555"/>
          </a:xfrm>
          <a:prstGeom prst="rect">
            <a:avLst/>
          </a:prstGeom>
        </p:spPr>
      </p:pic>
      <p:sp>
        <p:nvSpPr>
          <p:cNvPr id="19" name="Espace réservé du numéro de diapositive 3">
            <a:extLst>
              <a:ext uri="{FF2B5EF4-FFF2-40B4-BE49-F238E27FC236}">
                <a16:creationId xmlns:a16="http://schemas.microsoft.com/office/drawing/2014/main" id="{E245B376-D969-E749-9ABC-D391A380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35</a:t>
            </a:fld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B760D-75AE-FF45-8A2E-BE59FBA15D31}"/>
              </a:ext>
            </a:extLst>
          </p:cNvPr>
          <p:cNvSpPr/>
          <p:nvPr/>
        </p:nvSpPr>
        <p:spPr>
          <a:xfrm>
            <a:off x="9252155" y="5538573"/>
            <a:ext cx="30480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100" dirty="0"/>
              <a:t>Barton, A., Rosier, A. </a:t>
            </a:r>
            <a:r>
              <a:rPr lang="fr-CA" sz="1100" dirty="0" err="1"/>
              <a:t>Burgun</a:t>
            </a:r>
            <a:r>
              <a:rPr lang="fr-CA" sz="1100" dirty="0"/>
              <a:t>, A &amp; Ethier, J.-F. (2014) The </a:t>
            </a:r>
            <a:r>
              <a:rPr lang="fr-CA" sz="1100" dirty="0" err="1"/>
              <a:t>Cardiovascular</a:t>
            </a:r>
            <a:r>
              <a:rPr lang="fr-CA" sz="1100" dirty="0"/>
              <a:t> </a:t>
            </a:r>
            <a:r>
              <a:rPr lang="fr-CA" sz="1100" dirty="0" err="1"/>
              <a:t>Disease</a:t>
            </a:r>
            <a:r>
              <a:rPr lang="fr-CA" sz="1100" dirty="0"/>
              <a:t> </a:t>
            </a:r>
            <a:r>
              <a:rPr lang="fr-CA" sz="1100" dirty="0" err="1"/>
              <a:t>Ontology</a:t>
            </a:r>
            <a:r>
              <a:rPr lang="fr-CA" sz="1100" dirty="0"/>
              <a:t>. In: </a:t>
            </a:r>
            <a:r>
              <a:rPr lang="fr-CA" sz="1100" i="1" dirty="0" err="1"/>
              <a:t>Proceedings</a:t>
            </a:r>
            <a:r>
              <a:rPr lang="fr-CA" sz="1100" i="1" dirty="0"/>
              <a:t> of the 8th International </a:t>
            </a:r>
            <a:r>
              <a:rPr lang="fr-CA" sz="1100" i="1" dirty="0" err="1"/>
              <a:t>Conference</a:t>
            </a:r>
            <a:r>
              <a:rPr lang="fr-CA" sz="1100" i="1" dirty="0"/>
              <a:t> on </a:t>
            </a:r>
            <a:r>
              <a:rPr lang="fr-CA" sz="1100" i="1" dirty="0" err="1"/>
              <a:t>Formal</a:t>
            </a:r>
            <a:r>
              <a:rPr lang="fr-CA" sz="1100" i="1" dirty="0"/>
              <a:t> </a:t>
            </a:r>
            <a:r>
              <a:rPr lang="fr-CA" sz="1100" i="1" dirty="0" err="1"/>
              <a:t>Ontology</a:t>
            </a:r>
            <a:r>
              <a:rPr lang="fr-CA" sz="1100" i="1" dirty="0"/>
              <a:t> in Information </a:t>
            </a:r>
            <a:r>
              <a:rPr lang="fr-CA" sz="1100" i="1" dirty="0" err="1"/>
              <a:t>Systems</a:t>
            </a:r>
            <a:r>
              <a:rPr lang="fr-CA" sz="1100" i="1" dirty="0"/>
              <a:t> (FOIS-2014),</a:t>
            </a:r>
            <a:r>
              <a:rPr lang="fr-CA" sz="1100" dirty="0"/>
              <a:t> Amsterdam: IOS </a:t>
            </a:r>
            <a:r>
              <a:rPr lang="fr-CA" sz="1100" dirty="0" err="1"/>
              <a:t>Press</a:t>
            </a:r>
            <a:r>
              <a:rPr lang="fr-CA" sz="1100" dirty="0"/>
              <a:t>, 409-414.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67840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VDO - Cardiomyopathy 199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752" y="2376934"/>
            <a:ext cx="5778500" cy="908050"/>
          </a:xfrm>
          <a:prstGeom prst="rect">
            <a:avLst/>
          </a:prstGeom>
        </p:spPr>
      </p:pic>
      <p:pic>
        <p:nvPicPr>
          <p:cNvPr id="12" name="Picture 11" descr="Cor pulmonale definition 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1" y="3767160"/>
            <a:ext cx="6001385" cy="68516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559497" y="1493912"/>
            <a:ext cx="2321347" cy="854968"/>
          </a:xfrm>
          <a:prstGeom prst="rect">
            <a:avLst/>
          </a:prstGeom>
        </p:spPr>
        <p:txBody>
          <a:bodyPr vert="horz" rtlCol="0" anchor="ctr">
            <a:normAutofit fontScale="92500" lnSpcReduction="2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fr-FR" sz="4100" b="1" kern="1200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fr-FR" sz="2000" dirty="0"/>
              <a:t>Définitions en langage courant (aristotéliciennes)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631504" y="2420888"/>
            <a:ext cx="2160240" cy="854968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fr-FR" sz="4100" b="1" kern="1200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fr-FR" sz="2000" dirty="0"/>
              <a:t>Définitions logiques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84739" y="3150096"/>
            <a:ext cx="6254151" cy="854968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fr-FR" sz="4100" b="1" kern="1200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fr-FR" sz="2000" dirty="0"/>
              <a:t>Classé comme consistant par le raisonneur Pellet</a:t>
            </a:r>
            <a:endParaRPr lang="fr-FR" sz="2000" dirty="0">
              <a:solidFill>
                <a:srgbClr val="FF0000"/>
              </a:solidFill>
            </a:endParaRPr>
          </a:p>
        </p:txBody>
      </p:sp>
      <p:pic>
        <p:nvPicPr>
          <p:cNvPr id="5" name="Picture 4" descr="cor pulmonale copy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4853384"/>
            <a:ext cx="5949696" cy="2032000"/>
          </a:xfrm>
          <a:prstGeom prst="rect">
            <a:avLst/>
          </a:prstGeom>
        </p:spPr>
      </p:pic>
      <p:pic>
        <p:nvPicPr>
          <p:cNvPr id="6" name="Picture 5" descr="Cardiomyopathies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8169" y="4293097"/>
            <a:ext cx="2886075" cy="1971675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7469778" y="3789040"/>
            <a:ext cx="3275856" cy="887264"/>
            <a:chOff x="5945778" y="3789040"/>
            <a:chExt cx="3275856" cy="887264"/>
          </a:xfrm>
        </p:grpSpPr>
        <p:sp>
          <p:nvSpPr>
            <p:cNvPr id="17" name="Title 1"/>
            <p:cNvSpPr txBox="1">
              <a:spLocks/>
            </p:cNvSpPr>
            <p:nvPr/>
          </p:nvSpPr>
          <p:spPr>
            <a:xfrm>
              <a:off x="5945778" y="3789040"/>
              <a:ext cx="3275856" cy="422920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lang="fr-FR" sz="4100" b="1" kern="1200">
                  <a:solidFill>
                    <a:schemeClr val="tx1"/>
                  </a:solidFill>
                  <a:effectLst>
                    <a:outerShdw blurRad="31750" dist="25400" dir="5400000" algn="tl" rotWithShape="0">
                      <a:srgbClr val="000000">
                        <a:alpha val="25000"/>
                      </a:srgbClr>
                    </a:outerShdw>
                  </a:effectLst>
                  <a:latin typeface="+mj-lt"/>
                  <a:ea typeface="+mj-ea"/>
                  <a:cs typeface="+mj-cs"/>
                </a:defRPr>
              </a:lvl1pPr>
              <a:extLst/>
            </a:lstStyle>
            <a:p>
              <a:pPr algn="ctr"/>
              <a:r>
                <a:rPr lang="fr-FR" sz="1200" dirty="0"/>
                <a:t>Rend compte de l’évolution des définitions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6028441" y="3789040"/>
              <a:ext cx="3115559" cy="887264"/>
              <a:chOff x="6028441" y="3789040"/>
              <a:chExt cx="3115559" cy="887264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6028441" y="3956224"/>
                <a:ext cx="360226" cy="720080"/>
                <a:chOff x="6044722" y="3956224"/>
                <a:chExt cx="360226" cy="720080"/>
              </a:xfrm>
            </p:grpSpPr>
            <p:cxnSp>
              <p:nvCxnSpPr>
                <p:cNvPr id="18" name="Elbow Connector 17"/>
                <p:cNvCxnSpPr/>
                <p:nvPr/>
              </p:nvCxnSpPr>
              <p:spPr>
                <a:xfrm rot="16200000" flipH="1">
                  <a:off x="5864702" y="4136244"/>
                  <a:ext cx="720080" cy="360040"/>
                </a:xfrm>
                <a:prstGeom prst="bentConnector3">
                  <a:avLst>
                    <a:gd name="adj1" fmla="val 99604"/>
                  </a:avLst>
                </a:prstGeom>
                <a:ln w="28575" cmpd="sng"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6044722" y="4509120"/>
                  <a:ext cx="360226" cy="0"/>
                </a:xfrm>
                <a:prstGeom prst="straightConnector1">
                  <a:avLst/>
                </a:prstGeom>
                <a:ln w="28575" cmpd="sng"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Frame 35"/>
              <p:cNvSpPr/>
              <p:nvPr/>
            </p:nvSpPr>
            <p:spPr>
              <a:xfrm>
                <a:off x="6028441" y="3789040"/>
                <a:ext cx="3115559" cy="432048"/>
              </a:xfrm>
              <a:prstGeom prst="frame">
                <a:avLst>
                  <a:gd name="adj1" fmla="val 0"/>
                </a:avLst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round/>
              </a:ln>
              <a:effectLst>
                <a:outerShdw blurRad="50800" dist="38100" dir="5400000" algn="tl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7464152" y="5733256"/>
            <a:ext cx="3203848" cy="1109736"/>
            <a:chOff x="5940152" y="5733256"/>
            <a:chExt cx="3203848" cy="1109736"/>
          </a:xfrm>
        </p:grpSpPr>
        <p:sp>
          <p:nvSpPr>
            <p:cNvPr id="38" name="Frame 37"/>
            <p:cNvSpPr/>
            <p:nvPr/>
          </p:nvSpPr>
          <p:spPr>
            <a:xfrm>
              <a:off x="5992945" y="6363072"/>
              <a:ext cx="3115559" cy="476672"/>
            </a:xfrm>
            <a:prstGeom prst="frame">
              <a:avLst>
                <a:gd name="adj1" fmla="val 0"/>
              </a:avLst>
            </a:prstGeom>
            <a:solidFill>
              <a:schemeClr val="accent1"/>
            </a:solidFill>
            <a:ln w="28575" cap="flat" cmpd="sng">
              <a:round/>
            </a:ln>
            <a:effectLst>
              <a:outerShdw blurRad="50800" dist="38100" dir="5400000" algn="tl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5940152" y="5733256"/>
              <a:ext cx="3203848" cy="1109736"/>
              <a:chOff x="5940152" y="5733256"/>
              <a:chExt cx="3203848" cy="1109736"/>
            </a:xfrm>
          </p:grpSpPr>
          <p:cxnSp>
            <p:nvCxnSpPr>
              <p:cNvPr id="31" name="Elbow Connector 30"/>
              <p:cNvCxnSpPr/>
              <p:nvPr/>
            </p:nvCxnSpPr>
            <p:spPr>
              <a:xfrm rot="5400000" flipH="1" flipV="1">
                <a:off x="5707847" y="6021288"/>
                <a:ext cx="864096" cy="288032"/>
              </a:xfrm>
              <a:prstGeom prst="bentConnector3">
                <a:avLst>
                  <a:gd name="adj1" fmla="val 99984"/>
                </a:avLst>
              </a:prstGeom>
              <a:ln w="28575" cmpd="sng"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/>
              <p:cNvSpPr/>
              <p:nvPr/>
            </p:nvSpPr>
            <p:spPr>
              <a:xfrm>
                <a:off x="5940152" y="6381327"/>
                <a:ext cx="32038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Révèlent des défauts logiques dans des définitions courantes</a:t>
                </a:r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1376034" y="4413944"/>
            <a:ext cx="5976664" cy="2271698"/>
            <a:chOff x="-147966" y="4413944"/>
            <a:chExt cx="5976664" cy="2271698"/>
          </a:xfrm>
        </p:grpSpPr>
        <p:grpSp>
          <p:nvGrpSpPr>
            <p:cNvPr id="53" name="Group 52"/>
            <p:cNvGrpSpPr/>
            <p:nvPr/>
          </p:nvGrpSpPr>
          <p:grpSpPr>
            <a:xfrm>
              <a:off x="-147966" y="4413944"/>
              <a:ext cx="5976664" cy="2271698"/>
              <a:chOff x="5868144" y="3789040"/>
              <a:chExt cx="5976664" cy="2271698"/>
            </a:xfrm>
          </p:grpSpPr>
          <p:sp>
            <p:nvSpPr>
              <p:cNvPr id="54" name="Title 1"/>
              <p:cNvSpPr txBox="1">
                <a:spLocks/>
              </p:cNvSpPr>
              <p:nvPr/>
            </p:nvSpPr>
            <p:spPr>
              <a:xfrm>
                <a:off x="5868144" y="3789040"/>
                <a:ext cx="5976664" cy="422920"/>
              </a:xfrm>
              <a:prstGeom prst="rect">
                <a:avLst/>
              </a:prstGeom>
            </p:spPr>
            <p:txBody>
              <a:bodyPr vert="horz" rtlCol="0" anchor="ctr">
                <a:noAutofit/>
                <a:scene3d>
                  <a:camera prst="orthographicFront"/>
                  <a:lightRig rig="soft" dir="t"/>
                </a:scene3d>
                <a:sp3d prstMaterial="softEdge">
                  <a:bevelT w="25400" h="25400"/>
                </a:sp3d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lang="fr-FR" sz="4100" b="1" kern="1200">
                    <a:solidFill>
                      <a:schemeClr val="tx1"/>
                    </a:solidFill>
                    <a:effectLst>
                      <a:outerShdw blurRad="31750" dist="25400" dir="5400000" algn="tl" rotWithShape="0">
                        <a:srgbClr val="000000">
                          <a:alpha val="25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  <a:extLst/>
              </a:lstStyle>
              <a:p>
                <a:pPr algn="ctr"/>
                <a:r>
                  <a:rPr lang="fr-FR" sz="1800" dirty="0"/>
                  <a:t>Assertions et inférences</a:t>
                </a:r>
              </a:p>
            </p:txBody>
          </p:sp>
          <p:grpSp>
            <p:nvGrpSpPr>
              <p:cNvPr id="55" name="Group 54"/>
              <p:cNvGrpSpPr/>
              <p:nvPr/>
            </p:nvGrpSpPr>
            <p:grpSpPr>
              <a:xfrm>
                <a:off x="6028440" y="3867936"/>
                <a:ext cx="5816368" cy="2192802"/>
                <a:chOff x="6028440" y="3867936"/>
                <a:chExt cx="5816368" cy="2192802"/>
              </a:xfrm>
            </p:grpSpPr>
            <p:grpSp>
              <p:nvGrpSpPr>
                <p:cNvPr id="56" name="Group 55"/>
                <p:cNvGrpSpPr/>
                <p:nvPr/>
              </p:nvGrpSpPr>
              <p:grpSpPr>
                <a:xfrm>
                  <a:off x="6028440" y="3900496"/>
                  <a:ext cx="311200" cy="2160242"/>
                  <a:chOff x="6044721" y="3900496"/>
                  <a:chExt cx="311200" cy="2160242"/>
                </a:xfrm>
              </p:grpSpPr>
              <p:cxnSp>
                <p:nvCxnSpPr>
                  <p:cNvPr id="58" name="Elbow Connector 57"/>
                  <p:cNvCxnSpPr/>
                  <p:nvPr/>
                </p:nvCxnSpPr>
                <p:spPr>
                  <a:xfrm rot="16200000" flipH="1">
                    <a:off x="5120200" y="4825017"/>
                    <a:ext cx="2160242" cy="311200"/>
                  </a:xfrm>
                  <a:prstGeom prst="bentConnector3">
                    <a:avLst>
                      <a:gd name="adj1" fmla="val 100492"/>
                    </a:avLst>
                  </a:prstGeom>
                  <a:ln w="28575" cmpd="sng"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/>
                  <p:cNvCxnSpPr/>
                  <p:nvPr/>
                </p:nvCxnSpPr>
                <p:spPr>
                  <a:xfrm>
                    <a:off x="6044722" y="5684416"/>
                    <a:ext cx="239189" cy="0"/>
                  </a:xfrm>
                  <a:prstGeom prst="straightConnector1">
                    <a:avLst/>
                  </a:prstGeom>
                  <a:ln w="28575" cmpd="sng">
                    <a:tailEnd type="arrow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ame 56"/>
                <p:cNvSpPr/>
                <p:nvPr/>
              </p:nvSpPr>
              <p:spPr>
                <a:xfrm>
                  <a:off x="6028441" y="3867936"/>
                  <a:ext cx="5816367" cy="336872"/>
                </a:xfrm>
                <a:prstGeom prst="frame">
                  <a:avLst>
                    <a:gd name="adj1" fmla="val 0"/>
                  </a:avLst>
                </a:prstGeom>
                <a:solidFill>
                  <a:schemeClr val="accent1"/>
                </a:solidFill>
                <a:ln w="28575" cap="flat" cmpd="sng">
                  <a:solidFill>
                    <a:schemeClr val="accent1"/>
                  </a:solidFill>
                  <a:round/>
                </a:ln>
                <a:effectLst>
                  <a:outerShdw blurRad="50800" dist="38100" dir="5400000" algn="tl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74" name="Straight Arrow Connector 73"/>
            <p:cNvCxnSpPr/>
            <p:nvPr/>
          </p:nvCxnSpPr>
          <p:spPr>
            <a:xfrm>
              <a:off x="19215" y="6492785"/>
              <a:ext cx="304313" cy="0"/>
            </a:xfrm>
            <a:prstGeom prst="straightConnector1">
              <a:avLst/>
            </a:prstGeom>
            <a:ln w="28575" cmpd="sng"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2" name="Picture 81" descr="Cardiomyopathy 1995 definition copy 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753" y="1340768"/>
            <a:ext cx="6734175" cy="895350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CD9F18EC-5B8E-6642-986E-C901A7A1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fr-FR" sz="2800" dirty="0"/>
              <a:t>Les définitions en ontologie</a:t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32" name="Espace réservé du numéro de diapositive 3">
            <a:extLst>
              <a:ext uri="{FF2B5EF4-FFF2-40B4-BE49-F238E27FC236}">
                <a16:creationId xmlns:a16="http://schemas.microsoft.com/office/drawing/2014/main" id="{6FF2360A-B868-AA47-9B19-24496F55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47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Classification automatique </a:t>
            </a:r>
            <a:br>
              <a:rPr lang="fr-FR" sz="2800" dirty="0"/>
            </a:br>
            <a:r>
              <a:rPr lang="fr-FR" sz="2800" dirty="0"/>
              <a:t>des maladies</a:t>
            </a:r>
          </a:p>
        </p:txBody>
      </p:sp>
      <p:pic>
        <p:nvPicPr>
          <p:cNvPr id="8" name="Picture 7" descr="CVDO disease classifi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8577" y="1301328"/>
            <a:ext cx="4968552" cy="52960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09177" y="2134598"/>
            <a:ext cx="1511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 </a:t>
            </a:r>
            <a:r>
              <a:rPr lang="en-US" dirty="0" err="1"/>
              <a:t>organe</a:t>
            </a:r>
            <a:r>
              <a:rPr lang="en-US" dirty="0"/>
              <a:t> </a:t>
            </a:r>
            <a:r>
              <a:rPr lang="en-US" dirty="0" err="1"/>
              <a:t>affecté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164361" y="4437113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 </a:t>
            </a:r>
            <a:r>
              <a:rPr lang="en-US" dirty="0" err="1"/>
              <a:t>étiologie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300208" y="3429000"/>
            <a:ext cx="1584176" cy="2016224"/>
            <a:chOff x="1387367" y="3429000"/>
            <a:chExt cx="1584176" cy="2016224"/>
          </a:xfrm>
        </p:grpSpPr>
        <p:cxnSp>
          <p:nvCxnSpPr>
            <p:cNvPr id="22" name="Elbow Connector 21"/>
            <p:cNvCxnSpPr/>
            <p:nvPr/>
          </p:nvCxnSpPr>
          <p:spPr>
            <a:xfrm flipV="1">
              <a:off x="1387367" y="3429000"/>
              <a:ext cx="1584176" cy="1331278"/>
            </a:xfrm>
            <a:prstGeom prst="bentConnector3">
              <a:avLst>
                <a:gd name="adj1" fmla="val 34584"/>
              </a:avLst>
            </a:prstGeom>
            <a:ln w="28575" cmpd="sng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>
              <a:off x="1419929" y="4760278"/>
              <a:ext cx="1440160" cy="684946"/>
            </a:xfrm>
            <a:prstGeom prst="bentConnector3">
              <a:avLst>
                <a:gd name="adj1" fmla="val 35303"/>
              </a:avLst>
            </a:prstGeom>
            <a:ln w="28575" cmpd="sng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7900608" y="2457763"/>
            <a:ext cx="2592288" cy="2411397"/>
            <a:chOff x="4987767" y="2457762"/>
            <a:chExt cx="2592288" cy="2411397"/>
          </a:xfrm>
        </p:grpSpPr>
        <p:cxnSp>
          <p:nvCxnSpPr>
            <p:cNvPr id="15" name="Elbow Connector 14"/>
            <p:cNvCxnSpPr/>
            <p:nvPr/>
          </p:nvCxnSpPr>
          <p:spPr>
            <a:xfrm rot="10800000" flipV="1">
              <a:off x="4987767" y="2457762"/>
              <a:ext cx="2592288" cy="2411397"/>
            </a:xfrm>
            <a:prstGeom prst="bentConnector3">
              <a:avLst>
                <a:gd name="adj1" fmla="val 7291"/>
              </a:avLst>
            </a:prstGeom>
            <a:ln w="28575" cmpd="sng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/>
            <p:nvPr/>
          </p:nvCxnSpPr>
          <p:spPr>
            <a:xfrm rot="10800000">
              <a:off x="5183560" y="2894125"/>
              <a:ext cx="2208162" cy="3737"/>
            </a:xfrm>
            <a:prstGeom prst="bentConnector3">
              <a:avLst>
                <a:gd name="adj1" fmla="val 50000"/>
              </a:avLst>
            </a:prstGeom>
            <a:ln w="28575" cmpd="sng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Connecteur en angle 6">
            <a:extLst>
              <a:ext uri="{FF2B5EF4-FFF2-40B4-BE49-F238E27FC236}">
                <a16:creationId xmlns:a16="http://schemas.microsoft.com/office/drawing/2014/main" id="{CF54361C-58BB-2842-87C0-BD120CC07A60}"/>
              </a:ext>
            </a:extLst>
          </p:cNvPr>
          <p:cNvCxnSpPr>
            <a:stCxn id="9" idx="3"/>
          </p:cNvCxnSpPr>
          <p:nvPr/>
        </p:nvCxnSpPr>
        <p:spPr>
          <a:xfrm>
            <a:off x="4316489" y="4760279"/>
            <a:ext cx="1394198" cy="468921"/>
          </a:xfrm>
          <a:prstGeom prst="bentConnector3">
            <a:avLst>
              <a:gd name="adj1" fmla="val 71656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D45CB66-D0B8-A640-A998-C86D3586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298" y="6477292"/>
            <a:ext cx="1052508" cy="365125"/>
          </a:xfrm>
        </p:spPr>
        <p:txBody>
          <a:bodyPr/>
          <a:lstStyle/>
          <a:p>
            <a:fld id="{2375FC80-0D10-DE47-AFF9-6AA2A89D770B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771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Big Picture v3">
            <a:extLst>
              <a:ext uri="{FF2B5EF4-FFF2-40B4-BE49-F238E27FC236}">
                <a16:creationId xmlns:a16="http://schemas.microsoft.com/office/drawing/2014/main" id="{0773FD90-101A-BE45-B5DA-AFFF05DE6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99" t="7011" r="4861" b="8989"/>
          <a:stretch>
            <a:fillRect/>
          </a:stretch>
        </p:blipFill>
        <p:spPr bwMode="auto">
          <a:xfrm>
            <a:off x="2478582" y="54059"/>
            <a:ext cx="9713418" cy="6803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1EF97F-083C-BD40-86D1-B4A8949836E8}"/>
              </a:ext>
            </a:extLst>
          </p:cNvPr>
          <p:cNvSpPr/>
          <p:nvPr/>
        </p:nvSpPr>
        <p:spPr>
          <a:xfrm>
            <a:off x="216310" y="675571"/>
            <a:ext cx="232126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 err="1"/>
              <a:t>Scheuermann</a:t>
            </a:r>
            <a:r>
              <a:rPr lang="fr-CA" dirty="0"/>
              <a:t>, R. H., </a:t>
            </a:r>
            <a:r>
              <a:rPr lang="fr-CA" dirty="0" err="1"/>
              <a:t>Ceusters</a:t>
            </a:r>
            <a:r>
              <a:rPr lang="fr-CA" dirty="0"/>
              <a:t>, W., &amp; Smith, B. (2009). </a:t>
            </a:r>
            <a:r>
              <a:rPr lang="fr-CA" dirty="0" err="1"/>
              <a:t>Toward</a:t>
            </a:r>
            <a:r>
              <a:rPr lang="fr-CA" dirty="0"/>
              <a:t> an </a:t>
            </a:r>
            <a:r>
              <a:rPr lang="fr-CA" dirty="0" err="1"/>
              <a:t>ontological</a:t>
            </a:r>
            <a:r>
              <a:rPr lang="fr-CA" dirty="0"/>
              <a:t> </a:t>
            </a:r>
            <a:r>
              <a:rPr lang="fr-CA" dirty="0" err="1"/>
              <a:t>treatment</a:t>
            </a:r>
            <a:r>
              <a:rPr lang="fr-CA" dirty="0"/>
              <a:t> of </a:t>
            </a:r>
            <a:r>
              <a:rPr lang="fr-CA" dirty="0" err="1"/>
              <a:t>disease</a:t>
            </a:r>
            <a:r>
              <a:rPr lang="fr-CA" dirty="0"/>
              <a:t> and </a:t>
            </a:r>
            <a:r>
              <a:rPr lang="fr-CA" dirty="0" err="1"/>
              <a:t>diagnosis</a:t>
            </a:r>
            <a:r>
              <a:rPr lang="fr-CA" dirty="0"/>
              <a:t>. </a:t>
            </a:r>
            <a:r>
              <a:rPr lang="fr-CA" i="1" dirty="0" err="1"/>
              <a:t>Summit</a:t>
            </a:r>
            <a:r>
              <a:rPr lang="fr-CA" i="1" dirty="0"/>
              <a:t> on </a:t>
            </a:r>
            <a:r>
              <a:rPr lang="fr-CA" i="1" dirty="0" err="1"/>
              <a:t>translational</a:t>
            </a:r>
            <a:r>
              <a:rPr lang="fr-CA" i="1" dirty="0"/>
              <a:t> </a:t>
            </a:r>
            <a:r>
              <a:rPr lang="fr-CA" i="1" dirty="0" err="1"/>
              <a:t>bioinformatics</a:t>
            </a:r>
            <a:r>
              <a:rPr lang="fr-CA" dirty="0"/>
              <a:t>, </a:t>
            </a:r>
            <a:r>
              <a:rPr lang="fr-CA" i="1" dirty="0"/>
              <a:t>2009</a:t>
            </a:r>
            <a:r>
              <a:rPr lang="fr-CA" dirty="0"/>
              <a:t>, 116.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10A25-5C2D-1A46-B280-1FC8662E4788}"/>
              </a:ext>
            </a:extLst>
          </p:cNvPr>
          <p:cNvSpPr/>
          <p:nvPr/>
        </p:nvSpPr>
        <p:spPr>
          <a:xfrm>
            <a:off x="794408" y="0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rgbClr val="6EA1C5"/>
                </a:solidFill>
              </a:rPr>
              <a:t>OGMS</a:t>
            </a:r>
          </a:p>
        </p:txBody>
      </p:sp>
    </p:spTree>
    <p:extLst>
      <p:ext uri="{BB962C8B-B14F-4D97-AF65-F5344CB8AC3E}">
        <p14:creationId xmlns:p14="http://schemas.microsoft.com/office/powerpoint/2010/main" val="4059683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3">
            <a:extLst>
              <a:ext uri="{FF2B5EF4-FFF2-40B4-BE49-F238E27FC236}">
                <a16:creationId xmlns:a16="http://schemas.microsoft.com/office/drawing/2014/main" id="{52CABB5E-0F59-B34F-B19F-304E83C09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417" y="703648"/>
            <a:ext cx="9362566" cy="894379"/>
          </a:xfrm>
          <a:noFill/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3600" b="1" dirty="0" err="1">
                <a:solidFill>
                  <a:srgbClr val="6EA1C5"/>
                </a:solidFill>
                <a:ea typeface="+mj-ea"/>
              </a:rPr>
              <a:t>Aperçu</a:t>
            </a:r>
            <a:r>
              <a:rPr lang="en-US" altLang="en-US" sz="3600" b="1" dirty="0">
                <a:solidFill>
                  <a:srgbClr val="6EA1C5"/>
                </a:solidFill>
                <a:ea typeface="+mj-ea"/>
              </a:rPr>
              <a:t> de possible relations </a:t>
            </a:r>
            <a:r>
              <a:rPr lang="en-US" altLang="en-US" sz="3600" b="1" dirty="0" err="1">
                <a:solidFill>
                  <a:srgbClr val="6EA1C5"/>
                </a:solidFill>
                <a:ea typeface="+mj-ea"/>
              </a:rPr>
              <a:t>pertinentes</a:t>
            </a:r>
            <a:endParaRPr lang="en-US" altLang="en-US" sz="3600" b="1" dirty="0">
              <a:solidFill>
                <a:srgbClr val="6EA1C5"/>
              </a:solidFill>
              <a:ea typeface="+mj-ea"/>
            </a:endParaRPr>
          </a:p>
        </p:txBody>
      </p:sp>
      <p:sp>
        <p:nvSpPr>
          <p:cNvPr id="146435" name="Rectangle 4">
            <a:extLst>
              <a:ext uri="{FF2B5EF4-FFF2-40B4-BE49-F238E27FC236}">
                <a16:creationId xmlns:a16="http://schemas.microsoft.com/office/drawing/2014/main" id="{82CB664D-E124-844C-9CD6-DCC12EBDE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038" y="3060701"/>
            <a:ext cx="189230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etiological process</a:t>
            </a:r>
          </a:p>
        </p:txBody>
      </p:sp>
      <p:sp>
        <p:nvSpPr>
          <p:cNvPr id="146436" name="Rectangle 5">
            <a:extLst>
              <a:ext uri="{FF2B5EF4-FFF2-40B4-BE49-F238E27FC236}">
                <a16:creationId xmlns:a16="http://schemas.microsoft.com/office/drawing/2014/main" id="{A35F079F-7A97-B94D-88E8-375784368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2286001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produces</a:t>
            </a:r>
          </a:p>
        </p:txBody>
      </p:sp>
      <p:sp>
        <p:nvSpPr>
          <p:cNvPr id="146437" name="Rectangle 6">
            <a:extLst>
              <a:ext uri="{FF2B5EF4-FFF2-40B4-BE49-F238E27FC236}">
                <a16:creationId xmlns:a16="http://schemas.microsoft.com/office/drawing/2014/main" id="{4A8C2855-77A6-D244-B00E-1B4BEE3C5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3060701"/>
            <a:ext cx="93345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disorder</a:t>
            </a:r>
          </a:p>
        </p:txBody>
      </p:sp>
      <p:sp>
        <p:nvSpPr>
          <p:cNvPr id="146438" name="Rectangle 7">
            <a:extLst>
              <a:ext uri="{FF2B5EF4-FFF2-40B4-BE49-F238E27FC236}">
                <a16:creationId xmlns:a16="http://schemas.microsoft.com/office/drawing/2014/main" id="{637167AD-EB93-2544-A59B-CD14E1345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286001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bears</a:t>
            </a:r>
          </a:p>
        </p:txBody>
      </p:sp>
      <p:sp>
        <p:nvSpPr>
          <p:cNvPr id="146439" name="Rectangle 8">
            <a:extLst>
              <a:ext uri="{FF2B5EF4-FFF2-40B4-BE49-F238E27FC236}">
                <a16:creationId xmlns:a16="http://schemas.microsoft.com/office/drawing/2014/main" id="{95738C1D-744D-1C4B-A28C-D522B0784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60701"/>
            <a:ext cx="1011237" cy="369332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disease</a:t>
            </a:r>
          </a:p>
        </p:txBody>
      </p:sp>
      <p:sp>
        <p:nvSpPr>
          <p:cNvPr id="146440" name="Rectangle 9">
            <a:extLst>
              <a:ext uri="{FF2B5EF4-FFF2-40B4-BE49-F238E27FC236}">
                <a16:creationId xmlns:a16="http://schemas.microsoft.com/office/drawing/2014/main" id="{4D3D1DC8-6B31-9F4A-8E90-17968B18D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286001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realized_in</a:t>
            </a:r>
          </a:p>
        </p:txBody>
      </p:sp>
      <p:sp>
        <p:nvSpPr>
          <p:cNvPr id="146441" name="Rectangle 10">
            <a:extLst>
              <a:ext uri="{FF2B5EF4-FFF2-40B4-BE49-F238E27FC236}">
                <a16:creationId xmlns:a16="http://schemas.microsoft.com/office/drawing/2014/main" id="{FDA74C0D-2A3E-D640-95EF-B99C5B05A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100" y="3060701"/>
            <a:ext cx="205740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pathological process</a:t>
            </a:r>
          </a:p>
        </p:txBody>
      </p:sp>
      <p:sp>
        <p:nvSpPr>
          <p:cNvPr id="146442" name="Rectangle 11">
            <a:extLst>
              <a:ext uri="{FF2B5EF4-FFF2-40B4-BE49-F238E27FC236}">
                <a16:creationId xmlns:a16="http://schemas.microsoft.com/office/drawing/2014/main" id="{606DA261-42ED-674D-90C2-04CC3AB9C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5410201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produces</a:t>
            </a:r>
          </a:p>
        </p:txBody>
      </p:sp>
      <p:sp>
        <p:nvSpPr>
          <p:cNvPr id="146443" name="Rectangle 12">
            <a:extLst>
              <a:ext uri="{FF2B5EF4-FFF2-40B4-BE49-F238E27FC236}">
                <a16:creationId xmlns:a16="http://schemas.microsoft.com/office/drawing/2014/main" id="{F1ABFFE1-4B15-394C-BD7D-1BF9CA3B6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350" y="4699001"/>
            <a:ext cx="247015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abnormal bodily features</a:t>
            </a:r>
          </a:p>
        </p:txBody>
      </p:sp>
      <p:sp>
        <p:nvSpPr>
          <p:cNvPr id="146444" name="Rectangle 13">
            <a:extLst>
              <a:ext uri="{FF2B5EF4-FFF2-40B4-BE49-F238E27FC236}">
                <a16:creationId xmlns:a16="http://schemas.microsoft.com/office/drawing/2014/main" id="{5E00794E-F914-E748-BD78-519D4132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225" y="5410201"/>
            <a:ext cx="1504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recognized_as</a:t>
            </a:r>
          </a:p>
        </p:txBody>
      </p:sp>
      <p:sp>
        <p:nvSpPr>
          <p:cNvPr id="146445" name="Rectangle 14">
            <a:extLst>
              <a:ext uri="{FF2B5EF4-FFF2-40B4-BE49-F238E27FC236}">
                <a16:creationId xmlns:a16="http://schemas.microsoft.com/office/drawing/2014/main" id="{BFA566C4-556F-6D46-BE9C-0CE795268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263" y="4699001"/>
            <a:ext cx="188595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signs &amp; symptoms</a:t>
            </a:r>
          </a:p>
        </p:txBody>
      </p:sp>
      <p:sp>
        <p:nvSpPr>
          <p:cNvPr id="146446" name="Rectangle 15">
            <a:extLst>
              <a:ext uri="{FF2B5EF4-FFF2-40B4-BE49-F238E27FC236}">
                <a16:creationId xmlns:a16="http://schemas.microsoft.com/office/drawing/2014/main" id="{F49922E7-4833-DC42-A908-78A02FDDC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5" y="4699001"/>
            <a:ext cx="198120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interpretive process</a:t>
            </a:r>
          </a:p>
        </p:txBody>
      </p:sp>
      <p:sp>
        <p:nvSpPr>
          <p:cNvPr id="146447" name="Rectangle 16">
            <a:extLst>
              <a:ext uri="{FF2B5EF4-FFF2-40B4-BE49-F238E27FC236}">
                <a16:creationId xmlns:a16="http://schemas.microsoft.com/office/drawing/2014/main" id="{F77C8785-2CCA-F04C-8FBC-16821601F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8" y="3860801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produces</a:t>
            </a:r>
          </a:p>
        </p:txBody>
      </p:sp>
      <p:sp>
        <p:nvSpPr>
          <p:cNvPr id="146448" name="Rectangle 17">
            <a:extLst>
              <a:ext uri="{FF2B5EF4-FFF2-40B4-BE49-F238E27FC236}">
                <a16:creationId xmlns:a16="http://schemas.microsoft.com/office/drawing/2014/main" id="{96116140-BED2-D045-990F-32FADA4D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038" y="4699001"/>
            <a:ext cx="1047750" cy="366713"/>
          </a:xfrm>
          <a:prstGeom prst="rect">
            <a:avLst/>
          </a:prstGeom>
          <a:solidFill>
            <a:srgbClr val="66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diagnosis</a:t>
            </a:r>
          </a:p>
        </p:txBody>
      </p:sp>
      <p:sp>
        <p:nvSpPr>
          <p:cNvPr id="146449" name="Rectangle 19">
            <a:extLst>
              <a:ext uri="{FF2B5EF4-FFF2-40B4-BE49-F238E27FC236}">
                <a16:creationId xmlns:a16="http://schemas.microsoft.com/office/drawing/2014/main" id="{F5BA4325-3B20-4640-8102-B69AB685A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5410201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used_in</a:t>
            </a:r>
          </a:p>
        </p:txBody>
      </p:sp>
      <p:sp>
        <p:nvSpPr>
          <p:cNvPr id="146450" name="AutoShape 20">
            <a:extLst>
              <a:ext uri="{FF2B5EF4-FFF2-40B4-BE49-F238E27FC236}">
                <a16:creationId xmlns:a16="http://schemas.microsoft.com/office/drawing/2014/main" id="{83891355-BE86-EA49-A14F-BDA78A43D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6797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1" name="AutoShape 21">
            <a:extLst>
              <a:ext uri="{FF2B5EF4-FFF2-40B4-BE49-F238E27FC236}">
                <a16:creationId xmlns:a16="http://schemas.microsoft.com/office/drawing/2014/main" id="{86DBAB36-8D3E-2A4D-8076-116E53DBC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797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2" name="AutoShape 22">
            <a:extLst>
              <a:ext uri="{FF2B5EF4-FFF2-40B4-BE49-F238E27FC236}">
                <a16:creationId xmlns:a16="http://schemas.microsoft.com/office/drawing/2014/main" id="{0D6011F1-AB39-7E46-AB52-5E3AD57D6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26797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3" name="AutoShape 23">
            <a:extLst>
              <a:ext uri="{FF2B5EF4-FFF2-40B4-BE49-F238E27FC236}">
                <a16:creationId xmlns:a16="http://schemas.microsoft.com/office/drawing/2014/main" id="{7BA5286E-7235-294C-B0C8-E67313BE1CBC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247900" y="50800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4" name="AutoShape 24">
            <a:extLst>
              <a:ext uri="{FF2B5EF4-FFF2-40B4-BE49-F238E27FC236}">
                <a16:creationId xmlns:a16="http://schemas.microsoft.com/office/drawing/2014/main" id="{5669482D-024F-6F45-A146-8DB30C4141D1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660900" y="50800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5" name="AutoShape 25">
            <a:extLst>
              <a:ext uri="{FF2B5EF4-FFF2-40B4-BE49-F238E27FC236}">
                <a16:creationId xmlns:a16="http://schemas.microsoft.com/office/drawing/2014/main" id="{35DD5943-7A00-7946-869D-9497CEB450A6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7061200" y="50800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6" name="AutoShape 26">
            <a:extLst>
              <a:ext uri="{FF2B5EF4-FFF2-40B4-BE49-F238E27FC236}">
                <a16:creationId xmlns:a16="http://schemas.microsoft.com/office/drawing/2014/main" id="{6B446F4D-8CD8-4B4D-96A5-444370E7D73F}"/>
              </a:ext>
            </a:extLst>
          </p:cNvPr>
          <p:cNvSpPr>
            <a:spLocks noChangeArrowheads="1"/>
          </p:cNvSpPr>
          <p:nvPr/>
        </p:nvSpPr>
        <p:spPr bwMode="auto">
          <a:xfrm rot="16200000" flipH="1" flipV="1">
            <a:off x="9194800" y="3924300"/>
            <a:ext cx="1346200" cy="355600"/>
          </a:xfrm>
          <a:prstGeom prst="curvedDownArrow">
            <a:avLst>
              <a:gd name="adj1" fmla="val 22048"/>
              <a:gd name="adj2" fmla="val 97763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6457" name="Slide Number Placeholder 26">
            <a:extLst>
              <a:ext uri="{FF2B5EF4-FFF2-40B4-BE49-F238E27FC236}">
                <a16:creationId xmlns:a16="http://schemas.microsoft.com/office/drawing/2014/main" id="{9D6D1123-F7F2-3A47-9897-9F9C01ED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56261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8BFE0-E02E-BE49-B437-B72384F2471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74249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15F847F4-FC06-2746-BFE4-9120B21FA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2105" y="728710"/>
            <a:ext cx="7543800" cy="8382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Influenza (infectious disease)</a:t>
            </a:r>
          </a:p>
        </p:txBody>
      </p:sp>
      <p:sp>
        <p:nvSpPr>
          <p:cNvPr id="148484" name="Rectangle 4">
            <a:extLst>
              <a:ext uri="{FF2B5EF4-FFF2-40B4-BE49-F238E27FC236}">
                <a16:creationId xmlns:a16="http://schemas.microsoft.com/office/drawing/2014/main" id="{3E8A3A99-3833-1A43-93D1-F6CCD015E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099" y="2023672"/>
            <a:ext cx="5648169" cy="4478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Symptoms &amp; Signs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 err="1">
                <a:latin typeface="Times New Roman" panose="02020603050405020304" pitchFamily="18" charset="0"/>
              </a:rPr>
              <a:t>used_in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Interpretive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>
                <a:latin typeface="Times New Roman" panose="02020603050405020304" pitchFamily="18" charset="0"/>
              </a:rPr>
              <a:t>produces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Hypothesis - 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rule out influenza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>
                <a:latin typeface="Times New Roman" panose="02020603050405020304" pitchFamily="18" charset="0"/>
              </a:rPr>
              <a:t>suggests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Laboratory tests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>
                <a:latin typeface="Times New Roman" panose="02020603050405020304" pitchFamily="18" charset="0"/>
              </a:rPr>
              <a:t>produces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Test results - 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elevated serum antibody titers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 err="1">
                <a:latin typeface="Times New Roman" panose="02020603050405020304" pitchFamily="18" charset="0"/>
              </a:rPr>
              <a:t>used_in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Interpretive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 dirty="0">
                <a:latin typeface="Times New Roman" panose="02020603050405020304" pitchFamily="18" charset="0"/>
              </a:rPr>
              <a:t>produces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</a:rPr>
              <a:t>Result - 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diagnosis that patient X has a disorder that bears the disease flu</a:t>
            </a: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663641-80A2-8549-B407-FA4A472A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651488-D4E4-4741-AF8C-217BC5AD5D8F}" type="slidenum">
              <a:rPr lang="en-US" altLang="fr-FR"/>
              <a:pPr/>
              <a:t>40</a:t>
            </a:fld>
            <a:endParaRPr lang="en-US" altLang="fr-FR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2B0F70D-92E9-A54D-99DF-9683445C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0" y="1998564"/>
            <a:ext cx="5648169" cy="4478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Times New Roman" panose="02020603050405020304" pitchFamily="18" charset="0"/>
              </a:rPr>
              <a:t>Etiological process - infection of airway epithelial cells with influenza virus</a:t>
            </a:r>
          </a:p>
          <a:p>
            <a:pPr lvl="1"/>
            <a:r>
              <a:rPr lang="en-US" altLang="en-US" sz="1800" i="1" dirty="0">
                <a:latin typeface="Times New Roman" panose="02020603050405020304" pitchFamily="18" charset="0"/>
              </a:rPr>
              <a:t>produces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Disorder - viable cells with influenza virus</a:t>
            </a:r>
          </a:p>
          <a:p>
            <a:pPr lvl="1"/>
            <a:r>
              <a:rPr lang="en-US" altLang="en-US" sz="1800" i="1" dirty="0">
                <a:latin typeface="Times New Roman" panose="02020603050405020304" pitchFamily="18" charset="0"/>
              </a:rPr>
              <a:t>bears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Disposition (disease) - flu</a:t>
            </a:r>
          </a:p>
          <a:p>
            <a:pPr lvl="1"/>
            <a:r>
              <a:rPr lang="en-US" altLang="en-US" sz="1800" i="1" dirty="0" err="1">
                <a:latin typeface="Times New Roman" panose="02020603050405020304" pitchFamily="18" charset="0"/>
              </a:rPr>
              <a:t>realized_in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Pathological process - acute inflammation</a:t>
            </a:r>
          </a:p>
          <a:p>
            <a:pPr lvl="1"/>
            <a:r>
              <a:rPr lang="en-US" altLang="en-US" sz="1800" i="1" dirty="0">
                <a:latin typeface="Times New Roman" panose="02020603050405020304" pitchFamily="18" charset="0"/>
              </a:rPr>
              <a:t>produces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Abnormal bodily features</a:t>
            </a:r>
          </a:p>
          <a:p>
            <a:pPr lvl="1"/>
            <a:r>
              <a:rPr lang="en-US" altLang="en-US" sz="1800" i="1" dirty="0" err="1">
                <a:latin typeface="Times New Roman" panose="02020603050405020304" pitchFamily="18" charset="0"/>
              </a:rPr>
              <a:t>recognized_as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Symptoms - weakness, dizziness</a:t>
            </a:r>
          </a:p>
          <a:p>
            <a:r>
              <a:rPr lang="en-US" altLang="en-US" sz="1800" dirty="0">
                <a:latin typeface="Times New Roman" panose="02020603050405020304" pitchFamily="18" charset="0"/>
              </a:rPr>
              <a:t>Signs - fever</a:t>
            </a:r>
          </a:p>
        </p:txBody>
      </p:sp>
    </p:spTree>
    <p:extLst>
      <p:ext uri="{BB962C8B-B14F-4D97-AF65-F5344CB8AC3E}">
        <p14:creationId xmlns:p14="http://schemas.microsoft.com/office/powerpoint/2010/main" val="2940357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5E97A-60FA-094F-BC34-62778E6C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/>
              <a:t>PDRO: Prescription of </a:t>
            </a:r>
            <a:r>
              <a:rPr lang="fr-FR" sz="3200" dirty="0" err="1"/>
              <a:t>Drugs</a:t>
            </a:r>
            <a:r>
              <a:rPr lang="fr-FR" sz="3200" dirty="0"/>
              <a:t> </a:t>
            </a:r>
            <a:r>
              <a:rPr lang="fr-FR" sz="3200" dirty="0" err="1"/>
              <a:t>Ontology</a:t>
            </a:r>
            <a:r>
              <a:rPr lang="fr-FR" sz="3200" dirty="0"/>
              <a:t> (extrait)</a:t>
            </a:r>
            <a:br>
              <a:rPr lang="fr-FR" sz="3200" dirty="0"/>
            </a:br>
            <a:r>
              <a:rPr lang="fr-CA" sz="1800" dirty="0"/>
              <a:t>Ethier, J. F., </a:t>
            </a:r>
            <a:r>
              <a:rPr lang="fr-CA" sz="1800" dirty="0" err="1"/>
              <a:t>Goyer</a:t>
            </a:r>
            <a:r>
              <a:rPr lang="fr-CA" sz="1800" dirty="0"/>
              <a:t>, F., Fabry, P., &amp; Barton, A. (2021). The prescription of </a:t>
            </a:r>
            <a:r>
              <a:rPr lang="fr-CA" sz="1800" dirty="0" err="1"/>
              <a:t>drug</a:t>
            </a:r>
            <a:r>
              <a:rPr lang="fr-CA" sz="1800" dirty="0"/>
              <a:t> </a:t>
            </a:r>
            <a:r>
              <a:rPr lang="fr-CA" sz="1800" dirty="0" err="1"/>
              <a:t>ontology</a:t>
            </a:r>
            <a:r>
              <a:rPr lang="fr-CA" sz="1800" dirty="0"/>
              <a:t> 2.0 (PDRO): more </a:t>
            </a:r>
            <a:r>
              <a:rPr lang="fr-CA" sz="1800" dirty="0" err="1"/>
              <a:t>than</a:t>
            </a:r>
            <a:r>
              <a:rPr lang="fr-CA" sz="1800" dirty="0"/>
              <a:t> the </a:t>
            </a:r>
            <a:r>
              <a:rPr lang="fr-CA" sz="1800" dirty="0" err="1"/>
              <a:t>sum</a:t>
            </a:r>
            <a:r>
              <a:rPr lang="fr-CA" sz="1800" dirty="0"/>
              <a:t> of </a:t>
            </a:r>
            <a:r>
              <a:rPr lang="fr-CA" sz="1800" dirty="0" err="1"/>
              <a:t>its</a:t>
            </a:r>
            <a:r>
              <a:rPr lang="fr-CA" sz="1800" dirty="0"/>
              <a:t> parts. </a:t>
            </a:r>
            <a:r>
              <a:rPr lang="fr-CA" sz="1800" i="1" dirty="0"/>
              <a:t>International Journal of </a:t>
            </a:r>
            <a:r>
              <a:rPr lang="fr-CA" sz="1800" i="1" dirty="0" err="1"/>
              <a:t>Environmental</a:t>
            </a:r>
            <a:r>
              <a:rPr lang="fr-CA" sz="1800" i="1" dirty="0"/>
              <a:t> </a:t>
            </a:r>
            <a:r>
              <a:rPr lang="fr-CA" sz="1800" i="1" dirty="0" err="1"/>
              <a:t>Research</a:t>
            </a:r>
            <a:r>
              <a:rPr lang="fr-CA" sz="1800" i="1" dirty="0"/>
              <a:t> and Public </a:t>
            </a:r>
            <a:r>
              <a:rPr lang="fr-CA" sz="1800" i="1" dirty="0" err="1"/>
              <a:t>Health</a:t>
            </a:r>
            <a:r>
              <a:rPr lang="fr-CA" sz="1800" dirty="0"/>
              <a:t>, </a:t>
            </a:r>
            <a:r>
              <a:rPr lang="fr-CA" sz="1800" i="1" dirty="0"/>
              <a:t>18</a:t>
            </a:r>
            <a:r>
              <a:rPr lang="fr-CA" sz="1800" dirty="0"/>
              <a:t>(22), 12025.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AB2785-58F0-5846-B4D9-85F11F05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CEC0-781F-40C1-B08D-F69FEDD831C3}" type="slidenum">
              <a:rPr lang="de-DE" smtClean="0"/>
              <a:pPr/>
              <a:t>41</a:t>
            </a:fld>
            <a:endParaRPr lang="de-DE"/>
          </a:p>
        </p:txBody>
      </p:sp>
      <p:graphicFrame>
        <p:nvGraphicFramePr>
          <p:cNvPr id="9" name="Espace réservé du contenu 4">
            <a:extLst>
              <a:ext uri="{FF2B5EF4-FFF2-40B4-BE49-F238E27FC236}">
                <a16:creationId xmlns:a16="http://schemas.microsoft.com/office/drawing/2014/main" id="{38441512-595F-1149-B9BC-C1709D28DC62}"/>
              </a:ext>
            </a:extLst>
          </p:cNvPr>
          <p:cNvGraphicFramePr>
            <a:graphicFrameLocks/>
          </p:cNvGraphicFramePr>
          <p:nvPr/>
        </p:nvGraphicFramePr>
        <p:xfrm>
          <a:off x="1820416" y="1436640"/>
          <a:ext cx="8884096" cy="5592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82B2AD0-0149-6D4E-B6D4-9E47E070272B}"/>
              </a:ext>
            </a:extLst>
          </p:cNvPr>
          <p:cNvCxnSpPr/>
          <p:nvPr/>
        </p:nvCxnSpPr>
        <p:spPr>
          <a:xfrm>
            <a:off x="10208302" y="2488367"/>
            <a:ext cx="0" cy="79447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CC187D3-B666-B04B-837A-5E620F78B046}"/>
              </a:ext>
            </a:extLst>
          </p:cNvPr>
          <p:cNvSpPr/>
          <p:nvPr/>
        </p:nvSpPr>
        <p:spPr>
          <a:xfrm>
            <a:off x="10270872" y="2375490"/>
            <a:ext cx="1339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fr-FR" dirty="0"/>
          </a:p>
          <a:p>
            <a:pPr lvl="0"/>
            <a:r>
              <a:rPr lang="fr-FR" b="1" dirty="0" err="1"/>
              <a:t>has_part</a:t>
            </a:r>
            <a:endParaRPr lang="fr-FR" dirty="0"/>
          </a:p>
        </p:txBody>
      </p:sp>
      <p:sp>
        <p:nvSpPr>
          <p:cNvPr id="42" name="Accolade ouvrante 41">
            <a:extLst>
              <a:ext uri="{FF2B5EF4-FFF2-40B4-BE49-F238E27FC236}">
                <a16:creationId xmlns:a16="http://schemas.microsoft.com/office/drawing/2014/main" id="{5DAC6612-29DE-9142-AA90-4898F3123769}"/>
              </a:ext>
            </a:extLst>
          </p:cNvPr>
          <p:cNvSpPr/>
          <p:nvPr/>
        </p:nvSpPr>
        <p:spPr>
          <a:xfrm>
            <a:off x="1636945" y="2065007"/>
            <a:ext cx="366941" cy="433602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244189-CEEF-9E47-A388-B8F5AE9A951F}"/>
              </a:ext>
            </a:extLst>
          </p:cNvPr>
          <p:cNvSpPr/>
          <p:nvPr/>
        </p:nvSpPr>
        <p:spPr>
          <a:xfrm>
            <a:off x="385002" y="3767052"/>
            <a:ext cx="12486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fr-FR" sz="1400" i="1" dirty="0"/>
          </a:p>
          <a:p>
            <a:pPr lvl="0" algn="ctr"/>
            <a:r>
              <a:rPr lang="fr-FR" sz="1400" i="1" dirty="0"/>
              <a:t>Information content </a:t>
            </a:r>
            <a:r>
              <a:rPr lang="fr-FR" sz="1400" i="1" dirty="0" err="1"/>
              <a:t>entity</a:t>
            </a:r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394218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D3711-DEB0-A64A-82EF-1F98A21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Comment représenter formellement une ontologie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C73DCF-8B9E-8F4F-966B-C8A9C6A36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00" y="1748902"/>
            <a:ext cx="3609188" cy="3473227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Langages logiques : </a:t>
            </a:r>
          </a:p>
          <a:p>
            <a:pPr lvl="1"/>
            <a:r>
              <a:rPr lang="fr-FR" dirty="0"/>
              <a:t>logique du premier ordre</a:t>
            </a:r>
          </a:p>
          <a:p>
            <a:pPr lvl="1"/>
            <a:r>
              <a:rPr lang="fr-FR" dirty="0"/>
              <a:t>logique des description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Langages informatiques :</a:t>
            </a:r>
          </a:p>
          <a:p>
            <a:pPr lvl="1"/>
            <a:r>
              <a:rPr lang="fr-FR" dirty="0"/>
              <a:t>RDF, RDFS</a:t>
            </a:r>
          </a:p>
          <a:p>
            <a:pPr lvl="1"/>
            <a:r>
              <a:rPr lang="fr-FR" dirty="0"/>
              <a:t>OWL</a:t>
            </a:r>
          </a:p>
          <a:p>
            <a:pPr lvl="1"/>
            <a:r>
              <a:rPr lang="fr-FR" dirty="0"/>
              <a:t>CLIF</a:t>
            </a:r>
          </a:p>
          <a:p>
            <a:pPr lvl="1"/>
            <a:r>
              <a:rPr lang="fr-FR" dirty="0"/>
              <a:t>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923A7D-B4B9-634B-8411-948637D6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42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4ECD2F-2C0E-C24D-A3EF-CF129E3B44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9542" y="2233830"/>
            <a:ext cx="6577620" cy="38013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7B41533-925A-3E4B-9E13-AFBC0EF370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1045" y="2568998"/>
            <a:ext cx="6676844" cy="4331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D4476F-8DE6-644F-83D3-47350DDBDBB1}"/>
              </a:ext>
            </a:extLst>
          </p:cNvPr>
          <p:cNvSpPr/>
          <p:nvPr/>
        </p:nvSpPr>
        <p:spPr>
          <a:xfrm>
            <a:off x="7569983" y="3702558"/>
            <a:ext cx="3725545" cy="714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fr-CA" sz="2000" dirty="0" err="1"/>
              <a:t>Snape</a:t>
            </a:r>
            <a:r>
              <a:rPr lang="fr-CA" sz="2000" dirty="0"/>
              <a:t> </a:t>
            </a:r>
            <a:r>
              <a:rPr lang="fr-CA" sz="2000" dirty="0" err="1"/>
              <a:t>teaches</a:t>
            </a:r>
            <a:r>
              <a:rPr lang="fr-CA" sz="2000" dirty="0"/>
              <a:t> Harry</a:t>
            </a:r>
          </a:p>
          <a:p>
            <a:pPr lvl="1"/>
            <a:r>
              <a:rPr lang="fr-CA" sz="2000" dirty="0" err="1"/>
              <a:t>Student</a:t>
            </a:r>
            <a:r>
              <a:rPr lang="fr-CA" sz="2000" dirty="0"/>
              <a:t> </a:t>
            </a:r>
            <a:r>
              <a:rPr lang="fr-CA" sz="2000" dirty="0" err="1"/>
              <a:t>SubClassOf</a:t>
            </a:r>
            <a:r>
              <a:rPr lang="fr-CA" sz="2000" dirty="0"/>
              <a:t> Person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F50BF-951A-9147-B8CB-0F3BCD59D5EA}"/>
              </a:ext>
            </a:extLst>
          </p:cNvPr>
          <p:cNvSpPr/>
          <p:nvPr/>
        </p:nvSpPr>
        <p:spPr>
          <a:xfrm>
            <a:off x="1363678" y="4119098"/>
            <a:ext cx="622442" cy="27853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5B4CE6-6E8B-114E-B109-225EBE3FDEEA}"/>
              </a:ext>
            </a:extLst>
          </p:cNvPr>
          <p:cNvSpPr/>
          <p:nvPr/>
        </p:nvSpPr>
        <p:spPr>
          <a:xfrm>
            <a:off x="4251130" y="6162804"/>
            <a:ext cx="21852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14:30 – 16:00</a:t>
            </a:r>
          </a:p>
          <a:p>
            <a:r>
              <a:rPr lang="fr-FR" dirty="0"/>
              <a:t>Ontologie des pizzas 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024E33B-B071-564A-9262-7B72B028227B}"/>
              </a:ext>
            </a:extLst>
          </p:cNvPr>
          <p:cNvCxnSpPr>
            <a:cxnSpLocks/>
          </p:cNvCxnSpPr>
          <p:nvPr/>
        </p:nvCxnSpPr>
        <p:spPr>
          <a:xfrm>
            <a:off x="1986120" y="4278225"/>
            <a:ext cx="2174925" cy="9561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BC956242-B0D9-994F-B007-109FAB477AD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4251130" y="4906615"/>
            <a:ext cx="1728327" cy="12801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C200DF-394B-BA4E-BFFF-76F02DC28887}"/>
              </a:ext>
            </a:extLst>
          </p:cNvPr>
          <p:cNvSpPr/>
          <p:nvPr/>
        </p:nvSpPr>
        <p:spPr>
          <a:xfrm>
            <a:off x="3700291" y="4127518"/>
            <a:ext cx="35637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fr-CA" sz="2000" dirty="0"/>
              <a:t>Pizza </a:t>
            </a:r>
            <a:r>
              <a:rPr lang="fr-CA" sz="2000" dirty="0" err="1"/>
              <a:t>SubClassOf</a:t>
            </a:r>
            <a:r>
              <a:rPr lang="fr-CA" sz="2000" dirty="0"/>
              <a:t> </a:t>
            </a:r>
          </a:p>
          <a:p>
            <a:pPr lvl="1"/>
            <a:r>
              <a:rPr lang="fr-CA" sz="2000" dirty="0"/>
              <a:t>(</a:t>
            </a:r>
            <a:r>
              <a:rPr lang="fr-CA" sz="2000" dirty="0" err="1"/>
              <a:t>has_topping</a:t>
            </a:r>
            <a:r>
              <a:rPr lang="fr-CA" sz="2000" dirty="0"/>
              <a:t> min 1 </a:t>
            </a:r>
            <a:r>
              <a:rPr lang="fr-CA" sz="2000" dirty="0" err="1"/>
              <a:t>Topping</a:t>
            </a:r>
            <a:r>
              <a:rPr lang="fr-CA" sz="2000" dirty="0"/>
              <a:t>)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7D5E6A7-D142-774D-B2CB-4015D8B36D3D}"/>
              </a:ext>
            </a:extLst>
          </p:cNvPr>
          <p:cNvCxnSpPr>
            <a:cxnSpLocks/>
          </p:cNvCxnSpPr>
          <p:nvPr/>
        </p:nvCxnSpPr>
        <p:spPr>
          <a:xfrm>
            <a:off x="2259106" y="3920467"/>
            <a:ext cx="5692588" cy="9204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A92FF49-A58E-6341-BC0D-6A9D8394E8CE}"/>
              </a:ext>
            </a:extLst>
          </p:cNvPr>
          <p:cNvSpPr/>
          <p:nvPr/>
        </p:nvSpPr>
        <p:spPr>
          <a:xfrm>
            <a:off x="1363678" y="3665722"/>
            <a:ext cx="895428" cy="4533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6503EC-A3DC-D74A-A68A-66D1DF83222F}"/>
              </a:ext>
            </a:extLst>
          </p:cNvPr>
          <p:cNvSpPr/>
          <p:nvPr/>
        </p:nvSpPr>
        <p:spPr>
          <a:xfrm>
            <a:off x="7986648" y="5996065"/>
            <a:ext cx="36241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10:30 – 12:30</a:t>
            </a:r>
          </a:p>
          <a:p>
            <a:r>
              <a:rPr lang="fr-FR" dirty="0"/>
              <a:t>Introduction RDF, RDFS et SPARQL 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6D068D8-2758-7043-A4F0-505A3CEE2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747" y="4425227"/>
            <a:ext cx="1448585" cy="14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2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2" grpId="0" animBg="1"/>
      <p:bldP spid="13" grpId="0"/>
      <p:bldP spid="5" grpId="0"/>
      <p:bldP spid="20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19B1E-26EE-5C42-A1CC-4A34860DD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1157767"/>
            <a:ext cx="10993549" cy="585731"/>
          </a:xfrm>
        </p:spPr>
        <p:txBody>
          <a:bodyPr>
            <a:normAutofit fontScale="90000"/>
          </a:bodyPr>
          <a:lstStyle/>
          <a:p>
            <a:r>
              <a:rPr lang="fr-FR" dirty="0"/>
              <a:t>Questions ?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E5ED5E-CA7B-FE4B-A933-F6F70265D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8" y="1628312"/>
            <a:ext cx="10993546" cy="524685"/>
          </a:xfrm>
        </p:spPr>
        <p:txBody>
          <a:bodyPr/>
          <a:lstStyle/>
          <a:p>
            <a:r>
              <a:rPr lang="fr-FR" dirty="0" err="1"/>
              <a:t>adrien.barton@gmail.com</a:t>
            </a:r>
            <a:endParaRPr lang="fr-FR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6BC51B70-AE6C-6741-B9AE-A0F900A76580}"/>
              </a:ext>
            </a:extLst>
          </p:cNvPr>
          <p:cNvSpPr txBox="1">
            <a:spLocks/>
          </p:cNvSpPr>
          <p:nvPr/>
        </p:nvSpPr>
        <p:spPr>
          <a:xfrm>
            <a:off x="3818024" y="6466154"/>
            <a:ext cx="7635627" cy="39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0" i="0" kern="1200" cap="none" baseline="0">
                <a:solidFill>
                  <a:schemeClr val="accent4"/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1pPr>
            <a:lvl2pPr marL="4572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2pPr>
            <a:lvl3pPr marL="9144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3pPr>
            <a:lvl4pPr marL="13716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4pPr>
            <a:lvl5pPr marL="18288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Remerciements à Barry Smith pour certaines diapos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F210AD5-AF65-5046-A092-B716B3914985}"/>
              </a:ext>
            </a:extLst>
          </p:cNvPr>
          <p:cNvSpPr txBox="1">
            <a:spLocks/>
          </p:cNvSpPr>
          <p:nvPr/>
        </p:nvSpPr>
        <p:spPr>
          <a:xfrm>
            <a:off x="822573" y="2770903"/>
            <a:ext cx="496337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0" i="0" kern="1200" cap="none" baseline="0">
                <a:solidFill>
                  <a:schemeClr val="accent4"/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1pPr>
            <a:lvl2pPr marL="4572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2pPr>
            <a:lvl3pPr marL="9144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3pPr>
            <a:lvl4pPr marL="13716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4pPr>
            <a:lvl5pPr marL="18288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Collaborateurs (ontologies) du GRIIS :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Anita </a:t>
            </a:r>
            <a:r>
              <a:rPr lang="fr-FR" dirty="0" err="1"/>
              <a:t>Burgun</a:t>
            </a:r>
            <a:endParaRPr lang="fr-FR" dirty="0"/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Jean-François Ethier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Paul Fabry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François </a:t>
            </a:r>
            <a:r>
              <a:rPr lang="fr-FR" dirty="0" err="1"/>
              <a:t>Goyer</a:t>
            </a:r>
            <a:endParaRPr lang="fr-FR" dirty="0"/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Olivier Grenier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Christina </a:t>
            </a:r>
            <a:r>
              <a:rPr lang="fr-FR" dirty="0" err="1"/>
              <a:t>Khnaisser</a:t>
            </a:r>
            <a:endParaRPr lang="fr-FR" dirty="0"/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Luc Lavoie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 err="1"/>
              <a:t>Ryeyan</a:t>
            </a:r>
            <a:r>
              <a:rPr lang="fr-FR" dirty="0"/>
              <a:t> </a:t>
            </a:r>
            <a:r>
              <a:rPr lang="fr-FR" dirty="0" err="1"/>
              <a:t>Taseen</a:t>
            </a:r>
            <a:endParaRPr lang="fr-FR" dirty="0"/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…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6E36D3C-E134-9D46-8AB5-44A9EC140E11}"/>
              </a:ext>
            </a:extLst>
          </p:cNvPr>
          <p:cNvSpPr txBox="1">
            <a:spLocks/>
          </p:cNvSpPr>
          <p:nvPr/>
        </p:nvSpPr>
        <p:spPr>
          <a:xfrm>
            <a:off x="6445608" y="2823391"/>
            <a:ext cx="496337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0" i="0" kern="1200" cap="none" baseline="0">
                <a:solidFill>
                  <a:schemeClr val="accent4"/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1pPr>
            <a:lvl2pPr marL="4572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2pPr>
            <a:lvl3pPr marL="9144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3pPr>
            <a:lvl4pPr marL="13716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4pPr>
            <a:lvl5pPr marL="18288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Collaborateurs (ontologies) extérieurs au GRIIS :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William Duncan (</a:t>
            </a:r>
            <a:r>
              <a:rPr lang="fr-FR" dirty="0" err="1"/>
              <a:t>Lawerence</a:t>
            </a:r>
            <a:r>
              <a:rPr lang="fr-FR" dirty="0"/>
              <a:t> Berkeley National </a:t>
            </a:r>
            <a:r>
              <a:rPr lang="fr-FR" dirty="0" err="1"/>
              <a:t>Laboratory</a:t>
            </a:r>
            <a:r>
              <a:rPr lang="fr-FR" dirty="0"/>
              <a:t>, USA)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 err="1"/>
              <a:t>Ludger</a:t>
            </a:r>
            <a:r>
              <a:rPr lang="fr-FR" dirty="0"/>
              <a:t> Jansen (</a:t>
            </a:r>
            <a:r>
              <a:rPr lang="fr-CA" dirty="0"/>
              <a:t>Institut de Philosophie, Université de Rostock, Allemagne)</a:t>
            </a:r>
            <a:endParaRPr lang="fr-FR" dirty="0"/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Arnaud Rosier (</a:t>
            </a:r>
            <a:r>
              <a:rPr lang="fr-FR" dirty="0" err="1"/>
              <a:t>Implicity</a:t>
            </a:r>
            <a:r>
              <a:rPr lang="fr-FR" dirty="0"/>
              <a:t>, Paris, France)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Cédric </a:t>
            </a:r>
            <a:r>
              <a:rPr lang="fr-FR" dirty="0" err="1"/>
              <a:t>Tarbouriech</a:t>
            </a:r>
            <a:r>
              <a:rPr lang="fr-FR" dirty="0"/>
              <a:t> (IRIT, Toulouse, France)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 err="1"/>
              <a:t>Fumiaki</a:t>
            </a:r>
            <a:r>
              <a:rPr lang="fr-FR" dirty="0"/>
              <a:t> </a:t>
            </a:r>
            <a:r>
              <a:rPr lang="fr-FR" dirty="0" err="1"/>
              <a:t>Toyoshima</a:t>
            </a:r>
            <a:r>
              <a:rPr lang="fr-FR" dirty="0"/>
              <a:t> (Université de Neuchâtel, Suisse)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Laure </a:t>
            </a:r>
            <a:r>
              <a:rPr lang="fr-FR" dirty="0" err="1"/>
              <a:t>Vieu</a:t>
            </a:r>
            <a:r>
              <a:rPr lang="fr-FR" dirty="0"/>
              <a:t> (IRIT, Toulouse, France)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fr-FR" dirty="0"/>
              <a:t>…</a:t>
            </a:r>
          </a:p>
        </p:txBody>
      </p:sp>
      <p:sp>
        <p:nvSpPr>
          <p:cNvPr id="9" name="Sous-titre 5">
            <a:extLst>
              <a:ext uri="{FF2B5EF4-FFF2-40B4-BE49-F238E27FC236}">
                <a16:creationId xmlns:a16="http://schemas.microsoft.com/office/drawing/2014/main" id="{1AEA7147-BD29-3B42-9DED-D6A9BC66877E}"/>
              </a:ext>
            </a:extLst>
          </p:cNvPr>
          <p:cNvSpPr txBox="1">
            <a:spLocks/>
          </p:cNvSpPr>
          <p:nvPr/>
        </p:nvSpPr>
        <p:spPr>
          <a:xfrm>
            <a:off x="599225" y="2198454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0" i="0" kern="1200" cap="none" baseline="0">
                <a:solidFill>
                  <a:schemeClr val="accent4"/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1pPr>
            <a:lvl2pPr marL="4572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2pPr>
            <a:lvl3pPr marL="9144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3pPr>
            <a:lvl4pPr marL="13716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4pPr>
            <a:lvl5pPr marL="1828800" indent="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FiraGO" panose="020B0503050000020004" pitchFamily="34" charset="0"/>
                <a:ea typeface="+mn-ea"/>
                <a:cs typeface="FiraGO" panose="020B05030500000200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 dirty="0"/>
              <a:t> </a:t>
            </a:r>
            <a:r>
              <a:rPr lang="fr-CA" sz="2000" b="1" dirty="0"/>
              <a:t>École d’été interdisciplinaire en numérique de la santé (EINS 2026)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99187665"/>
      </p:ext>
    </p:extLst>
  </p:cSld>
  <p:clrMapOvr>
    <a:masterClrMapping/>
  </p:clrMapOvr>
</p:sld>
</file>

<file path=ppt/theme/theme1.xml><?xml version="1.0" encoding="utf-8"?>
<a:theme xmlns:a="http://schemas.openxmlformats.org/drawingml/2006/main" name="griis-v4.2">
  <a:themeElements>
    <a:clrScheme name="GRIIS v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6EA1C5"/>
      </a:accent1>
      <a:accent2>
        <a:srgbClr val="EF8354"/>
      </a:accent2>
      <a:accent3>
        <a:srgbClr val="FBE773"/>
      </a:accent3>
      <a:accent4>
        <a:srgbClr val="666666"/>
      </a:accent4>
      <a:accent5>
        <a:srgbClr val="E95516"/>
      </a:accent5>
      <a:accent6>
        <a:srgbClr val="6EA1C5"/>
      </a:accent6>
      <a:hlink>
        <a:srgbClr val="6EA1C5"/>
      </a:hlink>
      <a:folHlink>
        <a:srgbClr val="6EA1C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IS-modele-v4.1" id="{59163696-97A3-F744-A223-654211A48356}" vid="{DAC9186B-E86C-6B43-9826-B4D0A9E7088E}"/>
    </a:ext>
  </a:extLst>
</a:theme>
</file>

<file path=ppt/theme/theme2.xml><?xml version="1.0" encoding="utf-8"?>
<a:theme xmlns:a="http://schemas.openxmlformats.org/drawingml/2006/main" name="griis+unité-v4.2">
  <a:themeElements>
    <a:clrScheme name="GRIIS v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6EA1C5"/>
      </a:accent1>
      <a:accent2>
        <a:srgbClr val="EF8354"/>
      </a:accent2>
      <a:accent3>
        <a:srgbClr val="FBE773"/>
      </a:accent3>
      <a:accent4>
        <a:srgbClr val="666666"/>
      </a:accent4>
      <a:accent5>
        <a:srgbClr val="E95516"/>
      </a:accent5>
      <a:accent6>
        <a:srgbClr val="6EA1C5"/>
      </a:accent6>
      <a:hlink>
        <a:srgbClr val="6EA1C5"/>
      </a:hlink>
      <a:folHlink>
        <a:srgbClr val="6EA1C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IS-modele-v4.1" id="{59163696-97A3-F744-A223-654211A48356}" vid="{214BF3EB-C1E0-6E4E-B21C-3B8326BEADDB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GRIIS-modele-v4.2</Template>
  <TotalTime>11596</TotalTime>
  <Words>2178</Words>
  <Application>Microsoft Macintosh PowerPoint</Application>
  <PresentationFormat>Grand écran</PresentationFormat>
  <Paragraphs>421</Paragraphs>
  <Slides>43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43</vt:i4>
      </vt:variant>
    </vt:vector>
  </HeadingPairs>
  <TitlesOfParts>
    <vt:vector size="54" baseType="lpstr">
      <vt:lpstr>FiraGO Medium</vt:lpstr>
      <vt:lpstr>Wingdings 2</vt:lpstr>
      <vt:lpstr>Calibri</vt:lpstr>
      <vt:lpstr>Wingdings</vt:lpstr>
      <vt:lpstr>Gill Sans MT</vt:lpstr>
      <vt:lpstr>FiraGO Light</vt:lpstr>
      <vt:lpstr>FiraGO</vt:lpstr>
      <vt:lpstr>Times New Roman</vt:lpstr>
      <vt:lpstr>Arial</vt:lpstr>
      <vt:lpstr>griis-v4.2</vt:lpstr>
      <vt:lpstr>griis+unité-v4.2</vt:lpstr>
      <vt:lpstr>Introduction aux ontologies biomédicales</vt:lpstr>
      <vt:lpstr>Plan</vt:lpstr>
      <vt:lpstr>Partie 1 : Les ontologies comme solution au problème de Babel  de l’informatique médicale</vt:lpstr>
      <vt:lpstr>Les données médicales au Québec aujourd’hui </vt:lpstr>
      <vt:lpstr>Les données médicales au Québec aujourd’hui </vt:lpstr>
      <vt:lpstr>Un défi pour la mise au point de systèmes de santé apprenants</vt:lpstr>
      <vt:lpstr>Approche du GRIIS : Utiliser les ontologies</vt:lpstr>
      <vt:lpstr>Terminologies, taxonomies et ontologies</vt:lpstr>
      <vt:lpstr>Terminologie</vt:lpstr>
      <vt:lpstr>Taxonomie</vt:lpstr>
      <vt:lpstr>Ontologie</vt:lpstr>
      <vt:lpstr>Ontologie de domaine</vt:lpstr>
      <vt:lpstr>Moteurs de recherche pour ontologies</vt:lpstr>
      <vt:lpstr>Les ontologies comme légendes pour les bases de données</vt:lpstr>
      <vt:lpstr>Utilisation d’une ontologie pour créer un modèle de base de données relationnelle</vt:lpstr>
      <vt:lpstr>Partie 2 : Les différents niveaux d’ontologie</vt:lpstr>
      <vt:lpstr>Difficultés</vt:lpstr>
      <vt:lpstr>Solution</vt:lpstr>
      <vt:lpstr>Quatre types d’ontologies</vt:lpstr>
      <vt:lpstr>Ontologies de haut niveau</vt:lpstr>
      <vt:lpstr>Contexte interdisciplinaire</vt:lpstr>
      <vt:lpstr>L’apport de la philosophie</vt:lpstr>
      <vt:lpstr>BFO (Basic Formal Ontology)</vt:lpstr>
      <vt:lpstr>Continuants et occurrents</vt:lpstr>
      <vt:lpstr>Continuants indépendants et dépendants Universaux et particuliers</vt:lpstr>
      <vt:lpstr>Continuants indépendants et dépendants Universaux et particuliers</vt:lpstr>
      <vt:lpstr>Partie 3 :  Définitions textuelles et formelles</vt:lpstr>
      <vt:lpstr>Le besoin de définitions textuelles : Eviter les imprécisions de pensée</vt:lpstr>
      <vt:lpstr>Ambiguïté</vt:lpstr>
      <vt:lpstr>Circularité</vt:lpstr>
      <vt:lpstr>Confusion “utilisation-mention” (“use-mention”)</vt:lpstr>
      <vt:lpstr>Un modèle utile :  la définition aristotélicienne</vt:lpstr>
      <vt:lpstr>Application à la classification :  l’exemple de la maladie</vt:lpstr>
      <vt:lpstr>OGMS : Une ontologie générale de la maladie Scheuermann, R. H., Ceusters, W., &amp; Smith, B. (2009). Toward an ontological treatment of disease and diagnosis. Summit on translational bioinformatics, 2009, 116.</vt:lpstr>
      <vt:lpstr>Cardiovascular Disease Ontology:  Quelques exemples de classes</vt:lpstr>
      <vt:lpstr>Les définitions en ontologie </vt:lpstr>
      <vt:lpstr>Classification automatique  des maladies</vt:lpstr>
      <vt:lpstr>Présentation PowerPoint</vt:lpstr>
      <vt:lpstr>Présentation PowerPoint</vt:lpstr>
      <vt:lpstr>Influenza (infectious disease)</vt:lpstr>
      <vt:lpstr>PDRO: Prescription of Drugs Ontology (extrait) Ethier, J. F., Goyer, F., Fabry, P., &amp; Barton, A. (2021). The prescription of drug ontology 2.0 (PDRO): more than the sum of its parts. International Journal of Environmental Research and Public Health, 18(22), 12025.</vt:lpstr>
      <vt:lpstr>Comment représenter formellement une ontologie ?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officiel pour les présentations internes et externes</dc:title>
  <dc:creator>Roxanne Dault</dc:creator>
  <cp:lastModifiedBy>Adrien B</cp:lastModifiedBy>
  <cp:revision>415</cp:revision>
  <dcterms:created xsi:type="dcterms:W3CDTF">2021-04-14T19:08:58Z</dcterms:created>
  <dcterms:modified xsi:type="dcterms:W3CDTF">2026-05-24T18:49:43Z</dcterms:modified>
</cp:coreProperties>
</file>