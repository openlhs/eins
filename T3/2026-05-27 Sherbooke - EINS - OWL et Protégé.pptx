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436" r:id="rId2"/>
    <p:sldId id="407" r:id="rId3"/>
    <p:sldId id="438" r:id="rId4"/>
    <p:sldId id="419" r:id="rId5"/>
    <p:sldId id="420" r:id="rId6"/>
    <p:sldId id="421" r:id="rId7"/>
    <p:sldId id="350" r:id="rId8"/>
    <p:sldId id="351" r:id="rId9"/>
    <p:sldId id="352" r:id="rId10"/>
    <p:sldId id="435" r:id="rId11"/>
    <p:sldId id="410" r:id="rId12"/>
    <p:sldId id="411" r:id="rId13"/>
    <p:sldId id="412" r:id="rId14"/>
    <p:sldId id="413" r:id="rId15"/>
    <p:sldId id="414" r:id="rId16"/>
    <p:sldId id="415" r:id="rId17"/>
    <p:sldId id="416" r:id="rId18"/>
    <p:sldId id="506" r:id="rId19"/>
    <p:sldId id="507" r:id="rId20"/>
    <p:sldId id="500" r:id="rId21"/>
    <p:sldId id="510" r:id="rId22"/>
    <p:sldId id="418" r:id="rId23"/>
    <p:sldId id="422" r:id="rId24"/>
    <p:sldId id="512" r:id="rId25"/>
    <p:sldId id="424" r:id="rId26"/>
    <p:sldId id="378" r:id="rId27"/>
    <p:sldId id="491" r:id="rId28"/>
    <p:sldId id="492" r:id="rId29"/>
    <p:sldId id="261" r:id="rId30"/>
    <p:sldId id="373" r:id="rId31"/>
    <p:sldId id="505" r:id="rId32"/>
    <p:sldId id="511" r:id="rId33"/>
    <p:sldId id="428" r:id="rId34"/>
    <p:sldId id="430" r:id="rId35"/>
    <p:sldId id="432" r:id="rId36"/>
    <p:sldId id="441" r:id="rId37"/>
    <p:sldId id="433" r:id="rId38"/>
    <p:sldId id="509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Luc Lavoie" initials="LL [7]" lastIdx="1" clrIdx="6"/>
  <p:cmAuthor id="1" name="Luc Lavoie" initials="LL" lastIdx="1" clrIdx="0"/>
  <p:cmAuthor id="8" name="Luc Lavoie" initials="LL [8]" lastIdx="1" clrIdx="7"/>
  <p:cmAuthor id="2" name="Luc Lavoie" initials="LL [2]" lastIdx="1" clrIdx="1"/>
  <p:cmAuthor id="9" name="Luc Lavoie" initials="LL [9]" lastIdx="1" clrIdx="8"/>
  <p:cmAuthor id="3" name="Luc Lavoie" initials="LL [3]" lastIdx="1" clrIdx="2"/>
  <p:cmAuthor id="10" name="A B" initials="AB" lastIdx="1" clrIdx="9"/>
  <p:cmAuthor id="4" name="Luc Lavoie" initials="LL [4]" lastIdx="1" clrIdx="3"/>
  <p:cmAuthor id="5" name="Luc Lavoie" initials="LL [5]" lastIdx="1" clrIdx="4"/>
  <p:cmAuthor id="6" name="Luc Lavoie" initials="LL [6]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7" autoAdjust="0"/>
    <p:restoredTop sz="88836" autoAdjust="0"/>
  </p:normalViewPr>
  <p:slideViewPr>
    <p:cSldViewPr snapToGrid="0" snapToObjects="1">
      <p:cViewPr varScale="1">
        <p:scale>
          <a:sx n="112" d="100"/>
          <a:sy n="112" d="100"/>
        </p:scale>
        <p:origin x="1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CB1D9-FC52-7047-AD7C-AE3DA2D06E8E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BBF24-1896-674A-821B-4EEDBA68A2E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5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01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27EC2B-7785-4B06-827B-9E40706ECD7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46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Propriétés</a:t>
            </a:r>
            <a:r>
              <a:rPr lang="en-US" baseline="0" dirty="0"/>
              <a:t> </a:t>
            </a:r>
            <a:r>
              <a:rPr lang="en-US" baseline="0" dirty="0" err="1"/>
              <a:t>ou</a:t>
            </a:r>
            <a:r>
              <a:rPr lang="en-US" baseline="0" dirty="0"/>
              <a:t>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98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universaux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4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pizza.owl</a:t>
            </a:r>
            <a:r>
              <a:rPr lang="en-US" dirty="0"/>
              <a:t> (</a:t>
            </a:r>
            <a:r>
              <a:rPr lang="en-US" dirty="0" err="1"/>
              <a:t>sauvegarder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tant</a:t>
            </a:r>
            <a:r>
              <a:rPr lang="en-US" dirty="0"/>
              <a:t> que </a:t>
            </a:r>
            <a:r>
              <a:rPr lang="en-US" dirty="0" err="1"/>
              <a:t>rdf</a:t>
            </a:r>
            <a:r>
              <a:rPr lang="en-US" dirty="0"/>
              <a:t>/xml)</a:t>
            </a:r>
          </a:p>
          <a:p>
            <a:r>
              <a:rPr lang="en-US" dirty="0" err="1"/>
              <a:t>Créer</a:t>
            </a:r>
            <a:r>
              <a:rPr lang="en-US" dirty="0"/>
              <a:t> un </a:t>
            </a:r>
            <a:r>
              <a:rPr lang="en-US" dirty="0" err="1"/>
              <a:t>commentaire</a:t>
            </a:r>
            <a:r>
              <a:rPr lang="en-US" dirty="0"/>
              <a:t> pour </a:t>
            </a:r>
            <a:r>
              <a:rPr lang="en-US" dirty="0" err="1"/>
              <a:t>l’ontologie</a:t>
            </a:r>
            <a:endParaRPr lang="en-US" dirty="0"/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6790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74229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OWL Classes are assumed to ‘overlap’. We therefore cannot assume that an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is not a member of a particular class simply because it has not been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asserted  to be a member of that class.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25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Utiliser</a:t>
            </a:r>
            <a:r>
              <a:rPr lang="en-US" dirty="0"/>
              <a:t> suffixes pour les toppings</a:t>
            </a:r>
          </a:p>
          <a:p>
            <a:r>
              <a:rPr lang="en-US" dirty="0"/>
              <a:t>Les </a:t>
            </a:r>
            <a:r>
              <a:rPr lang="en-US" dirty="0" err="1"/>
              <a:t>rendre</a:t>
            </a:r>
            <a:r>
              <a:rPr lang="en-US" dirty="0"/>
              <a:t> </a:t>
            </a:r>
            <a:r>
              <a:rPr lang="en-US" dirty="0" err="1"/>
              <a:t>toutes</a:t>
            </a:r>
            <a:r>
              <a:rPr lang="en-US" dirty="0"/>
              <a:t> </a:t>
            </a:r>
            <a:r>
              <a:rPr lang="en-US" dirty="0" err="1"/>
              <a:t>disjointes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20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hasIngredient</a:t>
            </a:r>
            <a:r>
              <a:rPr lang="en-US" dirty="0"/>
              <a:t>: </a:t>
            </a:r>
            <a:r>
              <a:rPr lang="en-US" dirty="0" err="1"/>
              <a:t>serait</a:t>
            </a:r>
            <a:r>
              <a:rPr lang="en-US" dirty="0"/>
              <a:t> sans </a:t>
            </a:r>
            <a:r>
              <a:rPr lang="en-US" dirty="0" err="1"/>
              <a:t>doutes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sous relation de has part, </a:t>
            </a:r>
            <a:r>
              <a:rPr lang="en-US" dirty="0" err="1"/>
              <a:t>mais</a:t>
            </a:r>
            <a:r>
              <a:rPr lang="en-US" dirty="0"/>
              <a:t> on </a:t>
            </a:r>
            <a:r>
              <a:rPr lang="en-US" dirty="0" err="1"/>
              <a:t>n’entre</a:t>
            </a:r>
            <a:r>
              <a:rPr lang="en-US" dirty="0"/>
              <a:t> pas </a:t>
            </a:r>
            <a:r>
              <a:rPr lang="en-US" dirty="0" err="1"/>
              <a:t>là</a:t>
            </a:r>
            <a:r>
              <a:rPr lang="en-US" dirty="0"/>
              <a:t> dedans </a:t>
            </a:r>
            <a:r>
              <a:rPr lang="en-US" dirty="0" err="1"/>
              <a:t>ici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1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“Although we have specified the domains and ranges of various properties for the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purposes of this tutorial, we generally advise against  doing this. The fact that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and range conditions do not behave as constraints and the fact that they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cause ‘unexpected’ classification results can lead problems and unexpected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side effects. These problems and side effects can be particularly difficult to track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 in a large ontology.”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52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8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89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7541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2954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2741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D0E0D-C774-0A46-8FFA-A56A7232B337}" type="slidenum">
              <a:rPr lang="fr-CA" smtClean="0"/>
              <a:pPr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6024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importance de l'axiome de disjonction pour savoir que les garnitures de la </a:t>
            </a:r>
            <a:r>
              <a:rPr lang="fr-FR" dirty="0" err="1"/>
              <a:t>AmericanaPizza</a:t>
            </a:r>
            <a:r>
              <a:rPr lang="fr-FR" dirty="0"/>
              <a:t> sont toutes différentes</a:t>
            </a:r>
          </a:p>
          <a:p>
            <a:endParaRPr lang="fr-FR" dirty="0"/>
          </a:p>
          <a:p>
            <a:r>
              <a:rPr lang="fr-FR" dirty="0" err="1"/>
              <a:t>hasTopping</a:t>
            </a:r>
            <a:r>
              <a:rPr lang="fr-FR" dirty="0"/>
              <a:t> </a:t>
            </a:r>
            <a:r>
              <a:rPr lang="fr-FR" dirty="0" err="1"/>
              <a:t>exactly</a:t>
            </a:r>
            <a:r>
              <a:rPr lang="fr-FR" dirty="0"/>
              <a:t> 4 </a:t>
            </a:r>
            <a:r>
              <a:rPr lang="fr-FR" dirty="0" err="1"/>
              <a:t>CheeseTopping</a:t>
            </a:r>
            <a:r>
              <a:rPr lang="fr-FR" dirty="0"/>
              <a:t> est une CN, pas dans une CS, car il faut que les 4 soient différents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87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Datatype properties link an individual to an XML Schema Datatype value or 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rdf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literal. In other words, they describe relationships between an individual and data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Built in datatypes are specified in the XML schema vocabulary and include integers, floats, strings,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booleans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20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32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2BBF24-1896-674A-821B-4EEDBA68A2E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47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56682-C0EF-2348-844F-A540DFBC5A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4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4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8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3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4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7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0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34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1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3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1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60108-2D21-B749-80D9-29C04D0E375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C74F3-EE6A-0844-A8A5-3911BE91CB0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1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353" y="985846"/>
            <a:ext cx="7758953" cy="3170144"/>
          </a:xfrm>
        </p:spPr>
        <p:txBody>
          <a:bodyPr>
            <a:normAutofit/>
          </a:bodyPr>
          <a:lstStyle/>
          <a:p>
            <a:br>
              <a:rPr lang="fr-FR" dirty="0"/>
            </a:br>
            <a:r>
              <a:rPr lang="fr-FR" dirty="0"/>
              <a:t>Introduction à OWL et Protégé</a:t>
            </a:r>
            <a:br>
              <a:rPr lang="fr-FR" dirty="0"/>
            </a:br>
            <a:r>
              <a:rPr lang="fr-CA" sz="3600" dirty="0"/>
              <a:t> </a:t>
            </a:r>
            <a:r>
              <a:rPr lang="fr-CA" sz="2800" b="1" dirty="0"/>
              <a:t>École d’été Interdisciplinaire en Numérique de la Santé (EINS 2026)</a:t>
            </a:r>
            <a:endParaRPr lang="en-US" sz="3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88631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fr-CA" dirty="0"/>
              <a:t>Adrien Barton</a:t>
            </a:r>
            <a:r>
              <a:rPr lang="fr-CA" baseline="30000" dirty="0"/>
              <a:t>1,2</a:t>
            </a:r>
            <a:r>
              <a:rPr lang="fr-CA" dirty="0"/>
              <a:t>, Paul Fabry</a:t>
            </a:r>
            <a:r>
              <a:rPr lang="fr-CA" baseline="30000" dirty="0"/>
              <a:t>2</a:t>
            </a:r>
          </a:p>
          <a:p>
            <a:r>
              <a:rPr lang="fr-CA" baseline="30000" dirty="0"/>
              <a:t>1 </a:t>
            </a:r>
            <a:r>
              <a:rPr lang="fr-CA" dirty="0"/>
              <a:t>CNRS, IRIT, Université de Toulouse</a:t>
            </a:r>
          </a:p>
          <a:p>
            <a:r>
              <a:rPr lang="fr-CA" baseline="30000" dirty="0"/>
              <a:t>2 </a:t>
            </a:r>
            <a:r>
              <a:rPr lang="fr-CA" dirty="0"/>
              <a:t>GRIIS, Université de Sherbrooke</a:t>
            </a:r>
          </a:p>
          <a:p>
            <a:r>
              <a:rPr lang="fr-CA" dirty="0"/>
              <a:t>27 mai 2026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E0D003D-A354-B04B-A561-108A7A134E21}"/>
              </a:ext>
            </a:extLst>
          </p:cNvPr>
          <p:cNvSpPr txBox="1">
            <a:spLocks/>
          </p:cNvSpPr>
          <p:nvPr/>
        </p:nvSpPr>
        <p:spPr>
          <a:xfrm>
            <a:off x="1524000" y="178955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8D68C6-F657-DF4E-8CB0-BD3004DD2A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7309" y="5711788"/>
            <a:ext cx="1497430" cy="11162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C263952-9F6D-494C-B476-54D4A3B1E0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2582" y="6042211"/>
            <a:ext cx="3068171" cy="71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85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Protégé : un outil de création d’ontologies</a:t>
            </a:r>
            <a:endParaRPr lang="en-CA" dirty="0"/>
          </a:p>
        </p:txBody>
      </p:sp>
      <p:pic>
        <p:nvPicPr>
          <p:cNvPr id="4" name="Content Placeholder 3" descr="Vue Protege.png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098" r="-11098"/>
          <a:stretch>
            <a:fillRect/>
          </a:stretch>
        </p:blipFill>
        <p:spPr>
          <a:xfrm>
            <a:off x="-728856" y="1934478"/>
            <a:ext cx="10615370" cy="4824833"/>
          </a:xfrm>
        </p:spPr>
      </p:pic>
    </p:spTree>
    <p:extLst>
      <p:ext uri="{BB962C8B-B14F-4D97-AF65-F5344CB8AC3E}">
        <p14:creationId xmlns:p14="http://schemas.microsoft.com/office/powerpoint/2010/main" val="82488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Tutoriel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Adapté</a:t>
            </a:r>
            <a:r>
              <a:rPr lang="en-US" dirty="0"/>
              <a:t> de “A Practical Guide To Building OWL Ontologies Using Protégé 4 and CO-ODE Tools, Edition 1.3”, de Matthew Horridge</a:t>
            </a:r>
          </a:p>
          <a:p>
            <a:pPr marL="0" indent="0">
              <a:buNone/>
            </a:pPr>
            <a:r>
              <a:rPr lang="en-US" dirty="0"/>
              <a:t>http://</a:t>
            </a:r>
            <a:r>
              <a:rPr lang="en-US" dirty="0" err="1"/>
              <a:t>mowl-power.cs.man.ac.uk</a:t>
            </a:r>
            <a:r>
              <a:rPr lang="en-US" dirty="0"/>
              <a:t>/</a:t>
            </a:r>
            <a:r>
              <a:rPr lang="en-US" dirty="0" err="1"/>
              <a:t>protegeowltutorial</a:t>
            </a:r>
            <a:r>
              <a:rPr lang="en-US" dirty="0"/>
              <a:t>/resources/ProtegeOWLTutorialP4_v1_3.pdf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00A42A-50CE-B64F-B44E-97BDE6B2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47105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Individus</a:t>
            </a:r>
            <a:r>
              <a:rPr lang="en-US" dirty="0"/>
              <a:t> et </a:t>
            </a:r>
            <a:r>
              <a:rPr lang="en-US" dirty="0" err="1"/>
              <a:t>propriétés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0771" y="1600200"/>
            <a:ext cx="4442458" cy="4525963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F0F1D0-C64B-C440-AD2C-89BCA9C9E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508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401" y="982063"/>
            <a:ext cx="7121267" cy="5567149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53A975F-37AA-DB43-A8EB-43F32C57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3782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ontologie</a:t>
            </a:r>
            <a:r>
              <a:rPr lang="en-US" dirty="0"/>
              <a:t> sous Protégé 5.x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D57E70-1573-6446-AAAC-075CD78B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6</a:t>
            </a:fld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58A4CDD-AF83-B949-8C31-9B4DC655A9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3266" y="1152088"/>
            <a:ext cx="6877468" cy="57059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81E998-5F9E-D84F-85A3-443575F27EC2}"/>
              </a:ext>
            </a:extLst>
          </p:cNvPr>
          <p:cNvSpPr/>
          <p:nvPr/>
        </p:nvSpPr>
        <p:spPr>
          <a:xfrm>
            <a:off x="7654003" y="3396733"/>
            <a:ext cx="138952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Les captures </a:t>
            </a:r>
            <a:r>
              <a:rPr lang="en-US" dirty="0" err="1"/>
              <a:t>d’écran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présentation</a:t>
            </a:r>
            <a:r>
              <a:rPr lang="en-US" dirty="0"/>
              <a:t> </a:t>
            </a:r>
            <a:r>
              <a:rPr lang="en-US" dirty="0" err="1"/>
              <a:t>peuvent</a:t>
            </a:r>
            <a:r>
              <a:rPr lang="en-US" dirty="0"/>
              <a:t> </a:t>
            </a:r>
            <a:r>
              <a:rPr lang="en-US" dirty="0" err="1"/>
              <a:t>légèrement</a:t>
            </a:r>
            <a:r>
              <a:rPr lang="en-US" dirty="0"/>
              <a:t> </a:t>
            </a:r>
            <a:r>
              <a:rPr lang="en-US" dirty="0" err="1"/>
              <a:t>différer</a:t>
            </a:r>
            <a:r>
              <a:rPr lang="en-US" dirty="0"/>
              <a:t> de Protégé 5.5.0.</a:t>
            </a:r>
            <a:endParaRPr lang="fr-FR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087E2CD-8613-6E44-8A2A-59A32A0AEBAA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8247530" y="1152089"/>
            <a:ext cx="101238" cy="2244644"/>
          </a:xfrm>
          <a:prstGeom prst="line">
            <a:avLst/>
          </a:prstGeom>
          <a:ln>
            <a:headEnd type="triangle"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5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D23F50D-E0F0-4DD3-83FC-9F1A3CA5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Quelles classes pour une ontologie des pizzas ?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CCE88D-14C2-40CF-8859-7EB5D5F7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7</a:t>
            </a:fld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D12FE2A-BCFC-418D-BBAC-ACB92CED1E61}"/>
              </a:ext>
            </a:extLst>
          </p:cNvPr>
          <p:cNvSpPr/>
          <p:nvPr/>
        </p:nvSpPr>
        <p:spPr>
          <a:xfrm>
            <a:off x="4785362" y="373977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fromage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95818A0-811C-4167-8885-D2B28CEA4D3C}"/>
              </a:ext>
            </a:extLst>
          </p:cNvPr>
          <p:cNvSpPr/>
          <p:nvPr/>
        </p:nvSpPr>
        <p:spPr>
          <a:xfrm>
            <a:off x="6614154" y="275849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viande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39E0B69-10F4-49C6-922F-D2DA330EB669}"/>
              </a:ext>
            </a:extLst>
          </p:cNvPr>
          <p:cNvSpPr/>
          <p:nvPr/>
        </p:nvSpPr>
        <p:spPr>
          <a:xfrm>
            <a:off x="7821924" y="414611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légumes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53F1A20-D744-4206-9346-E3B5E11A8BFC}"/>
              </a:ext>
            </a:extLst>
          </p:cNvPr>
          <p:cNvSpPr/>
          <p:nvPr/>
        </p:nvSpPr>
        <p:spPr>
          <a:xfrm>
            <a:off x="4644387" y="4803908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</a:t>
            </a:r>
            <a:r>
              <a:rPr lang="fr-CA" sz="1200" err="1"/>
              <a:t>mozarella</a:t>
            </a:r>
            <a:endParaRPr lang="fr-CA" sz="1200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1973A76-EC01-4F79-9DD0-9C14AF5A9D18}"/>
              </a:ext>
            </a:extLst>
          </p:cNvPr>
          <p:cNvSpPr/>
          <p:nvPr/>
        </p:nvSpPr>
        <p:spPr>
          <a:xfrm>
            <a:off x="5667877" y="5317515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tomate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CE58CD9-3658-4B9C-A035-61E8BE6223D6}"/>
              </a:ext>
            </a:extLst>
          </p:cNvPr>
          <p:cNvSpPr/>
          <p:nvPr/>
        </p:nvSpPr>
        <p:spPr>
          <a:xfrm>
            <a:off x="6427464" y="365843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pepperoni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2D38EB6-DA19-4AD3-8E2A-828DCB342F8F}"/>
              </a:ext>
            </a:extLst>
          </p:cNvPr>
          <p:cNvSpPr/>
          <p:nvPr/>
        </p:nvSpPr>
        <p:spPr>
          <a:xfrm>
            <a:off x="6976104" y="178703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Fond de pizza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2AACC3D-03EB-4974-B90B-C033A1BDAB9A}"/>
              </a:ext>
            </a:extLst>
          </p:cNvPr>
          <p:cNvSpPr/>
          <p:nvPr/>
        </p:nvSpPr>
        <p:spPr>
          <a:xfrm>
            <a:off x="4952994" y="2743529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de pizza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24DE881-9700-4B53-A1D0-6FB919B56AD9}"/>
              </a:ext>
            </a:extLst>
          </p:cNvPr>
          <p:cNvSpPr/>
          <p:nvPr/>
        </p:nvSpPr>
        <p:spPr>
          <a:xfrm>
            <a:off x="2884170" y="368005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 Margherita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809A50B-6C63-4A55-848F-57DD670696A5}"/>
              </a:ext>
            </a:extLst>
          </p:cNvPr>
          <p:cNvSpPr/>
          <p:nvPr/>
        </p:nvSpPr>
        <p:spPr>
          <a:xfrm>
            <a:off x="3375660" y="259134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</a:t>
            </a:r>
          </a:p>
        </p:txBody>
      </p:sp>
      <p:sp>
        <p:nvSpPr>
          <p:cNvPr id="18" name="Bulle narrative : rectangle 17">
            <a:extLst>
              <a:ext uri="{FF2B5EF4-FFF2-40B4-BE49-F238E27FC236}">
                <a16:creationId xmlns:a16="http://schemas.microsoft.com/office/drawing/2014/main" id="{97A7C83A-A882-4D7B-9072-B832D823C773}"/>
              </a:ext>
            </a:extLst>
          </p:cNvPr>
          <p:cNvSpPr/>
          <p:nvPr/>
        </p:nvSpPr>
        <p:spPr>
          <a:xfrm>
            <a:off x="1078230" y="4453890"/>
            <a:ext cx="2788920" cy="944880"/>
          </a:xfrm>
          <a:prstGeom prst="wedgeRectCallout">
            <a:avLst>
              <a:gd name="adj1" fmla="val 24249"/>
              <a:gd name="adj2" fmla="val -8104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CA" sz="1200" b="1" dirty="0" err="1"/>
              <a:t>IRI</a:t>
            </a:r>
            <a:r>
              <a:rPr lang="fr-CA" sz="1200" dirty="0" err="1"/>
              <a:t>:http</a:t>
            </a:r>
            <a:r>
              <a:rPr lang="fr-CA" sz="1200"/>
              <a:t>://ontologie.com/PIZZA_0000001</a:t>
            </a:r>
          </a:p>
          <a:p>
            <a:r>
              <a:rPr lang="fr-CA" sz="1200" b="1" dirty="0"/>
              <a:t>Label</a:t>
            </a:r>
            <a:r>
              <a:rPr lang="fr-CA" sz="1200" dirty="0"/>
              <a:t>: Pizza Margherita</a:t>
            </a:r>
          </a:p>
          <a:p>
            <a:r>
              <a:rPr lang="fr-CA" sz="1200" b="1" dirty="0" err="1"/>
              <a:t>Definition</a:t>
            </a:r>
            <a:r>
              <a:rPr lang="fr-CA" sz="1200" dirty="0"/>
              <a:t>: </a:t>
            </a:r>
            <a:r>
              <a:rPr lang="en-US" sz="1200" dirty="0"/>
              <a:t>Une pizza avec </a:t>
            </a:r>
            <a:r>
              <a:rPr lang="en-US" sz="1200" dirty="0" err="1"/>
              <a:t>uniquement</a:t>
            </a:r>
            <a:r>
              <a:rPr lang="en-US" sz="1200" dirty="0"/>
              <a:t>  </a:t>
            </a:r>
            <a:r>
              <a:rPr lang="en-US" sz="1200" dirty="0" err="1"/>
              <a:t>tomate</a:t>
            </a:r>
            <a:r>
              <a:rPr lang="en-US" sz="1200" dirty="0"/>
              <a:t> et mozzarella </a:t>
            </a:r>
            <a:r>
              <a:rPr lang="en-US" sz="1200" dirty="0" err="1"/>
              <a:t>comme</a:t>
            </a:r>
            <a:r>
              <a:rPr lang="en-US" sz="1200" dirty="0"/>
              <a:t> garniture.</a:t>
            </a:r>
            <a:endParaRPr lang="fr-CA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802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45"/>
    </mc:Choice>
    <mc:Fallback xmlns="">
      <p:transition spd="slow" advTm="602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9" grpId="0" animBg="1"/>
      <p:bldP spid="6" grpId="0" animBg="1"/>
      <p:bldP spid="8" grpId="0" animBg="1"/>
      <p:bldP spid="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D23F50D-E0F0-4DD3-83FC-9F1A3CA5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Une première taxonomie des pizzas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CCE88D-14C2-40CF-8859-7EB5D5F7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8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809A50B-6C63-4A55-848F-57DD670696A5}"/>
              </a:ext>
            </a:extLst>
          </p:cNvPr>
          <p:cNvSpPr/>
          <p:nvPr/>
        </p:nvSpPr>
        <p:spPr>
          <a:xfrm>
            <a:off x="2952760" y="2589303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C034725-A1B9-4563-9775-A89EB2A4ACE4}"/>
              </a:ext>
            </a:extLst>
          </p:cNvPr>
          <p:cNvCxnSpPr>
            <a:cxnSpLocks/>
          </p:cNvCxnSpPr>
          <p:nvPr/>
        </p:nvCxnSpPr>
        <p:spPr>
          <a:xfrm flipH="1" flipV="1">
            <a:off x="5598434" y="2091817"/>
            <a:ext cx="1424930" cy="4368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15AFB6E-1634-4C69-9B01-E4C276D82C06}"/>
              </a:ext>
            </a:extLst>
          </p:cNvPr>
          <p:cNvCxnSpPr>
            <a:cxnSpLocks/>
          </p:cNvCxnSpPr>
          <p:nvPr/>
        </p:nvCxnSpPr>
        <p:spPr>
          <a:xfrm flipV="1">
            <a:off x="4869180" y="2091817"/>
            <a:ext cx="729254" cy="48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144A576-396D-4AF3-8E81-8DB855E39FD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444250" y="2091817"/>
            <a:ext cx="2154184" cy="4974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D80D096-FAEB-4548-9EF9-2BA4044B30D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444250" y="3054123"/>
            <a:ext cx="0" cy="4450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A219F92-4D1F-4C74-BE5A-12E32A0CBA23}"/>
              </a:ext>
            </a:extLst>
          </p:cNvPr>
          <p:cNvCxnSpPr>
            <a:cxnSpLocks/>
          </p:cNvCxnSpPr>
          <p:nvPr/>
        </p:nvCxnSpPr>
        <p:spPr>
          <a:xfrm flipV="1">
            <a:off x="5485587" y="3968888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9AACD593-51A0-4318-A5B5-E76B721C602D}"/>
              </a:ext>
            </a:extLst>
          </p:cNvPr>
          <p:cNvCxnSpPr>
            <a:cxnSpLocks/>
          </p:cNvCxnSpPr>
          <p:nvPr/>
        </p:nvCxnSpPr>
        <p:spPr>
          <a:xfrm flipH="1" flipV="1">
            <a:off x="6851102" y="3968888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FDC566A3-F4B6-4E9D-AA76-CD11E0DD3C70}"/>
              </a:ext>
            </a:extLst>
          </p:cNvPr>
          <p:cNvCxnSpPr>
            <a:cxnSpLocks/>
          </p:cNvCxnSpPr>
          <p:nvPr/>
        </p:nvCxnSpPr>
        <p:spPr>
          <a:xfrm flipH="1" flipV="1">
            <a:off x="8216616" y="3968887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DBA510A-02A9-41F0-9D5E-9A0A43278B5B}"/>
              </a:ext>
            </a:extLst>
          </p:cNvPr>
          <p:cNvCxnSpPr>
            <a:cxnSpLocks/>
          </p:cNvCxnSpPr>
          <p:nvPr/>
        </p:nvCxnSpPr>
        <p:spPr>
          <a:xfrm flipV="1">
            <a:off x="5485587" y="2993523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EE3770E-E631-4C65-B4B2-5AFD9397BD63}"/>
              </a:ext>
            </a:extLst>
          </p:cNvPr>
          <p:cNvCxnSpPr>
            <a:cxnSpLocks/>
          </p:cNvCxnSpPr>
          <p:nvPr/>
        </p:nvCxnSpPr>
        <p:spPr>
          <a:xfrm flipV="1">
            <a:off x="6851102" y="2993523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0EAE8B8A-E494-421E-9988-C884A4A0C453}"/>
              </a:ext>
            </a:extLst>
          </p:cNvPr>
          <p:cNvCxnSpPr>
            <a:cxnSpLocks/>
          </p:cNvCxnSpPr>
          <p:nvPr/>
        </p:nvCxnSpPr>
        <p:spPr>
          <a:xfrm flipH="1" flipV="1">
            <a:off x="7023364" y="2993523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04682AFB-BB3C-4994-8EA0-7205A8DF674B}"/>
              </a:ext>
            </a:extLst>
          </p:cNvPr>
          <p:cNvSpPr txBox="1"/>
          <p:nvPr/>
        </p:nvSpPr>
        <p:spPr>
          <a:xfrm>
            <a:off x="4218272" y="225292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B75D1FC6-871A-4E5E-B45A-B662FDF5564A}"/>
              </a:ext>
            </a:extLst>
          </p:cNvPr>
          <p:cNvSpPr txBox="1"/>
          <p:nvPr/>
        </p:nvSpPr>
        <p:spPr>
          <a:xfrm>
            <a:off x="4994097" y="226599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420F7784-7E90-415B-B2F1-78B6E6CEE984}"/>
              </a:ext>
            </a:extLst>
          </p:cNvPr>
          <p:cNvSpPr txBox="1"/>
          <p:nvPr/>
        </p:nvSpPr>
        <p:spPr>
          <a:xfrm>
            <a:off x="6272963" y="2237270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75F1B57E-7AE5-4DEB-BC1C-0851217F8D69}"/>
              </a:ext>
            </a:extLst>
          </p:cNvPr>
          <p:cNvSpPr txBox="1"/>
          <p:nvPr/>
        </p:nvSpPr>
        <p:spPr>
          <a:xfrm>
            <a:off x="3284831" y="3171116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14827B6-20F1-44AF-A616-C30F8F6C3A25}"/>
              </a:ext>
            </a:extLst>
          </p:cNvPr>
          <p:cNvSpPr txBox="1"/>
          <p:nvPr/>
        </p:nvSpPr>
        <p:spPr>
          <a:xfrm>
            <a:off x="6041542" y="314559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EA90B3F-26AD-45C1-A029-51DFE7F530FC}"/>
              </a:ext>
            </a:extLst>
          </p:cNvPr>
          <p:cNvSpPr txBox="1"/>
          <p:nvPr/>
        </p:nvSpPr>
        <p:spPr>
          <a:xfrm>
            <a:off x="6777814" y="317482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0625356-991F-47F9-9D7A-8F41FF0314C8}"/>
              </a:ext>
            </a:extLst>
          </p:cNvPr>
          <p:cNvSpPr txBox="1"/>
          <p:nvPr/>
        </p:nvSpPr>
        <p:spPr>
          <a:xfrm>
            <a:off x="7497215" y="315624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3B91809C-3F3B-4BC8-BFFA-F07BE13CB16A}"/>
              </a:ext>
            </a:extLst>
          </p:cNvPr>
          <p:cNvSpPr txBox="1"/>
          <p:nvPr/>
        </p:nvSpPr>
        <p:spPr>
          <a:xfrm>
            <a:off x="5319011" y="417249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D3003E8F-77CF-440D-89B4-7BCD55629F83}"/>
              </a:ext>
            </a:extLst>
          </p:cNvPr>
          <p:cNvSpPr txBox="1"/>
          <p:nvPr/>
        </p:nvSpPr>
        <p:spPr>
          <a:xfrm>
            <a:off x="6683759" y="416256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6E26F43D-7D09-41BC-8B9A-A0B0F999C294}"/>
              </a:ext>
            </a:extLst>
          </p:cNvPr>
          <p:cNvSpPr txBox="1"/>
          <p:nvPr/>
        </p:nvSpPr>
        <p:spPr>
          <a:xfrm>
            <a:off x="8084603" y="420287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CC6B696-AF80-4D18-9E08-BFEB1FF050C4}"/>
              </a:ext>
            </a:extLst>
          </p:cNvPr>
          <p:cNvSpPr/>
          <p:nvPr/>
        </p:nvSpPr>
        <p:spPr>
          <a:xfrm>
            <a:off x="4996976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fromage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712D08DA-3951-4753-B995-C8549B1C23EA}"/>
              </a:ext>
            </a:extLst>
          </p:cNvPr>
          <p:cNvSpPr/>
          <p:nvPr/>
        </p:nvSpPr>
        <p:spPr>
          <a:xfrm>
            <a:off x="6398017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viande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41E1096F-FC17-4667-BE66-3A7DDF9BCBA0}"/>
              </a:ext>
            </a:extLst>
          </p:cNvPr>
          <p:cNvSpPr/>
          <p:nvPr/>
        </p:nvSpPr>
        <p:spPr>
          <a:xfrm>
            <a:off x="7682486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légumes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A4D5EF4B-DA29-4C57-81D1-35F965F5303D}"/>
              </a:ext>
            </a:extLst>
          </p:cNvPr>
          <p:cNvSpPr/>
          <p:nvPr/>
        </p:nvSpPr>
        <p:spPr>
          <a:xfrm>
            <a:off x="4991204" y="4553301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</a:t>
            </a:r>
            <a:r>
              <a:rPr lang="fr-CA" sz="1200" err="1"/>
              <a:t>mozarella</a:t>
            </a:r>
            <a:endParaRPr lang="fr-CA" sz="120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6BAC2423-B638-4D04-A87C-7B51672913F4}"/>
              </a:ext>
            </a:extLst>
          </p:cNvPr>
          <p:cNvSpPr/>
          <p:nvPr/>
        </p:nvSpPr>
        <p:spPr>
          <a:xfrm>
            <a:off x="7682486" y="4594910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tomate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6AAD20B-A356-4014-A317-E55B53BC9704}"/>
              </a:ext>
            </a:extLst>
          </p:cNvPr>
          <p:cNvSpPr/>
          <p:nvPr/>
        </p:nvSpPr>
        <p:spPr>
          <a:xfrm>
            <a:off x="6389368" y="457516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pepperoni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99FA132-C0EF-41F6-A278-7C8BEF6CF197}"/>
              </a:ext>
            </a:extLst>
          </p:cNvPr>
          <p:cNvSpPr/>
          <p:nvPr/>
        </p:nvSpPr>
        <p:spPr>
          <a:xfrm>
            <a:off x="4374615" y="2589303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Fond de pizza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F695CA0C-F0F4-423E-8ED5-BA675670BC29}"/>
              </a:ext>
            </a:extLst>
          </p:cNvPr>
          <p:cNvSpPr/>
          <p:nvPr/>
        </p:nvSpPr>
        <p:spPr>
          <a:xfrm>
            <a:off x="6568517" y="2534139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de pizza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E6AC413B-56D3-4E5F-8DA7-13E6273EA589}"/>
              </a:ext>
            </a:extLst>
          </p:cNvPr>
          <p:cNvSpPr/>
          <p:nvPr/>
        </p:nvSpPr>
        <p:spPr>
          <a:xfrm>
            <a:off x="2952760" y="351894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 Margherita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E458F46-959E-4F81-9AA3-A46ABE073649}"/>
              </a:ext>
            </a:extLst>
          </p:cNvPr>
          <p:cNvSpPr/>
          <p:nvPr/>
        </p:nvSpPr>
        <p:spPr>
          <a:xfrm>
            <a:off x="5058562" y="161908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Entité</a:t>
            </a:r>
          </a:p>
        </p:txBody>
      </p:sp>
    </p:spTree>
    <p:extLst>
      <p:ext uri="{BB962C8B-B14F-4D97-AF65-F5344CB8AC3E}">
        <p14:creationId xmlns:p14="http://schemas.microsoft.com/office/powerpoint/2010/main" val="421445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42293">
        <p159:morph option="byObject"/>
      </p:transition>
    </mc:Choice>
    <mc:Fallback xmlns="">
      <p:transition advTm="42293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D23F50D-E0F0-4DD3-83FC-9F1A3CA5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Une première taxonomie des pizzas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1CCE88D-14C2-40CF-8859-7EB5D5F7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C80-0D10-DE47-AFF9-6AA2A89D770B}" type="slidenum">
              <a:rPr lang="fr-FR" smtClean="0"/>
              <a:t>9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809A50B-6C63-4A55-848F-57DD670696A5}"/>
              </a:ext>
            </a:extLst>
          </p:cNvPr>
          <p:cNvSpPr/>
          <p:nvPr/>
        </p:nvSpPr>
        <p:spPr>
          <a:xfrm>
            <a:off x="2952760" y="2589303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2C034725-A1B9-4563-9775-A89EB2A4ACE4}"/>
              </a:ext>
            </a:extLst>
          </p:cNvPr>
          <p:cNvCxnSpPr>
            <a:cxnSpLocks/>
          </p:cNvCxnSpPr>
          <p:nvPr/>
        </p:nvCxnSpPr>
        <p:spPr>
          <a:xfrm flipH="1" flipV="1">
            <a:off x="5598434" y="2091817"/>
            <a:ext cx="1424930" cy="4368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15AFB6E-1634-4C69-9B01-E4C276D82C06}"/>
              </a:ext>
            </a:extLst>
          </p:cNvPr>
          <p:cNvCxnSpPr>
            <a:cxnSpLocks/>
          </p:cNvCxnSpPr>
          <p:nvPr/>
        </p:nvCxnSpPr>
        <p:spPr>
          <a:xfrm flipV="1">
            <a:off x="4869180" y="2091817"/>
            <a:ext cx="729254" cy="48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4144A576-396D-4AF3-8E81-8DB855E39FD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444250" y="2091817"/>
            <a:ext cx="2154184" cy="4974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D80D096-FAEB-4548-9EF9-2BA4044B30D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444250" y="3054123"/>
            <a:ext cx="0" cy="44508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A219F92-4D1F-4C74-BE5A-12E32A0CBA23}"/>
              </a:ext>
            </a:extLst>
          </p:cNvPr>
          <p:cNvCxnSpPr>
            <a:cxnSpLocks/>
          </p:cNvCxnSpPr>
          <p:nvPr/>
        </p:nvCxnSpPr>
        <p:spPr>
          <a:xfrm flipV="1">
            <a:off x="5485587" y="3968888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9AACD593-51A0-4318-A5B5-E76B721C602D}"/>
              </a:ext>
            </a:extLst>
          </p:cNvPr>
          <p:cNvCxnSpPr>
            <a:cxnSpLocks/>
          </p:cNvCxnSpPr>
          <p:nvPr/>
        </p:nvCxnSpPr>
        <p:spPr>
          <a:xfrm flipH="1" flipV="1">
            <a:off x="6851102" y="3968888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FDC566A3-F4B6-4E9D-AA76-CD11E0DD3C70}"/>
              </a:ext>
            </a:extLst>
          </p:cNvPr>
          <p:cNvCxnSpPr>
            <a:cxnSpLocks/>
          </p:cNvCxnSpPr>
          <p:nvPr/>
        </p:nvCxnSpPr>
        <p:spPr>
          <a:xfrm flipH="1" flipV="1">
            <a:off x="8216616" y="3968887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FDBA510A-02A9-41F0-9D5E-9A0A43278B5B}"/>
              </a:ext>
            </a:extLst>
          </p:cNvPr>
          <p:cNvCxnSpPr>
            <a:cxnSpLocks/>
          </p:cNvCxnSpPr>
          <p:nvPr/>
        </p:nvCxnSpPr>
        <p:spPr>
          <a:xfrm flipV="1">
            <a:off x="5485587" y="2993523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6EE3770E-E631-4C65-B4B2-5AFD9397BD63}"/>
              </a:ext>
            </a:extLst>
          </p:cNvPr>
          <p:cNvCxnSpPr>
            <a:cxnSpLocks/>
          </p:cNvCxnSpPr>
          <p:nvPr/>
        </p:nvCxnSpPr>
        <p:spPr>
          <a:xfrm flipV="1">
            <a:off x="6851102" y="2993523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0EAE8B8A-E494-421E-9988-C884A4A0C453}"/>
              </a:ext>
            </a:extLst>
          </p:cNvPr>
          <p:cNvCxnSpPr>
            <a:cxnSpLocks/>
          </p:cNvCxnSpPr>
          <p:nvPr/>
        </p:nvCxnSpPr>
        <p:spPr>
          <a:xfrm flipH="1" flipV="1">
            <a:off x="7023364" y="2993523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04682AFB-BB3C-4994-8EA0-7205A8DF674B}"/>
              </a:ext>
            </a:extLst>
          </p:cNvPr>
          <p:cNvSpPr txBox="1"/>
          <p:nvPr/>
        </p:nvSpPr>
        <p:spPr>
          <a:xfrm>
            <a:off x="4218272" y="225292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B75D1FC6-871A-4E5E-B45A-B662FDF5564A}"/>
              </a:ext>
            </a:extLst>
          </p:cNvPr>
          <p:cNvSpPr txBox="1"/>
          <p:nvPr/>
        </p:nvSpPr>
        <p:spPr>
          <a:xfrm>
            <a:off x="4994097" y="226599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420F7784-7E90-415B-B2F1-78B6E6CEE984}"/>
              </a:ext>
            </a:extLst>
          </p:cNvPr>
          <p:cNvSpPr txBox="1"/>
          <p:nvPr/>
        </p:nvSpPr>
        <p:spPr>
          <a:xfrm>
            <a:off x="6272963" y="2237270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75F1B57E-7AE5-4DEB-BC1C-0851217F8D69}"/>
              </a:ext>
            </a:extLst>
          </p:cNvPr>
          <p:cNvSpPr txBox="1"/>
          <p:nvPr/>
        </p:nvSpPr>
        <p:spPr>
          <a:xfrm>
            <a:off x="3284831" y="3171116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14827B6-20F1-44AF-A616-C30F8F6C3A25}"/>
              </a:ext>
            </a:extLst>
          </p:cNvPr>
          <p:cNvSpPr txBox="1"/>
          <p:nvPr/>
        </p:nvSpPr>
        <p:spPr>
          <a:xfrm>
            <a:off x="6041542" y="314559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EA90B3F-26AD-45C1-A029-51DFE7F530FC}"/>
              </a:ext>
            </a:extLst>
          </p:cNvPr>
          <p:cNvSpPr txBox="1"/>
          <p:nvPr/>
        </p:nvSpPr>
        <p:spPr>
          <a:xfrm>
            <a:off x="6777814" y="317482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0625356-991F-47F9-9D7A-8F41FF0314C8}"/>
              </a:ext>
            </a:extLst>
          </p:cNvPr>
          <p:cNvSpPr txBox="1"/>
          <p:nvPr/>
        </p:nvSpPr>
        <p:spPr>
          <a:xfrm>
            <a:off x="7497215" y="315624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3B91809C-3F3B-4BC8-BFFA-F07BE13CB16A}"/>
              </a:ext>
            </a:extLst>
          </p:cNvPr>
          <p:cNvSpPr txBox="1"/>
          <p:nvPr/>
        </p:nvSpPr>
        <p:spPr>
          <a:xfrm>
            <a:off x="5319011" y="417249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D3003E8F-77CF-440D-89B4-7BCD55629F83}"/>
              </a:ext>
            </a:extLst>
          </p:cNvPr>
          <p:cNvSpPr txBox="1"/>
          <p:nvPr/>
        </p:nvSpPr>
        <p:spPr>
          <a:xfrm>
            <a:off x="6683759" y="4162562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6E26F43D-7D09-41BC-8B9A-A0B0F999C294}"/>
              </a:ext>
            </a:extLst>
          </p:cNvPr>
          <p:cNvSpPr txBox="1"/>
          <p:nvPr/>
        </p:nvSpPr>
        <p:spPr>
          <a:xfrm>
            <a:off x="8084603" y="420287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CC6B696-AF80-4D18-9E08-BFEB1FF050C4}"/>
              </a:ext>
            </a:extLst>
          </p:cNvPr>
          <p:cNvSpPr/>
          <p:nvPr/>
        </p:nvSpPr>
        <p:spPr>
          <a:xfrm>
            <a:off x="4996976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fromage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712D08DA-3951-4753-B995-C8549B1C23EA}"/>
              </a:ext>
            </a:extLst>
          </p:cNvPr>
          <p:cNvSpPr/>
          <p:nvPr/>
        </p:nvSpPr>
        <p:spPr>
          <a:xfrm>
            <a:off x="6398017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viande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41E1096F-FC17-4667-BE66-3A7DDF9BCBA0}"/>
              </a:ext>
            </a:extLst>
          </p:cNvPr>
          <p:cNvSpPr/>
          <p:nvPr/>
        </p:nvSpPr>
        <p:spPr>
          <a:xfrm>
            <a:off x="7682486" y="350736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légumes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A4D5EF4B-DA29-4C57-81D1-35F965F5303D}"/>
              </a:ext>
            </a:extLst>
          </p:cNvPr>
          <p:cNvSpPr/>
          <p:nvPr/>
        </p:nvSpPr>
        <p:spPr>
          <a:xfrm>
            <a:off x="4991204" y="4553301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</a:t>
            </a:r>
            <a:r>
              <a:rPr lang="fr-CA" sz="1200" err="1"/>
              <a:t>mozarella</a:t>
            </a:r>
            <a:endParaRPr lang="fr-CA" sz="120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6BAC2423-B638-4D04-A87C-7B51672913F4}"/>
              </a:ext>
            </a:extLst>
          </p:cNvPr>
          <p:cNvSpPr/>
          <p:nvPr/>
        </p:nvSpPr>
        <p:spPr>
          <a:xfrm>
            <a:off x="7682486" y="4594910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tomate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6AAD20B-A356-4014-A317-E55B53BC9704}"/>
              </a:ext>
            </a:extLst>
          </p:cNvPr>
          <p:cNvSpPr/>
          <p:nvPr/>
        </p:nvSpPr>
        <p:spPr>
          <a:xfrm>
            <a:off x="6389368" y="457516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pepperoni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99FA132-C0EF-41F6-A278-7C8BEF6CF197}"/>
              </a:ext>
            </a:extLst>
          </p:cNvPr>
          <p:cNvSpPr/>
          <p:nvPr/>
        </p:nvSpPr>
        <p:spPr>
          <a:xfrm>
            <a:off x="4374615" y="2589303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Fond de pizza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F695CA0C-F0F4-423E-8ED5-BA675670BC29}"/>
              </a:ext>
            </a:extLst>
          </p:cNvPr>
          <p:cNvSpPr/>
          <p:nvPr/>
        </p:nvSpPr>
        <p:spPr>
          <a:xfrm>
            <a:off x="6568517" y="2534139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Garniture de pizza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:a16="http://schemas.microsoft.com/office/drawing/2014/main" id="{004EDD50-BDEA-4C52-8290-90C2E63777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03507" y="1234266"/>
            <a:ext cx="60600" cy="3579114"/>
          </a:xfrm>
          <a:prstGeom prst="curvedConnector3">
            <a:avLst>
              <a:gd name="adj1" fmla="val -396089"/>
            </a:avLst>
          </a:prstGeom>
          <a:ln>
            <a:solidFill>
              <a:schemeClr val="accent5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0" name="Connecteur : en arc 49">
            <a:extLst>
              <a:ext uri="{FF2B5EF4-FFF2-40B4-BE49-F238E27FC236}">
                <a16:creationId xmlns:a16="http://schemas.microsoft.com/office/drawing/2014/main" id="{FB14DA36-6D0E-4D74-8E31-DB19B32BD1D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52760" y="1872884"/>
            <a:ext cx="7910" cy="1424930"/>
          </a:xfrm>
          <a:prstGeom prst="curvedConnector3">
            <a:avLst>
              <a:gd name="adj1" fmla="val 5061032"/>
            </a:avLst>
          </a:prstGeom>
          <a:ln>
            <a:solidFill>
              <a:schemeClr val="accent5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Connecteur : en arc 50">
            <a:extLst>
              <a:ext uri="{FF2B5EF4-FFF2-40B4-BE49-F238E27FC236}">
                <a16:creationId xmlns:a16="http://schemas.microsoft.com/office/drawing/2014/main" id="{53927D1E-A709-4445-B99F-47E7F587EF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97400" y="3610879"/>
            <a:ext cx="843548" cy="1549847"/>
          </a:xfrm>
          <a:prstGeom prst="curvedConnector2">
            <a:avLst/>
          </a:prstGeom>
          <a:ln>
            <a:solidFill>
              <a:schemeClr val="accent5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" name="Connecteur : en arc 51">
            <a:extLst>
              <a:ext uri="{FF2B5EF4-FFF2-40B4-BE49-F238E27FC236}">
                <a16:creationId xmlns:a16="http://schemas.microsoft.com/office/drawing/2014/main" id="{BCBCD2C2-DB01-46C2-8D27-D6D3918821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294636" y="2113643"/>
            <a:ext cx="1098999" cy="4799771"/>
          </a:xfrm>
          <a:prstGeom prst="curvedConnector3">
            <a:avLst>
              <a:gd name="adj1" fmla="val 150269"/>
            </a:avLst>
          </a:prstGeom>
          <a:ln>
            <a:solidFill>
              <a:schemeClr val="accent5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CFEE931-4F10-4875-AD87-BA47AC7F38F7}"/>
              </a:ext>
            </a:extLst>
          </p:cNvPr>
          <p:cNvSpPr txBox="1"/>
          <p:nvPr/>
        </p:nvSpPr>
        <p:spPr>
          <a:xfrm>
            <a:off x="3782850" y="1895948"/>
            <a:ext cx="689612" cy="4154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fr-CA" sz="1050">
                <a:solidFill>
                  <a:schemeClr val="accent5"/>
                </a:solidFill>
              </a:rPr>
              <a:t>a comme</a:t>
            </a:r>
            <a:br>
              <a:rPr lang="fr-CA" sz="1050">
                <a:solidFill>
                  <a:schemeClr val="accent5"/>
                </a:solidFill>
              </a:rPr>
            </a:br>
            <a:r>
              <a:rPr lang="fr-CA" sz="1050">
                <a:solidFill>
                  <a:schemeClr val="accent5"/>
                </a:solidFill>
              </a:rPr>
              <a:t>fond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0BD04176-4909-49D2-ABA4-44CB38BF66CB}"/>
              </a:ext>
            </a:extLst>
          </p:cNvPr>
          <p:cNvSpPr txBox="1"/>
          <p:nvPr/>
        </p:nvSpPr>
        <p:spPr>
          <a:xfrm>
            <a:off x="4541106" y="3087877"/>
            <a:ext cx="720069" cy="4154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>
                <a:solidFill>
                  <a:schemeClr val="accent5"/>
                </a:solidFill>
              </a:rPr>
              <a:t>a comme </a:t>
            </a:r>
            <a:br>
              <a:rPr lang="fr-CA" sz="1050">
                <a:solidFill>
                  <a:schemeClr val="accent5"/>
                </a:solidFill>
              </a:rPr>
            </a:br>
            <a:r>
              <a:rPr lang="fr-CA" sz="1050">
                <a:solidFill>
                  <a:schemeClr val="accent5"/>
                </a:solidFill>
              </a:rPr>
              <a:t>garniture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D0BD35-5365-42D3-8D23-FBB7E2199AC4}"/>
              </a:ext>
            </a:extLst>
          </p:cNvPr>
          <p:cNvSpPr/>
          <p:nvPr/>
        </p:nvSpPr>
        <p:spPr>
          <a:xfrm>
            <a:off x="2277977" y="4648513"/>
            <a:ext cx="751088" cy="2940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350</a:t>
            </a:r>
          </a:p>
        </p:txBody>
      </p: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148439B1-EE83-4995-A862-57A1EB6537FF}"/>
              </a:ext>
            </a:extLst>
          </p:cNvPr>
          <p:cNvCxnSpPr>
            <a:cxnSpLocks/>
            <a:endCxn id="67" idx="0"/>
          </p:cNvCxnSpPr>
          <p:nvPr/>
        </p:nvCxnSpPr>
        <p:spPr>
          <a:xfrm flipH="1">
            <a:off x="2653521" y="3965699"/>
            <a:ext cx="793623" cy="682814"/>
          </a:xfrm>
          <a:prstGeom prst="straightConnector1">
            <a:avLst/>
          </a:prstGeom>
          <a:ln>
            <a:solidFill>
              <a:srgbClr val="00B050"/>
            </a:solidFill>
            <a:tailEnd type="triangle" w="lg" len="lg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7EA692E7-B3DE-40ED-AE75-F75AF3219809}"/>
              </a:ext>
            </a:extLst>
          </p:cNvPr>
          <p:cNvSpPr txBox="1"/>
          <p:nvPr/>
        </p:nvSpPr>
        <p:spPr>
          <a:xfrm>
            <a:off x="2458523" y="4270386"/>
            <a:ext cx="1063112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>
                <a:solidFill>
                  <a:srgbClr val="00B050"/>
                </a:solidFill>
              </a:rPr>
              <a:t>valeur calorique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7CCEA384-FD29-4B75-AB5F-CFA0A372ADF5}"/>
              </a:ext>
            </a:extLst>
          </p:cNvPr>
          <p:cNvSpPr txBox="1"/>
          <p:nvPr/>
        </p:nvSpPr>
        <p:spPr>
          <a:xfrm>
            <a:off x="4063677" y="4387438"/>
            <a:ext cx="720069" cy="4154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>
                <a:solidFill>
                  <a:schemeClr val="accent5"/>
                </a:solidFill>
              </a:rPr>
              <a:t>a comme </a:t>
            </a:r>
            <a:br>
              <a:rPr lang="fr-CA" sz="1050">
                <a:solidFill>
                  <a:schemeClr val="accent5"/>
                </a:solidFill>
              </a:rPr>
            </a:br>
            <a:r>
              <a:rPr lang="fr-CA" sz="1050">
                <a:solidFill>
                  <a:schemeClr val="accent5"/>
                </a:solidFill>
              </a:rPr>
              <a:t>garniture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885729B-88F4-4673-8AED-505774BFD909}"/>
              </a:ext>
            </a:extLst>
          </p:cNvPr>
          <p:cNvSpPr txBox="1"/>
          <p:nvPr/>
        </p:nvSpPr>
        <p:spPr>
          <a:xfrm>
            <a:off x="4446974" y="5172919"/>
            <a:ext cx="720069" cy="4154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>
                <a:solidFill>
                  <a:schemeClr val="accent5"/>
                </a:solidFill>
              </a:rPr>
              <a:t>a comme </a:t>
            </a:r>
            <a:br>
              <a:rPr lang="fr-CA" sz="1050">
                <a:solidFill>
                  <a:schemeClr val="accent5"/>
                </a:solidFill>
              </a:rPr>
            </a:br>
            <a:r>
              <a:rPr lang="fr-CA" sz="1050">
                <a:solidFill>
                  <a:schemeClr val="accent5"/>
                </a:solidFill>
              </a:rPr>
              <a:t>garniture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7F4FD05E-126B-4AF5-A08B-8AB40743A7FC}"/>
              </a:ext>
            </a:extLst>
          </p:cNvPr>
          <p:cNvSpPr/>
          <p:nvPr/>
        </p:nvSpPr>
        <p:spPr>
          <a:xfrm>
            <a:off x="2952760" y="351894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 Margherita</a:t>
            </a:r>
          </a:p>
        </p:txBody>
      </p:sp>
      <p:pic>
        <p:nvPicPr>
          <p:cNvPr id="75" name="Image 74" hidden="1">
            <a:extLst>
              <a:ext uri="{FF2B5EF4-FFF2-40B4-BE49-F238E27FC236}">
                <a16:creationId xmlns:a16="http://schemas.microsoft.com/office/drawing/2014/main" id="{7965FD70-8A66-4221-B700-14C22292DF9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7205" y="2561219"/>
            <a:ext cx="5752110" cy="2998129"/>
          </a:xfrm>
          <a:prstGeom prst="rect">
            <a:avLst/>
          </a:prstGeom>
        </p:spPr>
      </p:pic>
      <p:pic>
        <p:nvPicPr>
          <p:cNvPr id="76" name="Image 75">
            <a:extLst>
              <a:ext uri="{FF2B5EF4-FFF2-40B4-BE49-F238E27FC236}">
                <a16:creationId xmlns:a16="http://schemas.microsoft.com/office/drawing/2014/main" id="{47F6D2E3-AA27-4072-AEA1-DF0F02A994F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5104" y="2189531"/>
            <a:ext cx="6476702" cy="3375803"/>
          </a:xfrm>
          <a:prstGeom prst="rect">
            <a:avLst/>
          </a:prstGeom>
        </p:spPr>
      </p:pic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4FDD2A97-B08F-47AA-B41D-FACCD41CCBA6}"/>
              </a:ext>
            </a:extLst>
          </p:cNvPr>
          <p:cNvSpPr/>
          <p:nvPr/>
        </p:nvSpPr>
        <p:spPr>
          <a:xfrm>
            <a:off x="5058562" y="161908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Entité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50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Tm="78581">
        <p159:morph option="byObject"/>
      </p:transition>
    </mc:Choice>
    <mc:Fallback xmlns="">
      <p:transition advTm="785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0A1E679-C038-514C-88F2-B9852570A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33" y="1301103"/>
            <a:ext cx="4178504" cy="27901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Premières classes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C9E8CDD6-6A16-0E41-8E85-2A14D8ED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10</a:t>
            </a:fld>
            <a:endParaRPr lang="fr-CA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15E42E5-D1C0-784A-8535-57ABB1A81C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5236" y="3053792"/>
            <a:ext cx="5578764" cy="380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8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272250"/>
            <a:ext cx="4949322" cy="42026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Créer</a:t>
            </a:r>
            <a:r>
              <a:rPr lang="en-US" dirty="0"/>
              <a:t> des taxonomies de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4914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err="1"/>
              <a:t>Sélectionner</a:t>
            </a:r>
            <a:r>
              <a:rPr lang="en-US" sz="2400" dirty="0"/>
              <a:t> ‘</a:t>
            </a:r>
            <a:r>
              <a:rPr lang="en-US" sz="2400" dirty="0" err="1"/>
              <a:t>PizzaTopping</a:t>
            </a:r>
            <a:r>
              <a:rPr lang="en-US" sz="2400" dirty="0"/>
              <a:t>’; Tools → Create class hierarchy: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1005" y="2365956"/>
            <a:ext cx="3746500" cy="260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1005" y="4540165"/>
            <a:ext cx="3659663" cy="22704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049896-278A-DA49-8F77-6ECA068282C1}"/>
              </a:ext>
            </a:extLst>
          </p:cNvPr>
          <p:cNvSpPr/>
          <p:nvPr/>
        </p:nvSpPr>
        <p:spPr>
          <a:xfrm>
            <a:off x="188258" y="6429872"/>
            <a:ext cx="69028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“Do you want to make </a:t>
            </a:r>
            <a:r>
              <a:rPr lang="en-US" sz="2400" dirty="0" err="1"/>
              <a:t>sibiling</a:t>
            </a:r>
            <a:r>
              <a:rPr lang="en-US" sz="2400" dirty="0"/>
              <a:t> classes disjoint?” -&gt; Yes</a:t>
            </a:r>
          </a:p>
        </p:txBody>
      </p:sp>
    </p:spTree>
    <p:extLst>
      <p:ext uri="{BB962C8B-B14F-4D97-AF65-F5344CB8AC3E}">
        <p14:creationId xmlns:p14="http://schemas.microsoft.com/office/powerpoint/2010/main" val="9100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Trois types de </a:t>
            </a:r>
            <a:r>
              <a:rPr lang="en-US" dirty="0" err="1"/>
              <a:t>propriétés</a:t>
            </a:r>
            <a:br>
              <a:rPr lang="en-US" dirty="0"/>
            </a:br>
            <a:r>
              <a:rPr lang="en-US" dirty="0"/>
              <a:t>(aka relations)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3005" y="1074522"/>
            <a:ext cx="5054182" cy="5783478"/>
          </a:xfr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A3550944-83B4-0A47-B514-B2F0DB59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3544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Créer</a:t>
            </a:r>
            <a:r>
              <a:rPr lang="en-US" dirty="0"/>
              <a:t> des ‘object properties’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96F47E-9E85-FB4A-AD9B-E9ED41F73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13</a:t>
            </a:fld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7F4437-F0BC-E842-A6AE-3E96FB5B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71" y="1590963"/>
            <a:ext cx="5216458" cy="34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6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inverses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6989"/>
            <a:ext cx="9144000" cy="46710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46791" y="920280"/>
            <a:ext cx="6446451" cy="2013061"/>
          </a:xfrm>
          <a:prstGeom prst="rect">
            <a:avLst/>
          </a:prstGeom>
        </p:spPr>
      </p:pic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DCACB33-E0FB-F441-A60F-05ADECC7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663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Caractéristique</a:t>
            </a:r>
            <a:r>
              <a:rPr lang="en-US" dirty="0"/>
              <a:t> des relations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6603" y="1134757"/>
            <a:ext cx="6685312" cy="217685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3971" y="2277757"/>
            <a:ext cx="6272520" cy="3243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6603" y="5041107"/>
            <a:ext cx="5786409" cy="1816893"/>
          </a:xfrm>
          <a:prstGeom prst="rect">
            <a:avLst/>
          </a:prstGeom>
        </p:spPr>
      </p:pic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68BC402-5215-6B45-9349-2F9400B1B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5119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Caractéristiques</a:t>
            </a:r>
            <a:r>
              <a:rPr lang="en-US" dirty="0"/>
              <a:t> des relations :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8476" y="1487055"/>
            <a:ext cx="7908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/>
              <a:t>Rendre</a:t>
            </a:r>
            <a:r>
              <a:rPr lang="en-US" b="1" dirty="0"/>
              <a:t> ‘</a:t>
            </a:r>
            <a:r>
              <a:rPr lang="en-US" b="1" dirty="0" err="1"/>
              <a:t>hasIngredient</a:t>
            </a:r>
            <a:r>
              <a:rPr lang="en-US" b="1" dirty="0"/>
              <a:t>’ et ‘</a:t>
            </a:r>
            <a:r>
              <a:rPr lang="en-US" b="1" dirty="0" err="1"/>
              <a:t>isIngredientOf</a:t>
            </a:r>
            <a:r>
              <a:rPr lang="en-US" b="1" dirty="0"/>
              <a:t>’ </a:t>
            </a:r>
            <a:r>
              <a:rPr lang="en-US" b="1" dirty="0" err="1"/>
              <a:t>transitives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Rendre</a:t>
            </a:r>
            <a:r>
              <a:rPr lang="en-US" b="1" dirty="0"/>
              <a:t> ‘</a:t>
            </a:r>
            <a:r>
              <a:rPr lang="en-US" b="1" dirty="0" err="1"/>
              <a:t>hasBase</a:t>
            </a:r>
            <a:r>
              <a:rPr lang="en-US" b="1" dirty="0"/>
              <a:t>’ </a:t>
            </a:r>
            <a:r>
              <a:rPr lang="en-US" b="1" dirty="0" err="1"/>
              <a:t>fonctionnelle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 err="1"/>
              <a:t>Veut</a:t>
            </a:r>
            <a:r>
              <a:rPr lang="en-US" b="1" dirty="0"/>
              <a:t>-on ‘</a:t>
            </a:r>
            <a:r>
              <a:rPr lang="en-US" b="1" dirty="0" err="1"/>
              <a:t>hasTopping</a:t>
            </a:r>
            <a:r>
              <a:rPr lang="en-US" b="1" dirty="0"/>
              <a:t>’ </a:t>
            </a:r>
            <a:r>
              <a:rPr lang="en-US" b="1" dirty="0" err="1"/>
              <a:t>fonctionnelle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symétrique</a:t>
            </a:r>
            <a:r>
              <a:rPr lang="en-US" b="1" dirty="0"/>
              <a:t> ?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83AD3D5-8CE4-9F49-A6A2-27D631A2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16</a:t>
            </a:fld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E6D604C-515B-CB40-92CA-AD5DD1C9D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8" y="2614612"/>
            <a:ext cx="73152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437" y="-196416"/>
            <a:ext cx="8229600" cy="1143000"/>
          </a:xfrm>
        </p:spPr>
        <p:txBody>
          <a:bodyPr/>
          <a:lstStyle/>
          <a:p>
            <a:r>
              <a:rPr lang="en-US" dirty="0"/>
              <a:t>Domain &amp; Range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11" y="4193921"/>
            <a:ext cx="9144000" cy="2664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8411" y="3942260"/>
            <a:ext cx="6647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hasBase</a:t>
            </a:r>
            <a:r>
              <a:rPr lang="en-US" b="1" dirty="0"/>
              <a:t>: Domain Pizza, Range </a:t>
            </a:r>
            <a:r>
              <a:rPr lang="en-US" b="1" dirty="0" err="1"/>
              <a:t>PizzaBase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utiliser</a:t>
            </a:r>
            <a:r>
              <a:rPr lang="en-US" dirty="0"/>
              <a:t> autocomplete)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BF4338F-E453-1A43-8BD9-11B1E5F9F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63768"/>
            <a:ext cx="1917700" cy="17399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5BC0235-2059-2A4E-A73E-6CE52D562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850652"/>
            <a:ext cx="7315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9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93A3E7B7-1A5A-D5CF-006E-A0DCDEE51131}"/>
              </a:ext>
            </a:extLst>
          </p:cNvPr>
          <p:cNvGrpSpPr/>
          <p:nvPr/>
        </p:nvGrpSpPr>
        <p:grpSpPr>
          <a:xfrm>
            <a:off x="4558208" y="3807292"/>
            <a:ext cx="3307860" cy="1066839"/>
            <a:chOff x="6077610" y="3933390"/>
            <a:chExt cx="4410479" cy="1422452"/>
          </a:xfrm>
        </p:grpSpPr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955B86D9-7F9D-EC17-CFCB-988E5B92D0A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6692635" y="5068477"/>
              <a:ext cx="3599527" cy="2873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025A7DED-CD11-7774-36B8-096BA6467BE0}"/>
                </a:ext>
              </a:extLst>
            </p:cNvPr>
            <p:cNvCxnSpPr>
              <a:cxnSpLocks/>
              <a:stCxn id="22" idx="3"/>
              <a:endCxn id="26" idx="1"/>
            </p:cNvCxnSpPr>
            <p:nvPr/>
          </p:nvCxnSpPr>
          <p:spPr>
            <a:xfrm>
              <a:off x="6921371" y="4511370"/>
              <a:ext cx="2696652" cy="42515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2EC0995F-07E4-A54F-FC55-4051588D65B0}"/>
                </a:ext>
              </a:extLst>
            </p:cNvPr>
            <p:cNvCxnSpPr>
              <a:cxnSpLocks/>
              <a:stCxn id="25" idx="3"/>
              <a:endCxn id="29" idx="1"/>
            </p:cNvCxnSpPr>
            <p:nvPr/>
          </p:nvCxnSpPr>
          <p:spPr>
            <a:xfrm flipV="1">
              <a:off x="6077610" y="3933390"/>
              <a:ext cx="3450571" cy="28837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C6FDC870-8D7C-1869-1BEA-705EEE6336B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6077610" y="4221765"/>
              <a:ext cx="4410479" cy="10318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D9A09B-C76F-E344-18FE-EDD8326B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0127-01D8-405E-B080-F2773155ECBC}" type="slidenum">
              <a:rPr lang="fr-CA" smtClean="0"/>
              <a:pPr/>
              <a:t>18</a:t>
            </a:fld>
            <a:endParaRPr lang="fr-CA"/>
          </a:p>
        </p:txBody>
      </p:sp>
      <p:grpSp>
        <p:nvGrpSpPr>
          <p:cNvPr id="16" name="fond">
            <a:extLst>
              <a:ext uri="{FF2B5EF4-FFF2-40B4-BE49-F238E27FC236}">
                <a16:creationId xmlns:a16="http://schemas.microsoft.com/office/drawing/2014/main" id="{1481D1FB-AAF2-0284-225F-CD018FC25EF5}"/>
              </a:ext>
            </a:extLst>
          </p:cNvPr>
          <p:cNvGrpSpPr/>
          <p:nvPr/>
        </p:nvGrpSpPr>
        <p:grpSpPr>
          <a:xfrm>
            <a:off x="656659" y="2956984"/>
            <a:ext cx="2144806" cy="2697187"/>
            <a:chOff x="1495475" y="2799645"/>
            <a:chExt cx="2859741" cy="3596249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2862D5B-E8BC-9E87-8701-586511A61AF3}"/>
                </a:ext>
              </a:extLst>
            </p:cNvPr>
            <p:cNvSpPr/>
            <p:nvPr/>
          </p:nvSpPr>
          <p:spPr>
            <a:xfrm>
              <a:off x="1495475" y="2799645"/>
              <a:ext cx="2859741" cy="3596249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208CB7B-0554-E83D-402A-111471706CD4}"/>
                </a:ext>
              </a:extLst>
            </p:cNvPr>
            <p:cNvSpPr txBox="1"/>
            <p:nvPr/>
          </p:nvSpPr>
          <p:spPr>
            <a:xfrm>
              <a:off x="2416438" y="3112648"/>
              <a:ext cx="115288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 err="1"/>
                <a:t>PizzaBase</a:t>
              </a:r>
              <a:endParaRPr lang="fr-FR" sz="1350" dirty="0"/>
            </a:p>
          </p:txBody>
        </p:sp>
        <p:sp>
          <p:nvSpPr>
            <p:cNvPr id="24" name="Losange 23">
              <a:extLst>
                <a:ext uri="{FF2B5EF4-FFF2-40B4-BE49-F238E27FC236}">
                  <a16:creationId xmlns:a16="http://schemas.microsoft.com/office/drawing/2014/main" id="{54FDD29D-B355-8309-1138-0A83C5F2AF63}"/>
                </a:ext>
              </a:extLst>
            </p:cNvPr>
            <p:cNvSpPr/>
            <p:nvPr/>
          </p:nvSpPr>
          <p:spPr>
            <a:xfrm>
              <a:off x="3765331" y="407288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7" name="Losange 26">
              <a:extLst>
                <a:ext uri="{FF2B5EF4-FFF2-40B4-BE49-F238E27FC236}">
                  <a16:creationId xmlns:a16="http://schemas.microsoft.com/office/drawing/2014/main" id="{F8C358EA-117C-7D55-D48B-C1AD7DDDA728}"/>
                </a:ext>
              </a:extLst>
            </p:cNvPr>
            <p:cNvSpPr/>
            <p:nvPr/>
          </p:nvSpPr>
          <p:spPr>
            <a:xfrm>
              <a:off x="2745663" y="552657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4" name="Losange 13">
              <a:extLst>
                <a:ext uri="{FF2B5EF4-FFF2-40B4-BE49-F238E27FC236}">
                  <a16:creationId xmlns:a16="http://schemas.microsoft.com/office/drawing/2014/main" id="{612CB5D7-61C8-2055-4A56-A338C1DFBEAB}"/>
                </a:ext>
              </a:extLst>
            </p:cNvPr>
            <p:cNvSpPr/>
            <p:nvPr/>
          </p:nvSpPr>
          <p:spPr>
            <a:xfrm>
              <a:off x="2516696" y="456617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5" name="Losange 14">
              <a:extLst>
                <a:ext uri="{FF2B5EF4-FFF2-40B4-BE49-F238E27FC236}">
                  <a16:creationId xmlns:a16="http://schemas.microsoft.com/office/drawing/2014/main" id="{9C1BACA0-7199-0C17-A61D-E2DB92B8B222}"/>
                </a:ext>
              </a:extLst>
            </p:cNvPr>
            <p:cNvSpPr/>
            <p:nvPr/>
          </p:nvSpPr>
          <p:spPr>
            <a:xfrm>
              <a:off x="3276963" y="5178051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BF39EED-00E6-2B1D-1008-E5279B275537}"/>
              </a:ext>
            </a:extLst>
          </p:cNvPr>
          <p:cNvGrpSpPr/>
          <p:nvPr/>
        </p:nvGrpSpPr>
        <p:grpSpPr>
          <a:xfrm>
            <a:off x="1557337" y="3984002"/>
            <a:ext cx="3498931" cy="828873"/>
            <a:chOff x="2076452" y="4169002"/>
            <a:chExt cx="4665239" cy="1105163"/>
          </a:xfrm>
        </p:grpSpPr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1142A858-EC28-B181-C426-034078ABA218}"/>
                </a:ext>
              </a:extLst>
            </p:cNvPr>
            <p:cNvCxnSpPr>
              <a:cxnSpLocks/>
              <a:stCxn id="25" idx="1"/>
              <a:endCxn id="24" idx="3"/>
            </p:cNvCxnSpPr>
            <p:nvPr/>
          </p:nvCxnSpPr>
          <p:spPr>
            <a:xfrm flipH="1" flipV="1">
              <a:off x="3325086" y="4169002"/>
              <a:ext cx="2572844" cy="5276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F4E801E3-8316-17BC-E605-51C97D64C146}"/>
                </a:ext>
              </a:extLst>
            </p:cNvPr>
            <p:cNvCxnSpPr>
              <a:cxnSpLocks/>
              <a:stCxn id="22" idx="1"/>
              <a:endCxn id="14" idx="3"/>
            </p:cNvCxnSpPr>
            <p:nvPr/>
          </p:nvCxnSpPr>
          <p:spPr>
            <a:xfrm flipH="1">
              <a:off x="2076452" y="4511371"/>
              <a:ext cx="4665239" cy="15092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>
              <a:extLst>
                <a:ext uri="{FF2B5EF4-FFF2-40B4-BE49-F238E27FC236}">
                  <a16:creationId xmlns:a16="http://schemas.microsoft.com/office/drawing/2014/main" id="{C86AA9A9-0707-1134-CA34-3E90DD7150EB}"/>
                </a:ext>
              </a:extLst>
            </p:cNvPr>
            <p:cNvCxnSpPr>
              <a:cxnSpLocks/>
              <a:stCxn id="21" idx="1"/>
              <a:endCxn id="15" idx="3"/>
            </p:cNvCxnSpPr>
            <p:nvPr/>
          </p:nvCxnSpPr>
          <p:spPr>
            <a:xfrm flipH="1">
              <a:off x="2836718" y="5068477"/>
              <a:ext cx="3676235" cy="2056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arniture">
            <a:extLst>
              <a:ext uri="{FF2B5EF4-FFF2-40B4-BE49-F238E27FC236}">
                <a16:creationId xmlns:a16="http://schemas.microsoft.com/office/drawing/2014/main" id="{2D8343AE-A829-31DC-3023-3D3FD23094F0}"/>
              </a:ext>
            </a:extLst>
          </p:cNvPr>
          <p:cNvGrpSpPr/>
          <p:nvPr/>
        </p:nvGrpSpPr>
        <p:grpSpPr>
          <a:xfrm>
            <a:off x="6832252" y="2960271"/>
            <a:ext cx="2144806" cy="2697187"/>
            <a:chOff x="8799706" y="2804027"/>
            <a:chExt cx="2859741" cy="3596249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062EA60-6513-4FCE-2596-8E84CA5B57F6}"/>
                </a:ext>
              </a:extLst>
            </p:cNvPr>
            <p:cNvSpPr/>
            <p:nvPr/>
          </p:nvSpPr>
          <p:spPr>
            <a:xfrm>
              <a:off x="8799706" y="2804027"/>
              <a:ext cx="2859741" cy="3596249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82180F3-8024-05C9-74A8-3A8DA077C0F1}"/>
                </a:ext>
              </a:extLst>
            </p:cNvPr>
            <p:cNvSpPr txBox="1"/>
            <p:nvPr/>
          </p:nvSpPr>
          <p:spPr>
            <a:xfrm>
              <a:off x="9503099" y="2934228"/>
              <a:ext cx="14529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 err="1"/>
                <a:t>PizzaTopping</a:t>
              </a:r>
              <a:endParaRPr lang="fr-FR" sz="1350" dirty="0"/>
            </a:p>
          </p:txBody>
        </p:sp>
        <p:sp>
          <p:nvSpPr>
            <p:cNvPr id="26" name="Losange 25">
              <a:extLst>
                <a:ext uri="{FF2B5EF4-FFF2-40B4-BE49-F238E27FC236}">
                  <a16:creationId xmlns:a16="http://schemas.microsoft.com/office/drawing/2014/main" id="{1D724119-E15D-42D4-338E-3C2BC067FB1B}"/>
                </a:ext>
              </a:extLst>
            </p:cNvPr>
            <p:cNvSpPr/>
            <p:nvPr/>
          </p:nvSpPr>
          <p:spPr>
            <a:xfrm>
              <a:off x="9308063" y="4840414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8" name="Losange 27">
              <a:extLst>
                <a:ext uri="{FF2B5EF4-FFF2-40B4-BE49-F238E27FC236}">
                  <a16:creationId xmlns:a16="http://schemas.microsoft.com/office/drawing/2014/main" id="{03B4CCAE-CFCD-1720-EDF3-D5822AA88BFF}"/>
                </a:ext>
              </a:extLst>
            </p:cNvPr>
            <p:cNvSpPr/>
            <p:nvPr/>
          </p:nvSpPr>
          <p:spPr>
            <a:xfrm>
              <a:off x="10178127" y="422883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9" name="Losange 28">
              <a:extLst>
                <a:ext uri="{FF2B5EF4-FFF2-40B4-BE49-F238E27FC236}">
                  <a16:creationId xmlns:a16="http://schemas.microsoft.com/office/drawing/2014/main" id="{EEF3DC05-4B4A-AA62-0377-20925A4DB253}"/>
                </a:ext>
              </a:extLst>
            </p:cNvPr>
            <p:cNvSpPr/>
            <p:nvPr/>
          </p:nvSpPr>
          <p:spPr>
            <a:xfrm>
              <a:off x="9218221" y="383727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0" name="Losange 9">
              <a:extLst>
                <a:ext uri="{FF2B5EF4-FFF2-40B4-BE49-F238E27FC236}">
                  <a16:creationId xmlns:a16="http://schemas.microsoft.com/office/drawing/2014/main" id="{7A54FFD5-7EA1-2017-89C2-A38BB68C224F}"/>
                </a:ext>
              </a:extLst>
            </p:cNvPr>
            <p:cNvSpPr/>
            <p:nvPr/>
          </p:nvSpPr>
          <p:spPr>
            <a:xfrm>
              <a:off x="9982200" y="525972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48" name="Losange 47">
              <a:extLst>
                <a:ext uri="{FF2B5EF4-FFF2-40B4-BE49-F238E27FC236}">
                  <a16:creationId xmlns:a16="http://schemas.microsoft.com/office/drawing/2014/main" id="{55FDFF1E-51B4-86B1-BC88-1A0881833A57}"/>
                </a:ext>
              </a:extLst>
            </p:cNvPr>
            <p:cNvSpPr/>
            <p:nvPr/>
          </p:nvSpPr>
          <p:spPr>
            <a:xfrm>
              <a:off x="9813705" y="5718807"/>
              <a:ext cx="179683" cy="192227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</p:grpSp>
      <p:grpSp>
        <p:nvGrpSpPr>
          <p:cNvPr id="9" name="Pizza">
            <a:extLst>
              <a:ext uri="{FF2B5EF4-FFF2-40B4-BE49-F238E27FC236}">
                <a16:creationId xmlns:a16="http://schemas.microsoft.com/office/drawing/2014/main" id="{E34A2E3D-AA5E-FE80-267F-2BFC3CE9BF40}"/>
              </a:ext>
            </a:extLst>
          </p:cNvPr>
          <p:cNvGrpSpPr/>
          <p:nvPr/>
        </p:nvGrpSpPr>
        <p:grpSpPr>
          <a:xfrm>
            <a:off x="3925796" y="3292012"/>
            <a:ext cx="1539177" cy="1644320"/>
            <a:chOff x="5234395" y="3246348"/>
            <a:chExt cx="2052236" cy="2192427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07D66482-09E0-6990-BE3A-7C7EC9A64532}"/>
                </a:ext>
              </a:extLst>
            </p:cNvPr>
            <p:cNvSpPr/>
            <p:nvPr/>
          </p:nvSpPr>
          <p:spPr>
            <a:xfrm>
              <a:off x="5234395" y="3246348"/>
              <a:ext cx="2052236" cy="2192427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21" name="Losange 20">
              <a:extLst>
                <a:ext uri="{FF2B5EF4-FFF2-40B4-BE49-F238E27FC236}">
                  <a16:creationId xmlns:a16="http://schemas.microsoft.com/office/drawing/2014/main" id="{611A5599-CBA6-978F-3AD9-99E02A6265F6}"/>
                </a:ext>
              </a:extLst>
            </p:cNvPr>
            <p:cNvSpPr/>
            <p:nvPr/>
          </p:nvSpPr>
          <p:spPr>
            <a:xfrm>
              <a:off x="6512954" y="4972363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2" name="Losange 21">
              <a:extLst>
                <a:ext uri="{FF2B5EF4-FFF2-40B4-BE49-F238E27FC236}">
                  <a16:creationId xmlns:a16="http://schemas.microsoft.com/office/drawing/2014/main" id="{57B37819-3E27-77F5-33B2-9ABDC70C0913}"/>
                </a:ext>
              </a:extLst>
            </p:cNvPr>
            <p:cNvSpPr/>
            <p:nvPr/>
          </p:nvSpPr>
          <p:spPr>
            <a:xfrm>
              <a:off x="6741691" y="441525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5" name="Losange 24">
              <a:extLst>
                <a:ext uri="{FF2B5EF4-FFF2-40B4-BE49-F238E27FC236}">
                  <a16:creationId xmlns:a16="http://schemas.microsoft.com/office/drawing/2014/main" id="{BF5C96C9-F85D-C181-FA3C-D2F87CC867CB}"/>
                </a:ext>
              </a:extLst>
            </p:cNvPr>
            <p:cNvSpPr/>
            <p:nvPr/>
          </p:nvSpPr>
          <p:spPr>
            <a:xfrm>
              <a:off x="5897930" y="4125651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9C09C88E-EBAC-FBAE-05E6-FA4ED1B82ED0}"/>
                </a:ext>
              </a:extLst>
            </p:cNvPr>
            <p:cNvSpPr txBox="1"/>
            <p:nvPr/>
          </p:nvSpPr>
          <p:spPr>
            <a:xfrm>
              <a:off x="5876535" y="3316668"/>
              <a:ext cx="71045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/>
                <a:t>Pizza</a:t>
              </a:r>
            </a:p>
          </p:txBody>
        </p: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16D8D90B-7071-E64E-B8D5-6654B230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Axiomes</a:t>
            </a:r>
            <a:r>
              <a:rPr lang="en-US" dirty="0"/>
              <a:t> </a:t>
            </a:r>
            <a:r>
              <a:rPr lang="en-US" dirty="0" err="1"/>
              <a:t>existentiels</a:t>
            </a:r>
            <a:br>
              <a:rPr lang="en-US" dirty="0"/>
            </a:br>
            <a:r>
              <a:rPr lang="en-US" dirty="0"/>
              <a:t>(restrictions </a:t>
            </a:r>
            <a:r>
              <a:rPr lang="en-US" dirty="0" err="1"/>
              <a:t>existentielles</a:t>
            </a:r>
            <a:r>
              <a:rPr lang="en-US" dirty="0"/>
              <a:t>)</a:t>
            </a:r>
          </a:p>
        </p:txBody>
      </p:sp>
      <p:cxnSp>
        <p:nvCxnSpPr>
          <p:cNvPr id="34" name="Connecteur : en arc 30">
            <a:extLst>
              <a:ext uri="{FF2B5EF4-FFF2-40B4-BE49-F238E27FC236}">
                <a16:creationId xmlns:a16="http://schemas.microsoft.com/office/drawing/2014/main" id="{362DB48B-7FAA-BF46-AF1D-54FCEBB880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09984" y="2295146"/>
            <a:ext cx="1664631" cy="2031"/>
          </a:xfrm>
          <a:prstGeom prst="curved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E57D7A99-6F6C-234F-A0BC-E22C08F3BC2A}"/>
              </a:ext>
            </a:extLst>
          </p:cNvPr>
          <p:cNvSpPr txBox="1"/>
          <p:nvPr/>
        </p:nvSpPr>
        <p:spPr>
          <a:xfrm>
            <a:off x="3201751" y="2163873"/>
            <a:ext cx="639919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fr-CA" sz="1050" b="1" dirty="0" err="1">
                <a:solidFill>
                  <a:srgbClr val="00B050"/>
                </a:solidFill>
              </a:rPr>
              <a:t>hasBase</a:t>
            </a:r>
            <a:endParaRPr lang="fr-CA" sz="1050" b="1" dirty="0">
              <a:solidFill>
                <a:srgbClr val="00B050"/>
              </a:solidFill>
            </a:endParaRPr>
          </a:p>
        </p:txBody>
      </p:sp>
      <p:cxnSp>
        <p:nvCxnSpPr>
          <p:cNvPr id="41" name="Connecteur : en arc 6">
            <a:extLst>
              <a:ext uri="{FF2B5EF4-FFF2-40B4-BE49-F238E27FC236}">
                <a16:creationId xmlns:a16="http://schemas.microsoft.com/office/drawing/2014/main" id="{7E81EDDF-B7A5-434B-A0A2-783018566EB5}"/>
              </a:ext>
            </a:extLst>
          </p:cNvPr>
          <p:cNvCxnSpPr>
            <a:cxnSpLocks/>
          </p:cNvCxnSpPr>
          <p:nvPr/>
        </p:nvCxnSpPr>
        <p:spPr>
          <a:xfrm flipV="1">
            <a:off x="5357595" y="2288363"/>
            <a:ext cx="1623452" cy="6783"/>
          </a:xfrm>
          <a:prstGeom prst="curved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FD10EB98-A5E1-4443-B4BC-A634DDEC52C8}"/>
              </a:ext>
            </a:extLst>
          </p:cNvPr>
          <p:cNvSpPr txBox="1"/>
          <p:nvPr/>
        </p:nvSpPr>
        <p:spPr>
          <a:xfrm>
            <a:off x="5923873" y="2161174"/>
            <a:ext cx="830677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b="1" dirty="0" err="1">
                <a:solidFill>
                  <a:schemeClr val="accent1">
                    <a:lumMod val="75000"/>
                  </a:schemeClr>
                </a:solidFill>
              </a:rPr>
              <a:t>hasTopping</a:t>
            </a:r>
            <a:endParaRPr lang="fr-CA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Losange 44">
            <a:extLst>
              <a:ext uri="{FF2B5EF4-FFF2-40B4-BE49-F238E27FC236}">
                <a16:creationId xmlns:a16="http://schemas.microsoft.com/office/drawing/2014/main" id="{771B89A0-08EB-4F4E-976E-CF9E4259844C}"/>
              </a:ext>
            </a:extLst>
          </p:cNvPr>
          <p:cNvSpPr/>
          <p:nvPr/>
        </p:nvSpPr>
        <p:spPr>
          <a:xfrm>
            <a:off x="3315977" y="5113265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0" name="Losange 49">
            <a:extLst>
              <a:ext uri="{FF2B5EF4-FFF2-40B4-BE49-F238E27FC236}">
                <a16:creationId xmlns:a16="http://schemas.microsoft.com/office/drawing/2014/main" id="{25BC5901-3C38-C64C-B183-4836EF398796}"/>
              </a:ext>
            </a:extLst>
          </p:cNvPr>
          <p:cNvSpPr/>
          <p:nvPr/>
        </p:nvSpPr>
        <p:spPr>
          <a:xfrm>
            <a:off x="6120626" y="5116261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2" name="Losange 51">
            <a:extLst>
              <a:ext uri="{FF2B5EF4-FFF2-40B4-BE49-F238E27FC236}">
                <a16:creationId xmlns:a16="http://schemas.microsoft.com/office/drawing/2014/main" id="{1EAE2738-BBF3-FA47-8DC1-ABF221E58A91}"/>
              </a:ext>
            </a:extLst>
          </p:cNvPr>
          <p:cNvSpPr/>
          <p:nvPr/>
        </p:nvSpPr>
        <p:spPr>
          <a:xfrm>
            <a:off x="5761724" y="6032186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3" name="Losange 52">
            <a:extLst>
              <a:ext uri="{FF2B5EF4-FFF2-40B4-BE49-F238E27FC236}">
                <a16:creationId xmlns:a16="http://schemas.microsoft.com/office/drawing/2014/main" id="{50383BB1-C9BD-3C47-910D-0E63F9BDB884}"/>
              </a:ext>
            </a:extLst>
          </p:cNvPr>
          <p:cNvSpPr/>
          <p:nvPr/>
        </p:nvSpPr>
        <p:spPr>
          <a:xfrm>
            <a:off x="8039619" y="5329752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567497E-82EA-3245-A33C-FAA735266B8F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1729062" y="5074270"/>
            <a:ext cx="1654296" cy="699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4D6EE069-51B3-B645-B349-52508C1B7FDB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250588" y="5159176"/>
            <a:ext cx="1342163" cy="5926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658FA4A3-24DB-1247-9827-82E397CC17C6}"/>
              </a:ext>
            </a:extLst>
          </p:cNvPr>
          <p:cNvCxnSpPr>
            <a:cxnSpLocks/>
            <a:stCxn id="52" idx="3"/>
            <a:endCxn id="53" idx="0"/>
          </p:cNvCxnSpPr>
          <p:nvPr/>
        </p:nvCxnSpPr>
        <p:spPr>
          <a:xfrm flipV="1">
            <a:off x="5896486" y="5329752"/>
            <a:ext cx="2210514" cy="77451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41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2" grpId="0" animBg="1"/>
      <p:bldP spid="45" grpId="0" animBg="1"/>
      <p:bldP spid="50" grpId="0" animBg="1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93A3E7B7-1A5A-D5CF-006E-A0DCDEE51131}"/>
              </a:ext>
            </a:extLst>
          </p:cNvPr>
          <p:cNvGrpSpPr/>
          <p:nvPr/>
        </p:nvGrpSpPr>
        <p:grpSpPr>
          <a:xfrm>
            <a:off x="4558208" y="3807293"/>
            <a:ext cx="3307860" cy="1066841"/>
            <a:chOff x="6077610" y="3933390"/>
            <a:chExt cx="4410479" cy="1422454"/>
          </a:xfrm>
        </p:grpSpPr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955B86D9-7F9D-EC17-CFCB-988E5B92D0A1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6692635" y="5068479"/>
              <a:ext cx="3599527" cy="28736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025A7DED-CD11-7774-36B8-096BA6467BE0}"/>
                </a:ext>
              </a:extLst>
            </p:cNvPr>
            <p:cNvCxnSpPr>
              <a:cxnSpLocks/>
              <a:stCxn id="22" idx="3"/>
              <a:endCxn id="26" idx="1"/>
            </p:cNvCxnSpPr>
            <p:nvPr/>
          </p:nvCxnSpPr>
          <p:spPr>
            <a:xfrm>
              <a:off x="6921371" y="4511370"/>
              <a:ext cx="2696652" cy="425157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2EC0995F-07E4-A54F-FC55-4051588D65B0}"/>
                </a:ext>
              </a:extLst>
            </p:cNvPr>
            <p:cNvCxnSpPr>
              <a:cxnSpLocks/>
              <a:stCxn id="25" idx="3"/>
              <a:endCxn id="29" idx="1"/>
            </p:cNvCxnSpPr>
            <p:nvPr/>
          </p:nvCxnSpPr>
          <p:spPr>
            <a:xfrm flipV="1">
              <a:off x="6077610" y="3933390"/>
              <a:ext cx="3450571" cy="28837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C6FDC870-8D7C-1869-1BEA-705EEE6336B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6077610" y="4221765"/>
              <a:ext cx="4410479" cy="103185"/>
            </a:xfrm>
            <a:prstGeom prst="straightConnector1">
              <a:avLst/>
            </a:prstGeom>
            <a:ln w="25400"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Ellipse 37">
            <a:extLst>
              <a:ext uri="{FF2B5EF4-FFF2-40B4-BE49-F238E27FC236}">
                <a16:creationId xmlns:a16="http://schemas.microsoft.com/office/drawing/2014/main" id="{D94AA2E2-04F7-9541-9459-87E4D98BA9CE}"/>
              </a:ext>
            </a:extLst>
          </p:cNvPr>
          <p:cNvSpPr/>
          <p:nvPr/>
        </p:nvSpPr>
        <p:spPr>
          <a:xfrm>
            <a:off x="2913681" y="2697435"/>
            <a:ext cx="2969674" cy="4024040"/>
          </a:xfrm>
          <a:prstGeom prst="ellipse">
            <a:avLst/>
          </a:prstGeom>
          <a:solidFill>
            <a:srgbClr val="00B050">
              <a:alpha val="10000"/>
            </a:srgbClr>
          </a:solidFill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D9A09B-C76F-E344-18FE-EDD8326B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0127-01D8-405E-B080-F2773155ECBC}" type="slidenum">
              <a:rPr lang="fr-CA" smtClean="0"/>
              <a:pPr/>
              <a:t>19</a:t>
            </a:fld>
            <a:endParaRPr lang="fr-CA"/>
          </a:p>
        </p:txBody>
      </p:sp>
      <p:grpSp>
        <p:nvGrpSpPr>
          <p:cNvPr id="16" name="fond">
            <a:extLst>
              <a:ext uri="{FF2B5EF4-FFF2-40B4-BE49-F238E27FC236}">
                <a16:creationId xmlns:a16="http://schemas.microsoft.com/office/drawing/2014/main" id="{1481D1FB-AAF2-0284-225F-CD018FC25EF5}"/>
              </a:ext>
            </a:extLst>
          </p:cNvPr>
          <p:cNvGrpSpPr/>
          <p:nvPr/>
        </p:nvGrpSpPr>
        <p:grpSpPr>
          <a:xfrm>
            <a:off x="656659" y="2956984"/>
            <a:ext cx="2144806" cy="2697187"/>
            <a:chOff x="1495475" y="2799645"/>
            <a:chExt cx="2859741" cy="3596249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2862D5B-E8BC-9E87-8701-586511A61AF3}"/>
                </a:ext>
              </a:extLst>
            </p:cNvPr>
            <p:cNvSpPr/>
            <p:nvPr/>
          </p:nvSpPr>
          <p:spPr>
            <a:xfrm>
              <a:off x="1495475" y="2799645"/>
              <a:ext cx="2859741" cy="3596249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208CB7B-0554-E83D-402A-111471706CD4}"/>
                </a:ext>
              </a:extLst>
            </p:cNvPr>
            <p:cNvSpPr txBox="1"/>
            <p:nvPr/>
          </p:nvSpPr>
          <p:spPr>
            <a:xfrm>
              <a:off x="2416438" y="3112648"/>
              <a:ext cx="115288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 err="1"/>
                <a:t>PizzaBase</a:t>
              </a:r>
              <a:endParaRPr lang="fr-FR" sz="1350" dirty="0"/>
            </a:p>
          </p:txBody>
        </p:sp>
        <p:sp>
          <p:nvSpPr>
            <p:cNvPr id="24" name="Losange 23">
              <a:extLst>
                <a:ext uri="{FF2B5EF4-FFF2-40B4-BE49-F238E27FC236}">
                  <a16:creationId xmlns:a16="http://schemas.microsoft.com/office/drawing/2014/main" id="{54FDD29D-B355-8309-1138-0A83C5F2AF63}"/>
                </a:ext>
              </a:extLst>
            </p:cNvPr>
            <p:cNvSpPr/>
            <p:nvPr/>
          </p:nvSpPr>
          <p:spPr>
            <a:xfrm>
              <a:off x="3765331" y="407288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7" name="Losange 26">
              <a:extLst>
                <a:ext uri="{FF2B5EF4-FFF2-40B4-BE49-F238E27FC236}">
                  <a16:creationId xmlns:a16="http://schemas.microsoft.com/office/drawing/2014/main" id="{F8C358EA-117C-7D55-D48B-C1AD7DDDA728}"/>
                </a:ext>
              </a:extLst>
            </p:cNvPr>
            <p:cNvSpPr/>
            <p:nvPr/>
          </p:nvSpPr>
          <p:spPr>
            <a:xfrm>
              <a:off x="2745663" y="552657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4" name="Losange 13">
              <a:extLst>
                <a:ext uri="{FF2B5EF4-FFF2-40B4-BE49-F238E27FC236}">
                  <a16:creationId xmlns:a16="http://schemas.microsoft.com/office/drawing/2014/main" id="{612CB5D7-61C8-2055-4A56-A338C1DFBEAB}"/>
                </a:ext>
              </a:extLst>
            </p:cNvPr>
            <p:cNvSpPr/>
            <p:nvPr/>
          </p:nvSpPr>
          <p:spPr>
            <a:xfrm>
              <a:off x="2516696" y="456617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5" name="Losange 14">
              <a:extLst>
                <a:ext uri="{FF2B5EF4-FFF2-40B4-BE49-F238E27FC236}">
                  <a16:creationId xmlns:a16="http://schemas.microsoft.com/office/drawing/2014/main" id="{9C1BACA0-7199-0C17-A61D-E2DB92B8B222}"/>
                </a:ext>
              </a:extLst>
            </p:cNvPr>
            <p:cNvSpPr/>
            <p:nvPr/>
          </p:nvSpPr>
          <p:spPr>
            <a:xfrm>
              <a:off x="3276963" y="5178051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3BF39EED-00E6-2B1D-1008-E5279B275537}"/>
              </a:ext>
            </a:extLst>
          </p:cNvPr>
          <p:cNvGrpSpPr/>
          <p:nvPr/>
        </p:nvGrpSpPr>
        <p:grpSpPr>
          <a:xfrm>
            <a:off x="1557337" y="3984002"/>
            <a:ext cx="3498931" cy="828873"/>
            <a:chOff x="2076452" y="4169002"/>
            <a:chExt cx="4665239" cy="1105163"/>
          </a:xfrm>
        </p:grpSpPr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1142A858-EC28-B181-C426-034078ABA218}"/>
                </a:ext>
              </a:extLst>
            </p:cNvPr>
            <p:cNvCxnSpPr>
              <a:cxnSpLocks/>
              <a:stCxn id="25" idx="1"/>
              <a:endCxn id="24" idx="3"/>
            </p:cNvCxnSpPr>
            <p:nvPr/>
          </p:nvCxnSpPr>
          <p:spPr>
            <a:xfrm flipH="1" flipV="1">
              <a:off x="3325086" y="4169002"/>
              <a:ext cx="2572844" cy="5276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F4E801E3-8316-17BC-E605-51C97D64C146}"/>
                </a:ext>
              </a:extLst>
            </p:cNvPr>
            <p:cNvCxnSpPr>
              <a:cxnSpLocks/>
              <a:stCxn id="22" idx="1"/>
              <a:endCxn id="14" idx="3"/>
            </p:cNvCxnSpPr>
            <p:nvPr/>
          </p:nvCxnSpPr>
          <p:spPr>
            <a:xfrm flipH="1">
              <a:off x="2076452" y="4511371"/>
              <a:ext cx="4665239" cy="150923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>
              <a:extLst>
                <a:ext uri="{FF2B5EF4-FFF2-40B4-BE49-F238E27FC236}">
                  <a16:creationId xmlns:a16="http://schemas.microsoft.com/office/drawing/2014/main" id="{C86AA9A9-0707-1134-CA34-3E90DD7150EB}"/>
                </a:ext>
              </a:extLst>
            </p:cNvPr>
            <p:cNvCxnSpPr>
              <a:cxnSpLocks/>
              <a:stCxn id="21" idx="1"/>
              <a:endCxn id="15" idx="3"/>
            </p:cNvCxnSpPr>
            <p:nvPr/>
          </p:nvCxnSpPr>
          <p:spPr>
            <a:xfrm flipH="1">
              <a:off x="2836718" y="5068477"/>
              <a:ext cx="3676235" cy="205688"/>
            </a:xfrm>
            <a:prstGeom prst="straightConnector1">
              <a:avLst/>
            </a:prstGeom>
            <a:ln w="25400">
              <a:solidFill>
                <a:srgbClr val="00B050"/>
              </a:solidFill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arniture">
            <a:extLst>
              <a:ext uri="{FF2B5EF4-FFF2-40B4-BE49-F238E27FC236}">
                <a16:creationId xmlns:a16="http://schemas.microsoft.com/office/drawing/2014/main" id="{2D8343AE-A829-31DC-3023-3D3FD23094F0}"/>
              </a:ext>
            </a:extLst>
          </p:cNvPr>
          <p:cNvGrpSpPr/>
          <p:nvPr/>
        </p:nvGrpSpPr>
        <p:grpSpPr>
          <a:xfrm>
            <a:off x="6832252" y="2960271"/>
            <a:ext cx="2144806" cy="2697187"/>
            <a:chOff x="8799706" y="2804027"/>
            <a:chExt cx="2859741" cy="3596249"/>
          </a:xfrm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062EA60-6513-4FCE-2596-8E84CA5B57F6}"/>
                </a:ext>
              </a:extLst>
            </p:cNvPr>
            <p:cNvSpPr/>
            <p:nvPr/>
          </p:nvSpPr>
          <p:spPr>
            <a:xfrm>
              <a:off x="8799706" y="2804027"/>
              <a:ext cx="2859741" cy="3596249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82180F3-8024-05C9-74A8-3A8DA077C0F1}"/>
                </a:ext>
              </a:extLst>
            </p:cNvPr>
            <p:cNvSpPr txBox="1"/>
            <p:nvPr/>
          </p:nvSpPr>
          <p:spPr>
            <a:xfrm>
              <a:off x="9503099" y="2934228"/>
              <a:ext cx="145296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 err="1"/>
                <a:t>PizzaTopping</a:t>
              </a:r>
              <a:endParaRPr lang="fr-FR" sz="1350" dirty="0"/>
            </a:p>
          </p:txBody>
        </p:sp>
        <p:sp>
          <p:nvSpPr>
            <p:cNvPr id="26" name="Losange 25">
              <a:extLst>
                <a:ext uri="{FF2B5EF4-FFF2-40B4-BE49-F238E27FC236}">
                  <a16:creationId xmlns:a16="http://schemas.microsoft.com/office/drawing/2014/main" id="{1D724119-E15D-42D4-338E-3C2BC067FB1B}"/>
                </a:ext>
              </a:extLst>
            </p:cNvPr>
            <p:cNvSpPr/>
            <p:nvPr/>
          </p:nvSpPr>
          <p:spPr>
            <a:xfrm>
              <a:off x="9308063" y="4840414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8" name="Losange 27">
              <a:extLst>
                <a:ext uri="{FF2B5EF4-FFF2-40B4-BE49-F238E27FC236}">
                  <a16:creationId xmlns:a16="http://schemas.microsoft.com/office/drawing/2014/main" id="{03B4CCAE-CFCD-1720-EDF3-D5822AA88BFF}"/>
                </a:ext>
              </a:extLst>
            </p:cNvPr>
            <p:cNvSpPr/>
            <p:nvPr/>
          </p:nvSpPr>
          <p:spPr>
            <a:xfrm>
              <a:off x="10178127" y="422883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9" name="Losange 28">
              <a:extLst>
                <a:ext uri="{FF2B5EF4-FFF2-40B4-BE49-F238E27FC236}">
                  <a16:creationId xmlns:a16="http://schemas.microsoft.com/office/drawing/2014/main" id="{EEF3DC05-4B4A-AA62-0377-20925A4DB253}"/>
                </a:ext>
              </a:extLst>
            </p:cNvPr>
            <p:cNvSpPr/>
            <p:nvPr/>
          </p:nvSpPr>
          <p:spPr>
            <a:xfrm>
              <a:off x="9218221" y="383727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10" name="Losange 9">
              <a:extLst>
                <a:ext uri="{FF2B5EF4-FFF2-40B4-BE49-F238E27FC236}">
                  <a16:creationId xmlns:a16="http://schemas.microsoft.com/office/drawing/2014/main" id="{7A54FFD5-7EA1-2017-89C2-A38BB68C224F}"/>
                </a:ext>
              </a:extLst>
            </p:cNvPr>
            <p:cNvSpPr/>
            <p:nvPr/>
          </p:nvSpPr>
          <p:spPr>
            <a:xfrm>
              <a:off x="9982200" y="5259729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48" name="Losange 47">
              <a:extLst>
                <a:ext uri="{FF2B5EF4-FFF2-40B4-BE49-F238E27FC236}">
                  <a16:creationId xmlns:a16="http://schemas.microsoft.com/office/drawing/2014/main" id="{55FDFF1E-51B4-86B1-BC88-1A0881833A57}"/>
                </a:ext>
              </a:extLst>
            </p:cNvPr>
            <p:cNvSpPr/>
            <p:nvPr/>
          </p:nvSpPr>
          <p:spPr>
            <a:xfrm>
              <a:off x="9813705" y="5718807"/>
              <a:ext cx="179683" cy="192227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</p:grpSp>
      <p:grpSp>
        <p:nvGrpSpPr>
          <p:cNvPr id="9" name="Pizza">
            <a:extLst>
              <a:ext uri="{FF2B5EF4-FFF2-40B4-BE49-F238E27FC236}">
                <a16:creationId xmlns:a16="http://schemas.microsoft.com/office/drawing/2014/main" id="{E34A2E3D-AA5E-FE80-267F-2BFC3CE9BF40}"/>
              </a:ext>
            </a:extLst>
          </p:cNvPr>
          <p:cNvGrpSpPr/>
          <p:nvPr/>
        </p:nvGrpSpPr>
        <p:grpSpPr>
          <a:xfrm>
            <a:off x="3925796" y="3292012"/>
            <a:ext cx="1539177" cy="1644320"/>
            <a:chOff x="5234395" y="3246348"/>
            <a:chExt cx="2052236" cy="2192427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07D66482-09E0-6990-BE3A-7C7EC9A64532}"/>
                </a:ext>
              </a:extLst>
            </p:cNvPr>
            <p:cNvSpPr/>
            <p:nvPr/>
          </p:nvSpPr>
          <p:spPr>
            <a:xfrm>
              <a:off x="5234395" y="3246348"/>
              <a:ext cx="2052236" cy="2192427"/>
            </a:xfrm>
            <a:prstGeom prst="ellipse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350"/>
            </a:p>
          </p:txBody>
        </p:sp>
        <p:sp>
          <p:nvSpPr>
            <p:cNvPr id="21" name="Losange 20">
              <a:extLst>
                <a:ext uri="{FF2B5EF4-FFF2-40B4-BE49-F238E27FC236}">
                  <a16:creationId xmlns:a16="http://schemas.microsoft.com/office/drawing/2014/main" id="{611A5599-CBA6-978F-3AD9-99E02A6265F6}"/>
                </a:ext>
              </a:extLst>
            </p:cNvPr>
            <p:cNvSpPr/>
            <p:nvPr/>
          </p:nvSpPr>
          <p:spPr>
            <a:xfrm>
              <a:off x="6512954" y="4972363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2" name="Losange 21">
              <a:extLst>
                <a:ext uri="{FF2B5EF4-FFF2-40B4-BE49-F238E27FC236}">
                  <a16:creationId xmlns:a16="http://schemas.microsoft.com/office/drawing/2014/main" id="{57B37819-3E27-77F5-33B2-9ABDC70C0913}"/>
                </a:ext>
              </a:extLst>
            </p:cNvPr>
            <p:cNvSpPr/>
            <p:nvPr/>
          </p:nvSpPr>
          <p:spPr>
            <a:xfrm>
              <a:off x="6741691" y="4415256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25" name="Losange 24">
              <a:extLst>
                <a:ext uri="{FF2B5EF4-FFF2-40B4-BE49-F238E27FC236}">
                  <a16:creationId xmlns:a16="http://schemas.microsoft.com/office/drawing/2014/main" id="{BF5C96C9-F85D-C181-FA3C-D2F87CC867CB}"/>
                </a:ext>
              </a:extLst>
            </p:cNvPr>
            <p:cNvSpPr/>
            <p:nvPr/>
          </p:nvSpPr>
          <p:spPr>
            <a:xfrm>
              <a:off x="5897930" y="4125651"/>
              <a:ext cx="179683" cy="192226"/>
            </a:xfrm>
            <a:prstGeom prst="diamon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350"/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9C09C88E-EBAC-FBAE-05E6-FA4ED1B82ED0}"/>
                </a:ext>
              </a:extLst>
            </p:cNvPr>
            <p:cNvSpPr txBox="1"/>
            <p:nvPr/>
          </p:nvSpPr>
          <p:spPr>
            <a:xfrm>
              <a:off x="5876535" y="3316668"/>
              <a:ext cx="71045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350" dirty="0"/>
                <a:t>Pizza</a:t>
              </a:r>
            </a:p>
          </p:txBody>
        </p: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16D8D90B-7071-E64E-B8D5-6654B230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Axiomes</a:t>
            </a:r>
            <a:r>
              <a:rPr lang="en-US" dirty="0"/>
              <a:t> </a:t>
            </a:r>
            <a:r>
              <a:rPr lang="en-US" dirty="0" err="1"/>
              <a:t>existentiels</a:t>
            </a:r>
            <a:br>
              <a:rPr lang="en-US" dirty="0"/>
            </a:br>
            <a:r>
              <a:rPr lang="en-US" dirty="0"/>
              <a:t>(restrictions </a:t>
            </a:r>
            <a:r>
              <a:rPr lang="en-US" dirty="0" err="1"/>
              <a:t>existentielles</a:t>
            </a:r>
            <a:r>
              <a:rPr lang="en-US" dirty="0"/>
              <a:t>)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6EEE152-8D84-134F-9BCA-85442875F743}"/>
              </a:ext>
            </a:extLst>
          </p:cNvPr>
          <p:cNvSpPr/>
          <p:nvPr/>
        </p:nvSpPr>
        <p:spPr>
          <a:xfrm>
            <a:off x="3693319" y="2740420"/>
            <a:ext cx="2899784" cy="3981055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5" name="Losange 44">
            <a:extLst>
              <a:ext uri="{FF2B5EF4-FFF2-40B4-BE49-F238E27FC236}">
                <a16:creationId xmlns:a16="http://schemas.microsoft.com/office/drawing/2014/main" id="{771B89A0-08EB-4F4E-976E-CF9E4259844C}"/>
              </a:ext>
            </a:extLst>
          </p:cNvPr>
          <p:cNvSpPr/>
          <p:nvPr/>
        </p:nvSpPr>
        <p:spPr>
          <a:xfrm>
            <a:off x="3315977" y="5113265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0" name="Losange 49">
            <a:extLst>
              <a:ext uri="{FF2B5EF4-FFF2-40B4-BE49-F238E27FC236}">
                <a16:creationId xmlns:a16="http://schemas.microsoft.com/office/drawing/2014/main" id="{25BC5901-3C38-C64C-B183-4836EF398796}"/>
              </a:ext>
            </a:extLst>
          </p:cNvPr>
          <p:cNvSpPr/>
          <p:nvPr/>
        </p:nvSpPr>
        <p:spPr>
          <a:xfrm>
            <a:off x="6120626" y="5116261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2" name="Losange 51">
            <a:extLst>
              <a:ext uri="{FF2B5EF4-FFF2-40B4-BE49-F238E27FC236}">
                <a16:creationId xmlns:a16="http://schemas.microsoft.com/office/drawing/2014/main" id="{1EAE2738-BBF3-FA47-8DC1-ABF221E58A91}"/>
              </a:ext>
            </a:extLst>
          </p:cNvPr>
          <p:cNvSpPr/>
          <p:nvPr/>
        </p:nvSpPr>
        <p:spPr>
          <a:xfrm>
            <a:off x="5761724" y="6032186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3" name="Losange 52">
            <a:extLst>
              <a:ext uri="{FF2B5EF4-FFF2-40B4-BE49-F238E27FC236}">
                <a16:creationId xmlns:a16="http://schemas.microsoft.com/office/drawing/2014/main" id="{50383BB1-C9BD-3C47-910D-0E63F9BDB884}"/>
              </a:ext>
            </a:extLst>
          </p:cNvPr>
          <p:cNvSpPr/>
          <p:nvPr/>
        </p:nvSpPr>
        <p:spPr>
          <a:xfrm>
            <a:off x="8039619" y="5329752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D567497E-82EA-3245-A33C-FAA735266B8F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1729062" y="5074270"/>
            <a:ext cx="1654296" cy="699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4D6EE069-51B3-B645-B349-52508C1B7FDB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250588" y="5159176"/>
            <a:ext cx="1342163" cy="5926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658FA4A3-24DB-1247-9827-82E397CC17C6}"/>
              </a:ext>
            </a:extLst>
          </p:cNvPr>
          <p:cNvCxnSpPr>
            <a:cxnSpLocks/>
            <a:stCxn id="52" idx="3"/>
            <a:endCxn id="53" idx="0"/>
          </p:cNvCxnSpPr>
          <p:nvPr/>
        </p:nvCxnSpPr>
        <p:spPr>
          <a:xfrm flipV="1">
            <a:off x="5896486" y="5329752"/>
            <a:ext cx="2210514" cy="77451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7" name="Rectangle : coins arrondis 1">
            <a:extLst>
              <a:ext uri="{FF2B5EF4-FFF2-40B4-BE49-F238E27FC236}">
                <a16:creationId xmlns:a16="http://schemas.microsoft.com/office/drawing/2014/main" id="{6734CDD4-5DDC-C142-9964-CAD70FEFB590}"/>
              </a:ext>
            </a:extLst>
          </p:cNvPr>
          <p:cNvSpPr/>
          <p:nvPr/>
        </p:nvSpPr>
        <p:spPr>
          <a:xfrm>
            <a:off x="4374615" y="206273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/>
              <a:t>Pizza</a:t>
            </a:r>
          </a:p>
        </p:txBody>
      </p:sp>
      <p:sp>
        <p:nvSpPr>
          <p:cNvPr id="58" name="Rectangle : coins arrondis 2">
            <a:extLst>
              <a:ext uri="{FF2B5EF4-FFF2-40B4-BE49-F238E27FC236}">
                <a16:creationId xmlns:a16="http://schemas.microsoft.com/office/drawing/2014/main" id="{8066A653-97D0-1B48-87E8-10B9627D0814}"/>
              </a:ext>
            </a:extLst>
          </p:cNvPr>
          <p:cNvSpPr/>
          <p:nvPr/>
        </p:nvSpPr>
        <p:spPr>
          <a:xfrm>
            <a:off x="6981047" y="2055953"/>
            <a:ext cx="103340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PizzaTopping</a:t>
            </a:r>
            <a:endParaRPr lang="fr-CA" sz="1200" dirty="0"/>
          </a:p>
        </p:txBody>
      </p:sp>
      <p:cxnSp>
        <p:nvCxnSpPr>
          <p:cNvPr id="59" name="Connecteur : en arc 6">
            <a:extLst>
              <a:ext uri="{FF2B5EF4-FFF2-40B4-BE49-F238E27FC236}">
                <a16:creationId xmlns:a16="http://schemas.microsoft.com/office/drawing/2014/main" id="{5411D8F3-C2D6-DC4A-B0C9-CA69238DF529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 flipV="1">
            <a:off x="5357595" y="2288363"/>
            <a:ext cx="1623452" cy="6783"/>
          </a:xfrm>
          <a:prstGeom prst="curved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518F2AD3-1C73-F943-917E-4903441BF813}"/>
              </a:ext>
            </a:extLst>
          </p:cNvPr>
          <p:cNvSpPr txBox="1"/>
          <p:nvPr/>
        </p:nvSpPr>
        <p:spPr>
          <a:xfrm>
            <a:off x="5923873" y="2161174"/>
            <a:ext cx="830677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b="1" dirty="0" err="1">
                <a:solidFill>
                  <a:schemeClr val="accent1">
                    <a:lumMod val="75000"/>
                  </a:schemeClr>
                </a:solidFill>
              </a:rPr>
              <a:t>hasTopping</a:t>
            </a:r>
            <a:endParaRPr lang="fr-CA" sz="105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1" name="Rectangle : coins arrondis 29">
            <a:extLst>
              <a:ext uri="{FF2B5EF4-FFF2-40B4-BE49-F238E27FC236}">
                <a16:creationId xmlns:a16="http://schemas.microsoft.com/office/drawing/2014/main" id="{6B2145E3-9E50-AE41-A292-3DFE9E1D7813}"/>
              </a:ext>
            </a:extLst>
          </p:cNvPr>
          <p:cNvSpPr/>
          <p:nvPr/>
        </p:nvSpPr>
        <p:spPr>
          <a:xfrm>
            <a:off x="1727004" y="206476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PizzaBase</a:t>
            </a:r>
            <a:endParaRPr lang="fr-CA" sz="1200" dirty="0"/>
          </a:p>
        </p:txBody>
      </p:sp>
      <p:cxnSp>
        <p:nvCxnSpPr>
          <p:cNvPr id="62" name="Connecteur : en arc 30">
            <a:extLst>
              <a:ext uri="{FF2B5EF4-FFF2-40B4-BE49-F238E27FC236}">
                <a16:creationId xmlns:a16="http://schemas.microsoft.com/office/drawing/2014/main" id="{0B6706B6-437B-E843-A147-688BCB370FDD}"/>
              </a:ext>
            </a:extLst>
          </p:cNvPr>
          <p:cNvCxnSpPr>
            <a:cxnSpLocks/>
            <a:stCxn id="57" idx="1"/>
            <a:endCxn id="61" idx="3"/>
          </p:cNvCxnSpPr>
          <p:nvPr/>
        </p:nvCxnSpPr>
        <p:spPr>
          <a:xfrm rot="10800000" flipV="1">
            <a:off x="2709984" y="2295146"/>
            <a:ext cx="1664631" cy="2031"/>
          </a:xfrm>
          <a:prstGeom prst="curvedConnector3">
            <a:avLst>
              <a:gd name="adj1" fmla="val 50000"/>
            </a:avLst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ZoneTexte 62">
            <a:extLst>
              <a:ext uri="{FF2B5EF4-FFF2-40B4-BE49-F238E27FC236}">
                <a16:creationId xmlns:a16="http://schemas.microsoft.com/office/drawing/2014/main" id="{FFFD1E2A-CFD5-C64C-A312-7BC51B44BD95}"/>
              </a:ext>
            </a:extLst>
          </p:cNvPr>
          <p:cNvSpPr txBox="1"/>
          <p:nvPr/>
        </p:nvSpPr>
        <p:spPr>
          <a:xfrm>
            <a:off x="3201751" y="2163873"/>
            <a:ext cx="639919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fr-CA" sz="1050" b="1" dirty="0" err="1">
                <a:solidFill>
                  <a:srgbClr val="00B050"/>
                </a:solidFill>
              </a:rPr>
              <a:t>hasBase</a:t>
            </a:r>
            <a:endParaRPr lang="fr-CA" sz="1050" b="1" dirty="0">
              <a:solidFill>
                <a:srgbClr val="00B050"/>
              </a:solidFill>
            </a:endParaRPr>
          </a:p>
        </p:txBody>
      </p:sp>
      <p:sp>
        <p:nvSpPr>
          <p:cNvPr id="64" name="Rectangle : coins arrondis 15">
            <a:extLst>
              <a:ext uri="{FF2B5EF4-FFF2-40B4-BE49-F238E27FC236}">
                <a16:creationId xmlns:a16="http://schemas.microsoft.com/office/drawing/2014/main" id="{8E91EAF6-EFF2-D246-BC46-584030951D44}"/>
              </a:ext>
            </a:extLst>
          </p:cNvPr>
          <p:cNvSpPr/>
          <p:nvPr/>
        </p:nvSpPr>
        <p:spPr>
          <a:xfrm>
            <a:off x="7317281" y="1045630"/>
            <a:ext cx="402668" cy="3223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/>
              <a:t>A</a:t>
            </a:r>
          </a:p>
        </p:txBody>
      </p:sp>
      <p:sp>
        <p:nvSpPr>
          <p:cNvPr id="65" name="Rectangle : coins arrondis 16">
            <a:extLst>
              <a:ext uri="{FF2B5EF4-FFF2-40B4-BE49-F238E27FC236}">
                <a16:creationId xmlns:a16="http://schemas.microsoft.com/office/drawing/2014/main" id="{D2B1A0C3-0A83-AF40-9710-C1E4C71E6373}"/>
              </a:ext>
            </a:extLst>
          </p:cNvPr>
          <p:cNvSpPr/>
          <p:nvPr/>
        </p:nvSpPr>
        <p:spPr>
          <a:xfrm>
            <a:off x="8341918" y="1046821"/>
            <a:ext cx="402668" cy="32231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/>
              <a:t>B</a:t>
            </a:r>
          </a:p>
        </p:txBody>
      </p: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15D60994-F887-2C4C-AAF8-7E0BE716B6E7}"/>
              </a:ext>
            </a:extLst>
          </p:cNvPr>
          <p:cNvCxnSpPr>
            <a:stCxn id="64" idx="3"/>
            <a:endCxn id="65" idx="1"/>
          </p:cNvCxnSpPr>
          <p:nvPr/>
        </p:nvCxnSpPr>
        <p:spPr>
          <a:xfrm>
            <a:off x="7719949" y="1206785"/>
            <a:ext cx="621968" cy="119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>
            <a:extLst>
              <a:ext uri="{FF2B5EF4-FFF2-40B4-BE49-F238E27FC236}">
                <a16:creationId xmlns:a16="http://schemas.microsoft.com/office/drawing/2014/main" id="{B840C95A-BB12-EC4E-8CE7-D65807DD95E9}"/>
              </a:ext>
            </a:extLst>
          </p:cNvPr>
          <p:cNvSpPr txBox="1"/>
          <p:nvPr/>
        </p:nvSpPr>
        <p:spPr>
          <a:xfrm>
            <a:off x="7883629" y="1098017"/>
            <a:ext cx="256954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1050" b="1" dirty="0"/>
              <a:t>R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D5D97B08-B799-0F42-BE80-34B586DDF6EC}"/>
              </a:ext>
            </a:extLst>
          </p:cNvPr>
          <p:cNvSpPr txBox="1"/>
          <p:nvPr/>
        </p:nvSpPr>
        <p:spPr>
          <a:xfrm>
            <a:off x="7325499" y="1457887"/>
            <a:ext cx="14237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050" dirty="0"/>
              <a:t>A </a:t>
            </a:r>
            <a:r>
              <a:rPr lang="fr-CA" sz="1050" dirty="0" err="1"/>
              <a:t>SubclassOf</a:t>
            </a:r>
            <a:r>
              <a:rPr lang="fr-CA" sz="1050" dirty="0"/>
              <a:t> R </a:t>
            </a:r>
            <a:r>
              <a:rPr lang="fr-CA" sz="1050" dirty="0" err="1"/>
              <a:t>some</a:t>
            </a:r>
            <a:r>
              <a:rPr lang="fr-CA" sz="1050" dirty="0"/>
              <a:t> B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1C36AED3-D93A-A348-AD25-FF8F4987DD4E}"/>
              </a:ext>
            </a:extLst>
          </p:cNvPr>
          <p:cNvSpPr txBox="1"/>
          <p:nvPr/>
        </p:nvSpPr>
        <p:spPr>
          <a:xfrm>
            <a:off x="2007613" y="6493478"/>
            <a:ext cx="18985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>
                <a:solidFill>
                  <a:srgbClr val="00B050"/>
                </a:solidFill>
              </a:rPr>
              <a:t>hasBase</a:t>
            </a:r>
            <a:r>
              <a:rPr lang="fr-FR" sz="1350" dirty="0">
                <a:solidFill>
                  <a:srgbClr val="00B050"/>
                </a:solidFill>
              </a:rPr>
              <a:t> </a:t>
            </a:r>
            <a:r>
              <a:rPr lang="fr-FR" sz="1350" dirty="0" err="1">
                <a:solidFill>
                  <a:srgbClr val="00B050"/>
                </a:solidFill>
              </a:rPr>
              <a:t>some</a:t>
            </a:r>
            <a:r>
              <a:rPr lang="fr-FR" sz="1350" dirty="0">
                <a:solidFill>
                  <a:srgbClr val="00B050"/>
                </a:solidFill>
              </a:rPr>
              <a:t> </a:t>
            </a:r>
            <a:r>
              <a:rPr lang="fr-FR" sz="1350" dirty="0" err="1">
                <a:solidFill>
                  <a:srgbClr val="00B050"/>
                </a:solidFill>
              </a:rPr>
              <a:t>PizzaBase</a:t>
            </a:r>
            <a:endParaRPr lang="fr-FR" sz="1350" dirty="0">
              <a:solidFill>
                <a:srgbClr val="00B050"/>
              </a:solidFill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E53D255-885A-564D-A53E-03D89F788275}"/>
              </a:ext>
            </a:extLst>
          </p:cNvPr>
          <p:cNvSpPr txBox="1"/>
          <p:nvPr/>
        </p:nvSpPr>
        <p:spPr>
          <a:xfrm>
            <a:off x="5791862" y="6447230"/>
            <a:ext cx="23487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>
                <a:solidFill>
                  <a:srgbClr val="0070C0"/>
                </a:solidFill>
              </a:rPr>
              <a:t>hasTopping</a:t>
            </a:r>
            <a:r>
              <a:rPr lang="fr-FR" sz="1350" dirty="0">
                <a:solidFill>
                  <a:srgbClr val="0070C0"/>
                </a:solidFill>
              </a:rPr>
              <a:t> </a:t>
            </a:r>
            <a:r>
              <a:rPr lang="fr-FR" sz="1350" dirty="0" err="1">
                <a:solidFill>
                  <a:srgbClr val="0070C0"/>
                </a:solidFill>
              </a:rPr>
              <a:t>some</a:t>
            </a:r>
            <a:r>
              <a:rPr lang="fr-FR" sz="1350" dirty="0">
                <a:solidFill>
                  <a:srgbClr val="0070C0"/>
                </a:solidFill>
              </a:rPr>
              <a:t> </a:t>
            </a:r>
            <a:r>
              <a:rPr lang="fr-FR" sz="1350" dirty="0" err="1">
                <a:solidFill>
                  <a:srgbClr val="0070C0"/>
                </a:solidFill>
              </a:rPr>
              <a:t>PizzaTopping</a:t>
            </a:r>
            <a:endParaRPr lang="fr-FR" sz="135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08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D56518-2C5F-5288-0DCB-50435E208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Un axiome est une restriction de classe</a:t>
            </a:r>
          </a:p>
          <a:p>
            <a:endParaRPr lang="fr-CA" dirty="0"/>
          </a:p>
          <a:p>
            <a:pPr marL="0" indent="0">
              <a:buNone/>
            </a:pPr>
            <a:r>
              <a:rPr lang="fr-CA" dirty="0"/>
              <a:t>			</a:t>
            </a:r>
          </a:p>
          <a:p>
            <a:pPr marL="0" indent="0">
              <a:buNone/>
            </a:pPr>
            <a:r>
              <a:rPr lang="fr-CA" dirty="0"/>
              <a:t>			A </a:t>
            </a:r>
            <a:r>
              <a:rPr lang="fr-CA" dirty="0" err="1"/>
              <a:t>SubClassOf</a:t>
            </a:r>
            <a:r>
              <a:rPr lang="fr-CA" dirty="0"/>
              <a:t> (R </a:t>
            </a:r>
            <a:r>
              <a:rPr lang="fr-CA" i="1" dirty="0" err="1"/>
              <a:t>some</a:t>
            </a:r>
            <a:r>
              <a:rPr lang="fr-CA" dirty="0"/>
              <a:t> B)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3BF258-BD17-6306-848C-5375D88E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0127-01D8-405E-B080-F2773155ECBC}" type="slidenum">
              <a:rPr lang="fr-CA" smtClean="0"/>
              <a:pPr/>
              <a:t>20</a:t>
            </a:fld>
            <a:endParaRPr lang="fr-CA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2D89269-8E4A-926E-DC10-DCDF9ED78B25}"/>
              </a:ext>
            </a:extLst>
          </p:cNvPr>
          <p:cNvSpPr/>
          <p:nvPr/>
        </p:nvSpPr>
        <p:spPr>
          <a:xfrm>
            <a:off x="2667901" y="3056691"/>
            <a:ext cx="756815" cy="4351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dirty="0"/>
              <a:t>A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4D04132-23EF-AD5A-2E9C-6178458C2D63}"/>
              </a:ext>
            </a:extLst>
          </p:cNvPr>
          <p:cNvSpPr/>
          <p:nvPr/>
        </p:nvSpPr>
        <p:spPr>
          <a:xfrm>
            <a:off x="4935372" y="3056690"/>
            <a:ext cx="756815" cy="43511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dirty="0"/>
              <a:t>B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602DC2D-E1ED-7FC1-5867-05EBE9B811C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3424717" y="3274249"/>
            <a:ext cx="1510655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11E1E8C5-0C4B-0354-DD44-5C77EA22120B}"/>
              </a:ext>
            </a:extLst>
          </p:cNvPr>
          <p:cNvSpPr txBox="1"/>
          <p:nvPr/>
        </p:nvSpPr>
        <p:spPr>
          <a:xfrm>
            <a:off x="4052240" y="3017390"/>
            <a:ext cx="28362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2800" dirty="0"/>
              <a:t>R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F2E11EE-E0A0-27A0-2E46-88A361D0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786" y="5613961"/>
            <a:ext cx="4318411" cy="107960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0E40624-FFA7-1B41-8E42-577929D5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Axiomes</a:t>
            </a:r>
            <a:r>
              <a:rPr lang="en-US" dirty="0"/>
              <a:t> </a:t>
            </a:r>
            <a:r>
              <a:rPr lang="en-US" dirty="0" err="1"/>
              <a:t>existentiels</a:t>
            </a:r>
            <a:br>
              <a:rPr lang="en-US" dirty="0"/>
            </a:br>
            <a:r>
              <a:rPr lang="en-US" dirty="0"/>
              <a:t>(restrictions </a:t>
            </a:r>
            <a:r>
              <a:rPr lang="en-US" dirty="0" err="1"/>
              <a:t>existentielles</a:t>
            </a:r>
            <a:r>
              <a:rPr lang="en-US" dirty="0"/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CB8B9-D00B-1A48-B9C9-0F12790740E7}"/>
              </a:ext>
            </a:extLst>
          </p:cNvPr>
          <p:cNvSpPr/>
          <p:nvPr/>
        </p:nvSpPr>
        <p:spPr>
          <a:xfrm>
            <a:off x="3809885" y="5072108"/>
            <a:ext cx="281865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sz="2600" dirty="0"/>
              <a:t>classe « anonyme »</a:t>
            </a:r>
            <a:endParaRPr lang="fr-FR" sz="2600" dirty="0"/>
          </a:p>
        </p:txBody>
      </p:sp>
      <p:sp>
        <p:nvSpPr>
          <p:cNvPr id="9" name="Accolade ouvrante 8">
            <a:extLst>
              <a:ext uri="{FF2B5EF4-FFF2-40B4-BE49-F238E27FC236}">
                <a16:creationId xmlns:a16="http://schemas.microsoft.com/office/drawing/2014/main" id="{C917220D-6129-7440-ADA1-B9E38E9E9FD6}"/>
              </a:ext>
            </a:extLst>
          </p:cNvPr>
          <p:cNvSpPr/>
          <p:nvPr/>
        </p:nvSpPr>
        <p:spPr>
          <a:xfrm rot="16200000">
            <a:off x="4991199" y="3943418"/>
            <a:ext cx="275409" cy="162916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80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92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Axiomes</a:t>
            </a:r>
            <a:r>
              <a:rPr lang="en-US" dirty="0"/>
              <a:t> </a:t>
            </a:r>
            <a:r>
              <a:rPr lang="en-US" dirty="0" err="1"/>
              <a:t>existentiels</a:t>
            </a:r>
            <a:br>
              <a:rPr lang="en-US" dirty="0"/>
            </a:br>
            <a:r>
              <a:rPr lang="en-US" dirty="0"/>
              <a:t>(restrictions </a:t>
            </a:r>
            <a:r>
              <a:rPr lang="en-US" dirty="0" err="1"/>
              <a:t>existentielles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9" y="1622616"/>
            <a:ext cx="2920338" cy="144214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90" b="6107"/>
          <a:stretch/>
        </p:blipFill>
        <p:spPr>
          <a:xfrm>
            <a:off x="5605533" y="1593728"/>
            <a:ext cx="3361087" cy="29420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5" y="3459917"/>
            <a:ext cx="3262111" cy="3314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10616" y="4424867"/>
            <a:ext cx="56560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Pour </a:t>
            </a:r>
            <a:r>
              <a:rPr lang="en-US" sz="1400" dirty="0" err="1"/>
              <a:t>créer</a:t>
            </a:r>
            <a:r>
              <a:rPr lang="en-US" sz="1400" dirty="0"/>
              <a:t> </a:t>
            </a:r>
            <a:r>
              <a:rPr lang="en-US" sz="1400" dirty="0" err="1"/>
              <a:t>AmericanaPizza</a:t>
            </a:r>
            <a:r>
              <a:rPr lang="en-US" sz="1400" dirty="0"/>
              <a:t>:</a:t>
            </a:r>
          </a:p>
          <a:p>
            <a:r>
              <a:rPr lang="en-US" sz="1400" dirty="0"/>
              <a:t>- </a:t>
            </a:r>
            <a:r>
              <a:rPr lang="en-US" sz="1400" dirty="0" err="1"/>
              <a:t>Selectionner</a:t>
            </a:r>
            <a:r>
              <a:rPr lang="en-US" sz="1400" dirty="0"/>
              <a:t> </a:t>
            </a:r>
            <a:r>
              <a:rPr lang="en-US" sz="1400" dirty="0" err="1"/>
              <a:t>MargheritaPizza</a:t>
            </a:r>
            <a:endParaRPr lang="en-US" sz="1400" dirty="0"/>
          </a:p>
          <a:p>
            <a:r>
              <a:rPr lang="en-US" sz="1400" dirty="0"/>
              <a:t>- Edit / Duplicate selected class</a:t>
            </a:r>
          </a:p>
          <a:p>
            <a:r>
              <a:rPr lang="en-US" sz="1400" dirty="0"/>
              <a:t>- Changer nom pour ‘</a:t>
            </a:r>
            <a:r>
              <a:rPr lang="en-US" sz="1400" dirty="0" err="1"/>
              <a:t>AmericanaPizza</a:t>
            </a:r>
            <a:r>
              <a:rPr lang="en-US" sz="1400" dirty="0"/>
              <a:t>’</a:t>
            </a:r>
          </a:p>
          <a:p>
            <a:r>
              <a:rPr lang="en-US" sz="1400" dirty="0"/>
              <a:t>- Cliquer OK</a:t>
            </a:r>
          </a:p>
          <a:p>
            <a:r>
              <a:rPr lang="en-US" sz="1400" dirty="0"/>
              <a:t>- </a:t>
            </a:r>
            <a:r>
              <a:rPr lang="en-US" sz="1400" dirty="0" err="1"/>
              <a:t>Ajouter</a:t>
            </a:r>
            <a:r>
              <a:rPr lang="en-US" sz="1400" dirty="0"/>
              <a:t> </a:t>
            </a:r>
            <a:r>
              <a:rPr lang="en-US" sz="1400" dirty="0" err="1"/>
              <a:t>axiome</a:t>
            </a:r>
            <a:r>
              <a:rPr lang="en-US" sz="1400" dirty="0"/>
              <a:t> ‘</a:t>
            </a:r>
            <a:r>
              <a:rPr lang="en-US" sz="1400" dirty="0" err="1"/>
              <a:t>hasTopping</a:t>
            </a:r>
            <a:r>
              <a:rPr lang="en-US" sz="1400" dirty="0"/>
              <a:t> some </a:t>
            </a:r>
            <a:r>
              <a:rPr lang="en-US" sz="1400" dirty="0" err="1"/>
              <a:t>PepperoniSausageTopping</a:t>
            </a:r>
            <a:r>
              <a:rPr lang="en-US" sz="1400" dirty="0"/>
              <a:t>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1263" y="6023207"/>
            <a:ext cx="52320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Rendre</a:t>
            </a:r>
            <a:r>
              <a:rPr lang="en-US" sz="1400" dirty="0"/>
              <a:t> </a:t>
            </a:r>
            <a:r>
              <a:rPr lang="en-US" sz="1400" dirty="0" err="1"/>
              <a:t>MargheritaPizza</a:t>
            </a:r>
            <a:r>
              <a:rPr lang="en-US" sz="1400" dirty="0"/>
              <a:t> et </a:t>
            </a:r>
            <a:r>
              <a:rPr lang="en-US" sz="1400" dirty="0" err="1"/>
              <a:t>AmericanaPizza</a:t>
            </a:r>
            <a:r>
              <a:rPr lang="en-US" sz="1400" dirty="0"/>
              <a:t> </a:t>
            </a:r>
            <a:r>
              <a:rPr lang="en-US" sz="1400" dirty="0" err="1"/>
              <a:t>disjointes</a:t>
            </a:r>
            <a:endParaRPr lang="en-US" sz="14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374B9C2-8D35-F547-84EC-3CE48452B9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16" t="1506" r="3172" b="12220"/>
          <a:stretch/>
        </p:blipFill>
        <p:spPr>
          <a:xfrm>
            <a:off x="3310616" y="1628577"/>
            <a:ext cx="2052918" cy="1347700"/>
          </a:xfrm>
          <a:prstGeom prst="rect">
            <a:avLst/>
          </a:prstGeom>
        </p:spPr>
      </p:pic>
      <p:sp>
        <p:nvSpPr>
          <p:cNvPr id="12" name="Cadre 11">
            <a:extLst>
              <a:ext uri="{FF2B5EF4-FFF2-40B4-BE49-F238E27FC236}">
                <a16:creationId xmlns:a16="http://schemas.microsoft.com/office/drawing/2014/main" id="{A3353254-614F-594A-AB49-4392E0BC8BE3}"/>
              </a:ext>
            </a:extLst>
          </p:cNvPr>
          <p:cNvSpPr/>
          <p:nvPr/>
        </p:nvSpPr>
        <p:spPr>
          <a:xfrm>
            <a:off x="1014567" y="1620285"/>
            <a:ext cx="555812" cy="319631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Cadre 12">
            <a:extLst>
              <a:ext uri="{FF2B5EF4-FFF2-40B4-BE49-F238E27FC236}">
                <a16:creationId xmlns:a16="http://schemas.microsoft.com/office/drawing/2014/main" id="{8B1DCBF7-8E8D-F544-A084-51DEE19066F0}"/>
              </a:ext>
            </a:extLst>
          </p:cNvPr>
          <p:cNvSpPr/>
          <p:nvPr/>
        </p:nvSpPr>
        <p:spPr>
          <a:xfrm>
            <a:off x="4239184" y="1626246"/>
            <a:ext cx="1124350" cy="319631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Cadre 13">
            <a:extLst>
              <a:ext uri="{FF2B5EF4-FFF2-40B4-BE49-F238E27FC236}">
                <a16:creationId xmlns:a16="http://schemas.microsoft.com/office/drawing/2014/main" id="{0127AFBC-1907-0943-A6AA-302D95E9DD39}"/>
              </a:ext>
            </a:extLst>
          </p:cNvPr>
          <p:cNvSpPr/>
          <p:nvPr/>
        </p:nvSpPr>
        <p:spPr>
          <a:xfrm>
            <a:off x="6457691" y="1554065"/>
            <a:ext cx="1242990" cy="356963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Cadre 14">
            <a:extLst>
              <a:ext uri="{FF2B5EF4-FFF2-40B4-BE49-F238E27FC236}">
                <a16:creationId xmlns:a16="http://schemas.microsoft.com/office/drawing/2014/main" id="{6CE911D3-EA2C-8340-B23C-038199288824}"/>
              </a:ext>
            </a:extLst>
          </p:cNvPr>
          <p:cNvSpPr/>
          <p:nvPr/>
        </p:nvSpPr>
        <p:spPr>
          <a:xfrm>
            <a:off x="872681" y="3406780"/>
            <a:ext cx="1242990" cy="356963"/>
          </a:xfrm>
          <a:prstGeom prst="fram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A08B2B-49D1-614B-8275-D58F2BD5AE05}"/>
              </a:ext>
            </a:extLst>
          </p:cNvPr>
          <p:cNvSpPr/>
          <p:nvPr/>
        </p:nvSpPr>
        <p:spPr>
          <a:xfrm>
            <a:off x="1174872" y="122438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95970C-2452-D947-A814-D1BFF2604233}"/>
              </a:ext>
            </a:extLst>
          </p:cNvPr>
          <p:cNvSpPr/>
          <p:nvPr/>
        </p:nvSpPr>
        <p:spPr>
          <a:xfrm>
            <a:off x="4629944" y="1224396"/>
            <a:ext cx="301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262671-BBF2-CE42-A4A1-519615AC7E99}"/>
              </a:ext>
            </a:extLst>
          </p:cNvPr>
          <p:cNvSpPr/>
          <p:nvPr/>
        </p:nvSpPr>
        <p:spPr>
          <a:xfrm>
            <a:off x="6928343" y="1204938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C09BAE-194D-B74E-B0AA-3FC4BEE082D0}"/>
              </a:ext>
            </a:extLst>
          </p:cNvPr>
          <p:cNvSpPr/>
          <p:nvPr/>
        </p:nvSpPr>
        <p:spPr>
          <a:xfrm>
            <a:off x="1360168" y="303343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  <a:endParaRPr lang="fr-FR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582EE7E-668B-4147-BCB9-870C2A1FE909}"/>
              </a:ext>
            </a:extLst>
          </p:cNvPr>
          <p:cNvCxnSpPr/>
          <p:nvPr/>
        </p:nvCxnSpPr>
        <p:spPr>
          <a:xfrm>
            <a:off x="48505" y="3064757"/>
            <a:ext cx="3262111" cy="0"/>
          </a:xfrm>
          <a:prstGeom prst="line">
            <a:avLst/>
          </a:prstGeom>
          <a:ln cmpd="sng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B8F40AD-3102-6F4F-8C38-75D9A9F121D4}"/>
              </a:ext>
            </a:extLst>
          </p:cNvPr>
          <p:cNvCxnSpPr>
            <a:cxnSpLocks/>
          </p:cNvCxnSpPr>
          <p:nvPr/>
        </p:nvCxnSpPr>
        <p:spPr>
          <a:xfrm>
            <a:off x="3310616" y="3081148"/>
            <a:ext cx="2294917" cy="1454639"/>
          </a:xfrm>
          <a:prstGeom prst="line">
            <a:avLst/>
          </a:prstGeom>
          <a:ln cmpd="sng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8AA152D-EF50-8B4B-A707-1C239227C9AB}"/>
              </a:ext>
            </a:extLst>
          </p:cNvPr>
          <p:cNvCxnSpPr>
            <a:cxnSpLocks/>
          </p:cNvCxnSpPr>
          <p:nvPr/>
        </p:nvCxnSpPr>
        <p:spPr>
          <a:xfrm>
            <a:off x="5605533" y="4535787"/>
            <a:ext cx="3538467" cy="16390"/>
          </a:xfrm>
          <a:prstGeom prst="line">
            <a:avLst/>
          </a:prstGeom>
          <a:ln cmpd="sng"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24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Raisonneur</a:t>
            </a:r>
            <a:r>
              <a:rPr lang="en-US" dirty="0"/>
              <a:t> : </a:t>
            </a:r>
            <a:r>
              <a:rPr lang="en-US" dirty="0" err="1"/>
              <a:t>détecter</a:t>
            </a:r>
            <a:r>
              <a:rPr lang="en-US" dirty="0"/>
              <a:t> les </a:t>
            </a:r>
            <a:r>
              <a:rPr lang="en-US" dirty="0" err="1"/>
              <a:t>incohérences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52" y="812154"/>
            <a:ext cx="3810000" cy="1866900"/>
          </a:xfrm>
        </p:spPr>
      </p:pic>
      <p:sp>
        <p:nvSpPr>
          <p:cNvPr id="8" name="TextBox 7"/>
          <p:cNvSpPr txBox="1"/>
          <p:nvPr/>
        </p:nvSpPr>
        <p:spPr>
          <a:xfrm>
            <a:off x="4153930" y="6025389"/>
            <a:ext cx="49900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Ne pas </a:t>
            </a:r>
            <a:r>
              <a:rPr lang="en-US" sz="1600" b="1" dirty="0" err="1"/>
              <a:t>oublier</a:t>
            </a:r>
            <a:r>
              <a:rPr lang="en-US" sz="1600" b="1" dirty="0"/>
              <a:t> </a:t>
            </a:r>
            <a:r>
              <a:rPr lang="en-US" sz="1600" b="1" dirty="0" err="1"/>
              <a:t>d’arrêter</a:t>
            </a:r>
            <a:r>
              <a:rPr lang="en-US" sz="1600" b="1" dirty="0"/>
              <a:t> le </a:t>
            </a:r>
            <a:r>
              <a:rPr lang="en-US" sz="1600" b="1" dirty="0" err="1"/>
              <a:t>raisonneur</a:t>
            </a:r>
            <a:r>
              <a:rPr lang="en-US" sz="1600" b="1" dirty="0"/>
              <a:t>.</a:t>
            </a:r>
          </a:p>
          <a:p>
            <a:r>
              <a:rPr lang="en-US" sz="1600" b="1" dirty="0" err="1"/>
              <a:t>Réessayer</a:t>
            </a:r>
            <a:r>
              <a:rPr lang="en-US" sz="1600" b="1" dirty="0"/>
              <a:t> (start / </a:t>
            </a:r>
            <a:r>
              <a:rPr lang="en-US" sz="1600" b="1" dirty="0" err="1"/>
              <a:t>synchronise</a:t>
            </a:r>
            <a:r>
              <a:rPr lang="en-US" sz="1600" b="1" dirty="0"/>
              <a:t>) </a:t>
            </a:r>
            <a:r>
              <a:rPr lang="en-US" sz="1600" b="1" dirty="0" err="1"/>
              <a:t>en</a:t>
            </a:r>
            <a:r>
              <a:rPr lang="en-US" sz="1600" b="1" dirty="0"/>
              <a:t> </a:t>
            </a:r>
            <a:r>
              <a:rPr lang="en-US" sz="1600" b="1" dirty="0" err="1"/>
              <a:t>enlevant</a:t>
            </a:r>
            <a:r>
              <a:rPr lang="en-US" sz="1600" b="1" dirty="0"/>
              <a:t> </a:t>
            </a:r>
            <a:r>
              <a:rPr lang="en-US" sz="1600" b="1" dirty="0" err="1"/>
              <a:t>l’axiome</a:t>
            </a:r>
            <a:r>
              <a:rPr lang="en-US" sz="1600" b="1" dirty="0"/>
              <a:t> de </a:t>
            </a:r>
            <a:r>
              <a:rPr lang="en-US" sz="1600" b="1" dirty="0" err="1"/>
              <a:t>disjointure</a:t>
            </a:r>
            <a:r>
              <a:rPr lang="en-US" sz="1600" b="1" dirty="0"/>
              <a:t> de </a:t>
            </a:r>
            <a:r>
              <a:rPr lang="en-US" sz="1600" b="1" dirty="0" err="1"/>
              <a:t>CheeseTopping</a:t>
            </a:r>
            <a:r>
              <a:rPr lang="en-US" sz="1600" b="1" dirty="0"/>
              <a:t> et </a:t>
            </a:r>
            <a:r>
              <a:rPr lang="en-US" sz="1600" b="1" dirty="0" err="1"/>
              <a:t>VegetableTopping</a:t>
            </a:r>
            <a:r>
              <a:rPr lang="en-US" sz="1600" b="1" dirty="0"/>
              <a:t>.</a:t>
            </a:r>
          </a:p>
          <a:p>
            <a:endParaRPr lang="en-US" sz="16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2504BAB-112F-4145-ADCD-9B5098B2C4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91" y="2617256"/>
            <a:ext cx="3075895" cy="433373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A494666-1048-5940-A8CD-17C6D5931A5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542" r="9763"/>
          <a:stretch/>
        </p:blipFill>
        <p:spPr>
          <a:xfrm>
            <a:off x="4355756" y="3616566"/>
            <a:ext cx="3208826" cy="24262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2C57B87-FE42-E74E-9038-B90A8326ED2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18" t="948"/>
          <a:stretch/>
        </p:blipFill>
        <p:spPr>
          <a:xfrm>
            <a:off x="4442691" y="581891"/>
            <a:ext cx="2131880" cy="29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7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Classes primitive et classes </a:t>
            </a:r>
            <a:r>
              <a:rPr lang="en-US" dirty="0" err="1"/>
              <a:t>définies</a:t>
            </a:r>
            <a:r>
              <a:rPr lang="en-US" dirty="0"/>
              <a:t> (aka classes </a:t>
            </a:r>
            <a:r>
              <a:rPr lang="en-US" dirty="0" err="1"/>
              <a:t>équivalentes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4780" y="1417638"/>
            <a:ext cx="9467743" cy="117825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1073" y="2413580"/>
            <a:ext cx="3886200" cy="1892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497" y="4201641"/>
            <a:ext cx="9144000" cy="1321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567" y="5618149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Edit </a:t>
            </a:r>
            <a:r>
              <a:rPr lang="en-US" dirty="0"/>
              <a:t>→</a:t>
            </a:r>
            <a:r>
              <a:rPr lang="en-US" b="1" dirty="0"/>
              <a:t> Convert to defined class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1373" y="5377881"/>
            <a:ext cx="4165600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567" y="3052230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Créer</a:t>
            </a:r>
            <a:r>
              <a:rPr lang="en-US" b="1" dirty="0"/>
              <a:t> </a:t>
            </a:r>
            <a:r>
              <a:rPr lang="en-US" b="1" dirty="0" err="1"/>
              <a:t>CheesyPizza</a:t>
            </a:r>
            <a:endParaRPr lang="en-US" b="1" dirty="0"/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4B617CA-AC0A-C142-9E48-66B7758D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23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7097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Raisonneur</a:t>
            </a:r>
            <a:r>
              <a:rPr lang="en-US" dirty="0"/>
              <a:t> : </a:t>
            </a:r>
            <a:br>
              <a:rPr lang="en-US" dirty="0"/>
            </a:br>
            <a:r>
              <a:rPr lang="en-US" dirty="0"/>
              <a:t>classification </a:t>
            </a:r>
            <a:r>
              <a:rPr lang="en-US" dirty="0" err="1"/>
              <a:t>automatique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30" y="1733528"/>
            <a:ext cx="4076272" cy="202292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4751"/>
            <a:ext cx="9144000" cy="22032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88541" y="1604682"/>
            <a:ext cx="423303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Héritage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multiple :=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Certaines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classes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ont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plusieurs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classes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parentes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Principe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méthodologique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: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Construire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une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hiérarchie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à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héritage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simple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asserté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.</a:t>
            </a:r>
          </a:p>
          <a:p>
            <a:pPr marL="285750" indent="-285750" algn="just">
              <a:buFontTx/>
              <a:buChar char="-"/>
            </a:pP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Le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raisonneur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pourra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inférer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et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maintenir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</a:t>
            </a:r>
            <a:r>
              <a:rPr lang="en-US" dirty="0" err="1">
                <a:latin typeface="Cambria" charset="0"/>
                <a:ea typeface="ＭＳ 明朝" charset="-128"/>
                <a:cs typeface="Times New Roman" charset="0"/>
              </a:rPr>
              <a:t>l’héritage</a:t>
            </a:r>
            <a:r>
              <a:rPr lang="en-US" dirty="0">
                <a:latin typeface="Cambria" charset="0"/>
                <a:ea typeface="ＭＳ 明朝" charset="-128"/>
                <a:cs typeface="Times New Roman" charset="0"/>
              </a:rPr>
              <a:t> multiple.</a:t>
            </a:r>
            <a:endParaRPr lang="en-US" dirty="0">
              <a:effectLst/>
              <a:latin typeface="Cambria" charset="0"/>
              <a:ea typeface="ＭＳ 明朝" charset="-128"/>
              <a:cs typeface="Times New Roman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CDAF2E-501F-C54A-BCA2-41E09191E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30" y="1467537"/>
            <a:ext cx="4076272" cy="98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3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</a:t>
            </a:r>
            <a:r>
              <a:rPr lang="en-US" dirty="0" err="1"/>
              <a:t>universelles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400" y="1815978"/>
            <a:ext cx="5537200" cy="1841500"/>
          </a:xfrm>
        </p:spPr>
      </p:pic>
      <p:sp>
        <p:nvSpPr>
          <p:cNvPr id="5" name="TextBox 4"/>
          <p:cNvSpPr txBox="1"/>
          <p:nvPr/>
        </p:nvSpPr>
        <p:spPr>
          <a:xfrm>
            <a:off x="2645032" y="4406227"/>
            <a:ext cx="469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 → Convert to defined class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0122" y="4907405"/>
            <a:ext cx="4394200" cy="146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29032" y="3604658"/>
            <a:ext cx="5885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Voyez-vous</a:t>
            </a:r>
            <a:r>
              <a:rPr lang="en-US" dirty="0"/>
              <a:t> un </a:t>
            </a:r>
            <a:r>
              <a:rPr lang="en-US" dirty="0" err="1"/>
              <a:t>problème</a:t>
            </a:r>
            <a:r>
              <a:rPr lang="en-US" dirty="0"/>
              <a:t> avec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caractérisation</a:t>
            </a:r>
            <a:r>
              <a:rPr lang="en-US" dirty="0"/>
              <a:t> ?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05370143-6AE0-3049-9C99-928CBE16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25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4680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50CD6-F477-612B-F8D1-F000C2B0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Hypothèse du monde ouvert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6AAD50-640A-69E1-6B5F-22E61B9DC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MargheritaPizza</a:t>
            </a:r>
            <a:r>
              <a:rPr lang="en-US" dirty="0"/>
              <a:t> sera-t-</a:t>
            </a:r>
            <a:r>
              <a:rPr lang="en-US" dirty="0" err="1"/>
              <a:t>elle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classée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sous-</a:t>
            </a:r>
            <a:r>
              <a:rPr lang="en-US" dirty="0" err="1"/>
              <a:t>classe</a:t>
            </a:r>
            <a:r>
              <a:rPr lang="en-US" dirty="0"/>
              <a:t> de </a:t>
            </a:r>
          </a:p>
          <a:p>
            <a:pPr marL="0" indent="0">
              <a:buNone/>
            </a:pPr>
            <a:r>
              <a:rPr lang="en-US" dirty="0" err="1"/>
              <a:t>VegetarianPizza</a:t>
            </a:r>
            <a:r>
              <a:rPr lang="en-US" dirty="0"/>
              <a:t> ?</a:t>
            </a:r>
          </a:p>
          <a:p>
            <a:endParaRPr lang="fr-CA" i="1" dirty="0"/>
          </a:p>
          <a:p>
            <a:r>
              <a:rPr lang="fr-CA" i="1" dirty="0"/>
              <a:t>« Ce qui n’est pas énoncé peut être vrai ou faux »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Nécessité de contraindre l’ontologie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Une </a:t>
            </a:r>
            <a:r>
              <a:rPr lang="fr-CA" dirty="0" err="1"/>
              <a:t>MozarellaTopping</a:t>
            </a:r>
            <a:r>
              <a:rPr lang="fr-CA" dirty="0"/>
              <a:t> pourrait être un </a:t>
            </a:r>
            <a:r>
              <a:rPr lang="fr-CA" dirty="0" err="1"/>
              <a:t>MeatTopping</a:t>
            </a:r>
            <a:r>
              <a:rPr lang="fr-CA" dirty="0"/>
              <a:t> </a:t>
            </a:r>
          </a:p>
          <a:p>
            <a:pPr marL="457200" lvl="1" indent="0">
              <a:buNone/>
            </a:pPr>
            <a:r>
              <a:rPr lang="fr-CA" dirty="0"/>
              <a:t>→ nécessité de disjonctions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dirty="0"/>
              <a:t>Une </a:t>
            </a:r>
            <a:r>
              <a:rPr lang="fr-CA" dirty="0" err="1"/>
              <a:t>MargheritaPizza</a:t>
            </a:r>
            <a:r>
              <a:rPr lang="fr-CA" dirty="0"/>
              <a:t> pourrait avoir un </a:t>
            </a:r>
            <a:r>
              <a:rPr lang="fr-CA" dirty="0" err="1"/>
              <a:t>MeatTopping</a:t>
            </a:r>
            <a:endParaRPr lang="fr-CA" dirty="0"/>
          </a:p>
          <a:p>
            <a:pPr marL="457200" lvl="1" indent="0">
              <a:buNone/>
            </a:pPr>
            <a:r>
              <a:rPr lang="fr-CA" dirty="0"/>
              <a:t>→ nécessité de restrictions universelles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BC8C42-3A67-B31D-F251-F9443E0D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D0127-01D8-405E-B080-F2773155ECBC}" type="slidenum">
              <a:rPr lang="fr-CA" smtClean="0"/>
              <a:pPr/>
              <a:t>26</a:t>
            </a:fld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05525CA-564B-B14B-B631-75825A1EE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211118"/>
            <a:ext cx="35306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7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374C4A0-217D-4614-5475-1AAC9059B953}"/>
              </a:ext>
            </a:extLst>
          </p:cNvPr>
          <p:cNvCxnSpPr>
            <a:cxnSpLocks/>
          </p:cNvCxnSpPr>
          <p:nvPr/>
        </p:nvCxnSpPr>
        <p:spPr>
          <a:xfrm flipV="1">
            <a:off x="799362" y="3578104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E1E060E-8FE7-2318-1EC0-48B6531DF011}"/>
              </a:ext>
            </a:extLst>
          </p:cNvPr>
          <p:cNvCxnSpPr>
            <a:cxnSpLocks/>
          </p:cNvCxnSpPr>
          <p:nvPr/>
        </p:nvCxnSpPr>
        <p:spPr>
          <a:xfrm flipH="1" flipV="1">
            <a:off x="2164877" y="3578104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FCF194B-ACC3-4F5A-7C2E-4E9539ED3322}"/>
              </a:ext>
            </a:extLst>
          </p:cNvPr>
          <p:cNvCxnSpPr>
            <a:cxnSpLocks/>
          </p:cNvCxnSpPr>
          <p:nvPr/>
        </p:nvCxnSpPr>
        <p:spPr>
          <a:xfrm flipH="1" flipV="1">
            <a:off x="3530391" y="3578104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6E72AC9-B3E4-FBD5-ED95-5C3EDE48CDA4}"/>
              </a:ext>
            </a:extLst>
          </p:cNvPr>
          <p:cNvCxnSpPr>
            <a:cxnSpLocks/>
          </p:cNvCxnSpPr>
          <p:nvPr/>
        </p:nvCxnSpPr>
        <p:spPr>
          <a:xfrm flipV="1">
            <a:off x="799362" y="2602739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A2C07DD-59F8-A1B5-F8BF-979E20CDDDED}"/>
              </a:ext>
            </a:extLst>
          </p:cNvPr>
          <p:cNvCxnSpPr>
            <a:cxnSpLocks/>
          </p:cNvCxnSpPr>
          <p:nvPr/>
        </p:nvCxnSpPr>
        <p:spPr>
          <a:xfrm flipV="1">
            <a:off x="2164877" y="2602739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66A6F30-3100-9AC9-0AE8-0C2DD044F5DA}"/>
              </a:ext>
            </a:extLst>
          </p:cNvPr>
          <p:cNvCxnSpPr>
            <a:cxnSpLocks/>
          </p:cNvCxnSpPr>
          <p:nvPr/>
        </p:nvCxnSpPr>
        <p:spPr>
          <a:xfrm flipH="1" flipV="1">
            <a:off x="2337139" y="2602739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3AF5BEE4-7EE9-2641-F926-D57C26E3ED54}"/>
              </a:ext>
            </a:extLst>
          </p:cNvPr>
          <p:cNvSpPr txBox="1"/>
          <p:nvPr/>
        </p:nvSpPr>
        <p:spPr>
          <a:xfrm>
            <a:off x="1355317" y="275481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815F0BA-1E35-AE1F-05A9-5BDB767DEFA3}"/>
              </a:ext>
            </a:extLst>
          </p:cNvPr>
          <p:cNvSpPr txBox="1"/>
          <p:nvPr/>
        </p:nvSpPr>
        <p:spPr>
          <a:xfrm>
            <a:off x="2091589" y="2784037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97A084C-0101-937B-2D7B-F9981C98DF82}"/>
              </a:ext>
            </a:extLst>
          </p:cNvPr>
          <p:cNvSpPr txBox="1"/>
          <p:nvPr/>
        </p:nvSpPr>
        <p:spPr>
          <a:xfrm>
            <a:off x="2810990" y="2765458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AECB560-B8B0-57CF-C1D2-1186B168BFC8}"/>
              </a:ext>
            </a:extLst>
          </p:cNvPr>
          <p:cNvSpPr txBox="1"/>
          <p:nvPr/>
        </p:nvSpPr>
        <p:spPr>
          <a:xfrm>
            <a:off x="632786" y="378171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100B82F-236E-6DEB-A03A-6EB849819F94}"/>
              </a:ext>
            </a:extLst>
          </p:cNvPr>
          <p:cNvSpPr txBox="1"/>
          <p:nvPr/>
        </p:nvSpPr>
        <p:spPr>
          <a:xfrm>
            <a:off x="1997534" y="377177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DB44D41-5C8D-798D-6F4C-E2A914741D3D}"/>
              </a:ext>
            </a:extLst>
          </p:cNvPr>
          <p:cNvSpPr txBox="1"/>
          <p:nvPr/>
        </p:nvSpPr>
        <p:spPr>
          <a:xfrm>
            <a:off x="3398378" y="381209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ACA3705D-2547-DADD-F024-12F9B920E536}"/>
              </a:ext>
            </a:extLst>
          </p:cNvPr>
          <p:cNvSpPr/>
          <p:nvPr/>
        </p:nvSpPr>
        <p:spPr>
          <a:xfrm>
            <a:off x="31075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Cheese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273BE872-7892-0934-EF0A-748A2C0DA89C}"/>
              </a:ext>
            </a:extLst>
          </p:cNvPr>
          <p:cNvSpPr/>
          <p:nvPr/>
        </p:nvSpPr>
        <p:spPr>
          <a:xfrm>
            <a:off x="1711792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Meat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6018411-CD88-CB37-0494-8AB3C311A627}"/>
              </a:ext>
            </a:extLst>
          </p:cNvPr>
          <p:cNvSpPr/>
          <p:nvPr/>
        </p:nvSpPr>
        <p:spPr>
          <a:xfrm>
            <a:off x="299626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Vegetable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764814F-31C1-62D6-DCED-51E72BEB3EBB}"/>
              </a:ext>
            </a:extLst>
          </p:cNvPr>
          <p:cNvSpPr/>
          <p:nvPr/>
        </p:nvSpPr>
        <p:spPr>
          <a:xfrm>
            <a:off x="304979" y="416251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9BA14EE2-976E-063D-9B5E-676C9B97F364}"/>
              </a:ext>
            </a:extLst>
          </p:cNvPr>
          <p:cNvSpPr/>
          <p:nvPr/>
        </p:nvSpPr>
        <p:spPr>
          <a:xfrm>
            <a:off x="2996261" y="420412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Tomato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45F319E6-E14E-2B1C-522A-0C2C2A758A60}"/>
              </a:ext>
            </a:extLst>
          </p:cNvPr>
          <p:cNvSpPr/>
          <p:nvPr/>
        </p:nvSpPr>
        <p:spPr>
          <a:xfrm>
            <a:off x="1703143" y="418438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Pepperoni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3F53E672-BAB6-90C2-FC13-7D209D522395}"/>
              </a:ext>
            </a:extLst>
          </p:cNvPr>
          <p:cNvSpPr/>
          <p:nvPr/>
        </p:nvSpPr>
        <p:spPr>
          <a:xfrm>
            <a:off x="1882292" y="2143355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100" dirty="0"/>
              <a:t>Pizza</a:t>
            </a:r>
          </a:p>
          <a:p>
            <a:pPr algn="ctr"/>
            <a:r>
              <a:rPr lang="fr-CA" sz="1100" dirty="0" err="1"/>
              <a:t>Topping</a:t>
            </a:r>
            <a:endParaRPr lang="fr-CA" sz="1100" dirty="0"/>
          </a:p>
        </p:txBody>
      </p:sp>
      <p:sp>
        <p:nvSpPr>
          <p:cNvPr id="39" name="Titre 1">
            <a:extLst>
              <a:ext uri="{FF2B5EF4-FFF2-40B4-BE49-F238E27FC236}">
                <a16:creationId xmlns:a16="http://schemas.microsoft.com/office/drawing/2014/main" id="{C2F90166-AA45-4BD2-D53E-94587590C1A2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CA" sz="3300" dirty="0"/>
              <a:t>Hypothèse du monde ouvert</a:t>
            </a:r>
          </a:p>
          <a:p>
            <a:r>
              <a:rPr lang="fr-CA" sz="3300" b="0" dirty="0"/>
              <a:t> </a:t>
            </a:r>
          </a:p>
        </p:txBody>
      </p:sp>
      <p:sp>
        <p:nvSpPr>
          <p:cNvPr id="30" name="Espace réservé du numéro de diapositive 3">
            <a:extLst>
              <a:ext uri="{FF2B5EF4-FFF2-40B4-BE49-F238E27FC236}">
                <a16:creationId xmlns:a16="http://schemas.microsoft.com/office/drawing/2014/main" id="{D21194CD-D730-644B-9997-3B1FB573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27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9067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re 1">
            <a:extLst>
              <a:ext uri="{FF2B5EF4-FFF2-40B4-BE49-F238E27FC236}">
                <a16:creationId xmlns:a16="http://schemas.microsoft.com/office/drawing/2014/main" id="{C2F90166-AA45-4BD2-D53E-94587590C1A2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CA" sz="3300" dirty="0"/>
              <a:t>Hypothèse du monde ouvert</a:t>
            </a:r>
          </a:p>
          <a:p>
            <a:r>
              <a:rPr lang="fr-CA" sz="3300" b="0" dirty="0"/>
              <a:t>BD : monde fermé</a:t>
            </a:r>
          </a:p>
        </p:txBody>
      </p:sp>
      <p:pic>
        <p:nvPicPr>
          <p:cNvPr id="3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A59D0352-8058-DB50-27AC-3E79F12EB2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818" y="2230113"/>
            <a:ext cx="4071482" cy="2695982"/>
          </a:xfrm>
          <a:prstGeom prst="rect">
            <a:avLst/>
          </a:prstGeom>
        </p:spPr>
      </p:pic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A387CDF-2217-3047-9C7E-EAC2B5E8A91E}"/>
              </a:ext>
            </a:extLst>
          </p:cNvPr>
          <p:cNvCxnSpPr>
            <a:cxnSpLocks/>
          </p:cNvCxnSpPr>
          <p:nvPr/>
        </p:nvCxnSpPr>
        <p:spPr>
          <a:xfrm flipV="1">
            <a:off x="799362" y="3578104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1B8AD4BE-04FE-454D-A828-C6A3FC5E54F6}"/>
              </a:ext>
            </a:extLst>
          </p:cNvPr>
          <p:cNvCxnSpPr>
            <a:cxnSpLocks/>
          </p:cNvCxnSpPr>
          <p:nvPr/>
        </p:nvCxnSpPr>
        <p:spPr>
          <a:xfrm flipH="1" flipV="1">
            <a:off x="2164877" y="3578104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70F520AA-DBAD-6C4B-BA48-42CDC7C38B0E}"/>
              </a:ext>
            </a:extLst>
          </p:cNvPr>
          <p:cNvCxnSpPr>
            <a:cxnSpLocks/>
          </p:cNvCxnSpPr>
          <p:nvPr/>
        </p:nvCxnSpPr>
        <p:spPr>
          <a:xfrm flipH="1" flipV="1">
            <a:off x="3530391" y="3578104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298FF67E-2DA4-2D41-9709-F4EC7A0F7EA1}"/>
              </a:ext>
            </a:extLst>
          </p:cNvPr>
          <p:cNvCxnSpPr>
            <a:cxnSpLocks/>
          </p:cNvCxnSpPr>
          <p:nvPr/>
        </p:nvCxnSpPr>
        <p:spPr>
          <a:xfrm flipV="1">
            <a:off x="799362" y="2602739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4995D01-1E66-984C-8015-1E14EF88CE29}"/>
              </a:ext>
            </a:extLst>
          </p:cNvPr>
          <p:cNvCxnSpPr>
            <a:cxnSpLocks/>
          </p:cNvCxnSpPr>
          <p:nvPr/>
        </p:nvCxnSpPr>
        <p:spPr>
          <a:xfrm flipV="1">
            <a:off x="2164877" y="2602739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75AF4235-223A-5E4C-B2B3-D83115754182}"/>
              </a:ext>
            </a:extLst>
          </p:cNvPr>
          <p:cNvCxnSpPr>
            <a:cxnSpLocks/>
          </p:cNvCxnSpPr>
          <p:nvPr/>
        </p:nvCxnSpPr>
        <p:spPr>
          <a:xfrm flipH="1" flipV="1">
            <a:off x="2337139" y="2602739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85604334-54DC-0743-822C-B844AA8BFFC6}"/>
              </a:ext>
            </a:extLst>
          </p:cNvPr>
          <p:cNvSpPr txBox="1"/>
          <p:nvPr/>
        </p:nvSpPr>
        <p:spPr>
          <a:xfrm>
            <a:off x="1355317" y="275481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DECE881-DA78-D54F-9EB4-30CE959EE332}"/>
              </a:ext>
            </a:extLst>
          </p:cNvPr>
          <p:cNvSpPr txBox="1"/>
          <p:nvPr/>
        </p:nvSpPr>
        <p:spPr>
          <a:xfrm>
            <a:off x="2091589" y="2784037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6393781-EEE4-B94A-9F8C-49B3934BED37}"/>
              </a:ext>
            </a:extLst>
          </p:cNvPr>
          <p:cNvSpPr txBox="1"/>
          <p:nvPr/>
        </p:nvSpPr>
        <p:spPr>
          <a:xfrm>
            <a:off x="2810990" y="2765458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A0AE489-7940-5940-AD66-C859445042AB}"/>
              </a:ext>
            </a:extLst>
          </p:cNvPr>
          <p:cNvSpPr txBox="1"/>
          <p:nvPr/>
        </p:nvSpPr>
        <p:spPr>
          <a:xfrm>
            <a:off x="632786" y="378171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77D46F3-E733-6F4E-86BB-A9734A01320F}"/>
              </a:ext>
            </a:extLst>
          </p:cNvPr>
          <p:cNvSpPr txBox="1"/>
          <p:nvPr/>
        </p:nvSpPr>
        <p:spPr>
          <a:xfrm>
            <a:off x="1997534" y="377177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BD3BE91-5498-B247-B362-50654C496674}"/>
              </a:ext>
            </a:extLst>
          </p:cNvPr>
          <p:cNvSpPr txBox="1"/>
          <p:nvPr/>
        </p:nvSpPr>
        <p:spPr>
          <a:xfrm>
            <a:off x="3398378" y="381209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3" name="Rectangle : coins arrondis 22">
            <a:extLst>
              <a:ext uri="{FF2B5EF4-FFF2-40B4-BE49-F238E27FC236}">
                <a16:creationId xmlns:a16="http://schemas.microsoft.com/office/drawing/2014/main" id="{4F0104EA-BB90-EB46-923B-700250983E26}"/>
              </a:ext>
            </a:extLst>
          </p:cNvPr>
          <p:cNvSpPr/>
          <p:nvPr/>
        </p:nvSpPr>
        <p:spPr>
          <a:xfrm>
            <a:off x="31075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Cheese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4" name="Rectangle : coins arrondis 23">
            <a:extLst>
              <a:ext uri="{FF2B5EF4-FFF2-40B4-BE49-F238E27FC236}">
                <a16:creationId xmlns:a16="http://schemas.microsoft.com/office/drawing/2014/main" id="{F53A5E50-AF4A-E24D-818C-9E0569C4986E}"/>
              </a:ext>
            </a:extLst>
          </p:cNvPr>
          <p:cNvSpPr/>
          <p:nvPr/>
        </p:nvSpPr>
        <p:spPr>
          <a:xfrm>
            <a:off x="1711792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Meat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5" name="Rectangle : coins arrondis 24">
            <a:extLst>
              <a:ext uri="{FF2B5EF4-FFF2-40B4-BE49-F238E27FC236}">
                <a16:creationId xmlns:a16="http://schemas.microsoft.com/office/drawing/2014/main" id="{809CC9CA-ACD3-2D42-9D0D-9CB5FE5120A1}"/>
              </a:ext>
            </a:extLst>
          </p:cNvPr>
          <p:cNvSpPr/>
          <p:nvPr/>
        </p:nvSpPr>
        <p:spPr>
          <a:xfrm>
            <a:off x="299626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Vegetable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6" name="Rectangle : coins arrondis 25">
            <a:extLst>
              <a:ext uri="{FF2B5EF4-FFF2-40B4-BE49-F238E27FC236}">
                <a16:creationId xmlns:a16="http://schemas.microsoft.com/office/drawing/2014/main" id="{00036AE5-C0D0-FE40-8DB6-A619D4AB24AD}"/>
              </a:ext>
            </a:extLst>
          </p:cNvPr>
          <p:cNvSpPr/>
          <p:nvPr/>
        </p:nvSpPr>
        <p:spPr>
          <a:xfrm>
            <a:off x="304979" y="416251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7" name="Rectangle : coins arrondis 26">
            <a:extLst>
              <a:ext uri="{FF2B5EF4-FFF2-40B4-BE49-F238E27FC236}">
                <a16:creationId xmlns:a16="http://schemas.microsoft.com/office/drawing/2014/main" id="{44DECA76-6EC3-EC4A-875D-6CAADEE1B7AD}"/>
              </a:ext>
            </a:extLst>
          </p:cNvPr>
          <p:cNvSpPr/>
          <p:nvPr/>
        </p:nvSpPr>
        <p:spPr>
          <a:xfrm>
            <a:off x="2996261" y="420412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Tomato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8" name="Rectangle : coins arrondis 27">
            <a:extLst>
              <a:ext uri="{FF2B5EF4-FFF2-40B4-BE49-F238E27FC236}">
                <a16:creationId xmlns:a16="http://schemas.microsoft.com/office/drawing/2014/main" id="{38C8F958-8696-CD40-A7AC-8FDEAAB63946}"/>
              </a:ext>
            </a:extLst>
          </p:cNvPr>
          <p:cNvSpPr/>
          <p:nvPr/>
        </p:nvSpPr>
        <p:spPr>
          <a:xfrm>
            <a:off x="1703143" y="418438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Pepperoni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49" name="Rectangle : coins arrondis 28">
            <a:extLst>
              <a:ext uri="{FF2B5EF4-FFF2-40B4-BE49-F238E27FC236}">
                <a16:creationId xmlns:a16="http://schemas.microsoft.com/office/drawing/2014/main" id="{3D83CE43-50F4-8E46-B1F9-08AA856D812F}"/>
              </a:ext>
            </a:extLst>
          </p:cNvPr>
          <p:cNvSpPr/>
          <p:nvPr/>
        </p:nvSpPr>
        <p:spPr>
          <a:xfrm>
            <a:off x="1882292" y="2143355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100" dirty="0"/>
              <a:t>Pizza</a:t>
            </a:r>
          </a:p>
          <a:p>
            <a:pPr algn="ctr"/>
            <a:r>
              <a:rPr lang="fr-CA" sz="1100" dirty="0" err="1"/>
              <a:t>Topping</a:t>
            </a:r>
            <a:endParaRPr lang="fr-CA" sz="1100" dirty="0"/>
          </a:p>
        </p:txBody>
      </p:sp>
      <p:sp>
        <p:nvSpPr>
          <p:cNvPr id="50" name="Espace réservé du numéro de diapositive 3">
            <a:extLst>
              <a:ext uri="{FF2B5EF4-FFF2-40B4-BE49-F238E27FC236}">
                <a16:creationId xmlns:a16="http://schemas.microsoft.com/office/drawing/2014/main" id="{5C86C413-9EDE-4B45-B440-D84E7CFE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28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506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CBDD0A52-3436-3644-856B-69374D2501D8}"/>
              </a:ext>
            </a:extLst>
          </p:cNvPr>
          <p:cNvSpPr/>
          <p:nvPr/>
        </p:nvSpPr>
        <p:spPr>
          <a:xfrm>
            <a:off x="4922544" y="1920590"/>
            <a:ext cx="3632894" cy="3582550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33CA1369-F160-EB46-BBFE-B9B25FB264CA}"/>
              </a:ext>
            </a:extLst>
          </p:cNvPr>
          <p:cNvSpPr/>
          <p:nvPr/>
        </p:nvSpPr>
        <p:spPr>
          <a:xfrm rot="18185801">
            <a:off x="6681442" y="3303381"/>
            <a:ext cx="1419764" cy="1858995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64F315-36CC-094E-8B1C-8748B5F2EE4A}"/>
              </a:ext>
            </a:extLst>
          </p:cNvPr>
          <p:cNvSpPr txBox="1"/>
          <p:nvPr/>
        </p:nvSpPr>
        <p:spPr>
          <a:xfrm>
            <a:off x="7398521" y="4416794"/>
            <a:ext cx="74155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Cheese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2FD26B-6DDC-BA48-850E-5CB2CB73E201}"/>
              </a:ext>
            </a:extLst>
          </p:cNvPr>
          <p:cNvSpPr/>
          <p:nvPr/>
        </p:nvSpPr>
        <p:spPr>
          <a:xfrm rot="3709502">
            <a:off x="5858548" y="3026795"/>
            <a:ext cx="1420267" cy="2532395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200E72-8BC0-9F4B-BB8A-CCD5D3AB7C4B}"/>
              </a:ext>
            </a:extLst>
          </p:cNvPr>
          <p:cNvSpPr txBox="1"/>
          <p:nvPr/>
        </p:nvSpPr>
        <p:spPr>
          <a:xfrm>
            <a:off x="5513108" y="4384963"/>
            <a:ext cx="74155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Meat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CC09763-2614-1849-9289-376BA3953D4A}"/>
              </a:ext>
            </a:extLst>
          </p:cNvPr>
          <p:cNvSpPr/>
          <p:nvPr/>
        </p:nvSpPr>
        <p:spPr>
          <a:xfrm rot="20049209">
            <a:off x="6136262" y="2415081"/>
            <a:ext cx="1656085" cy="2079441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1F3EAC8-E465-B84B-8E8F-9B8B66A6EB8C}"/>
              </a:ext>
            </a:extLst>
          </p:cNvPr>
          <p:cNvSpPr txBox="1"/>
          <p:nvPr/>
        </p:nvSpPr>
        <p:spPr>
          <a:xfrm>
            <a:off x="6316981" y="2598073"/>
            <a:ext cx="88331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Vegetable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9FAC0CEB-35DB-A706-3E50-3CEBAE4C91DA}"/>
              </a:ext>
            </a:extLst>
          </p:cNvPr>
          <p:cNvSpPr/>
          <p:nvPr/>
        </p:nvSpPr>
        <p:spPr>
          <a:xfrm>
            <a:off x="8023860" y="1784749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endParaRPr lang="fr-CA" sz="1200" dirty="0"/>
          </a:p>
          <a:p>
            <a:pPr algn="ctr"/>
            <a:r>
              <a:rPr lang="fr-CA" sz="1200" dirty="0" err="1"/>
              <a:t>Topping</a:t>
            </a:r>
            <a:endParaRPr lang="fr-CA" sz="1200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0093B53B-6E81-5029-C84D-27E7054EE97F}"/>
              </a:ext>
            </a:extLst>
          </p:cNvPr>
          <p:cNvCxnSpPr>
            <a:cxnSpLocks/>
            <a:stCxn id="50" idx="2"/>
            <a:endCxn id="10" idx="5"/>
          </p:cNvCxnSpPr>
          <p:nvPr/>
        </p:nvCxnSpPr>
        <p:spPr>
          <a:xfrm flipH="1">
            <a:off x="7492800" y="2249569"/>
            <a:ext cx="1022551" cy="1476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lipse 9">
            <a:extLst>
              <a:ext uri="{FF2B5EF4-FFF2-40B4-BE49-F238E27FC236}">
                <a16:creationId xmlns:a16="http://schemas.microsoft.com/office/drawing/2014/main" id="{EE98C18B-9402-CC4D-305F-B084CCA3C2B6}"/>
              </a:ext>
            </a:extLst>
          </p:cNvPr>
          <p:cNvSpPr/>
          <p:nvPr/>
        </p:nvSpPr>
        <p:spPr>
          <a:xfrm rot="16200000">
            <a:off x="6767937" y="3455922"/>
            <a:ext cx="711675" cy="1043758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3" name="Losange 32">
            <a:extLst>
              <a:ext uri="{FF2B5EF4-FFF2-40B4-BE49-F238E27FC236}">
                <a16:creationId xmlns:a16="http://schemas.microsoft.com/office/drawing/2014/main" id="{5499D39B-2B86-BD9D-CD19-DCA490E21CDF}"/>
              </a:ext>
            </a:extLst>
          </p:cNvPr>
          <p:cNvSpPr/>
          <p:nvPr/>
        </p:nvSpPr>
        <p:spPr>
          <a:xfrm>
            <a:off x="7356130" y="4011051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35" name="Losange 34">
            <a:extLst>
              <a:ext uri="{FF2B5EF4-FFF2-40B4-BE49-F238E27FC236}">
                <a16:creationId xmlns:a16="http://schemas.microsoft.com/office/drawing/2014/main" id="{00D54A48-BF37-D6C4-C1F8-DE989A530E59}"/>
              </a:ext>
            </a:extLst>
          </p:cNvPr>
          <p:cNvSpPr/>
          <p:nvPr/>
        </p:nvSpPr>
        <p:spPr>
          <a:xfrm>
            <a:off x="7140445" y="3686902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36" name="Losange 35">
            <a:extLst>
              <a:ext uri="{FF2B5EF4-FFF2-40B4-BE49-F238E27FC236}">
                <a16:creationId xmlns:a16="http://schemas.microsoft.com/office/drawing/2014/main" id="{F1CDC74B-D873-6A72-58A4-DAD794AD4CF3}"/>
              </a:ext>
            </a:extLst>
          </p:cNvPr>
          <p:cNvSpPr/>
          <p:nvPr/>
        </p:nvSpPr>
        <p:spPr>
          <a:xfrm>
            <a:off x="6749717" y="3931920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39" name="Titre 1">
            <a:extLst>
              <a:ext uri="{FF2B5EF4-FFF2-40B4-BE49-F238E27FC236}">
                <a16:creationId xmlns:a16="http://schemas.microsoft.com/office/drawing/2014/main" id="{C2F90166-AA45-4BD2-D53E-94587590C1A2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CA" sz="3300" dirty="0"/>
              <a:t>Hypothèse du monde ouvert</a:t>
            </a:r>
          </a:p>
          <a:p>
            <a:r>
              <a:rPr lang="fr-CA" sz="3300" b="0" dirty="0"/>
              <a:t>Ontologie : monde ouvert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CFD9AC8-45D8-66CE-02D5-EBD6633B5771}"/>
              </a:ext>
            </a:extLst>
          </p:cNvPr>
          <p:cNvSpPr txBox="1"/>
          <p:nvPr/>
        </p:nvSpPr>
        <p:spPr>
          <a:xfrm>
            <a:off x="6209379" y="1945044"/>
            <a:ext cx="108972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PizzaTopping</a:t>
            </a:r>
            <a:endParaRPr lang="fr-FR" sz="1350" dirty="0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CF97EC4C-F8AE-9E46-AF87-A76320E0A05B}"/>
              </a:ext>
            </a:extLst>
          </p:cNvPr>
          <p:cNvCxnSpPr>
            <a:cxnSpLocks/>
          </p:cNvCxnSpPr>
          <p:nvPr/>
        </p:nvCxnSpPr>
        <p:spPr>
          <a:xfrm flipV="1">
            <a:off x="799362" y="3578104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3A46FCF9-5F50-F340-AC63-03A07135C527}"/>
              </a:ext>
            </a:extLst>
          </p:cNvPr>
          <p:cNvCxnSpPr>
            <a:cxnSpLocks/>
          </p:cNvCxnSpPr>
          <p:nvPr/>
        </p:nvCxnSpPr>
        <p:spPr>
          <a:xfrm flipH="1" flipV="1">
            <a:off x="2164877" y="3578104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851340D-C4F4-544D-9ADB-0AF6BC4034B2}"/>
              </a:ext>
            </a:extLst>
          </p:cNvPr>
          <p:cNvCxnSpPr>
            <a:cxnSpLocks/>
          </p:cNvCxnSpPr>
          <p:nvPr/>
        </p:nvCxnSpPr>
        <p:spPr>
          <a:xfrm flipH="1" flipV="1">
            <a:off x="3530391" y="3578104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A6F5173-EA71-0243-BF22-205A23F9C3B2}"/>
              </a:ext>
            </a:extLst>
          </p:cNvPr>
          <p:cNvCxnSpPr>
            <a:cxnSpLocks/>
          </p:cNvCxnSpPr>
          <p:nvPr/>
        </p:nvCxnSpPr>
        <p:spPr>
          <a:xfrm flipV="1">
            <a:off x="799362" y="2602739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D5D893F4-E54D-BC48-9D37-A2B096DB715E}"/>
              </a:ext>
            </a:extLst>
          </p:cNvPr>
          <p:cNvCxnSpPr>
            <a:cxnSpLocks/>
          </p:cNvCxnSpPr>
          <p:nvPr/>
        </p:nvCxnSpPr>
        <p:spPr>
          <a:xfrm flipV="1">
            <a:off x="2164877" y="2602739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EB09C47-5C88-8D46-871E-58DCC229552B}"/>
              </a:ext>
            </a:extLst>
          </p:cNvPr>
          <p:cNvCxnSpPr>
            <a:cxnSpLocks/>
          </p:cNvCxnSpPr>
          <p:nvPr/>
        </p:nvCxnSpPr>
        <p:spPr>
          <a:xfrm flipH="1" flipV="1">
            <a:off x="2337139" y="2602739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09E8C5E-DC8F-D84E-9E92-89F9A984266B}"/>
              </a:ext>
            </a:extLst>
          </p:cNvPr>
          <p:cNvSpPr txBox="1"/>
          <p:nvPr/>
        </p:nvSpPr>
        <p:spPr>
          <a:xfrm>
            <a:off x="1355317" y="275481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4EBC9C7-0906-5D4D-A96E-1442DE6BAEEF}"/>
              </a:ext>
            </a:extLst>
          </p:cNvPr>
          <p:cNvSpPr txBox="1"/>
          <p:nvPr/>
        </p:nvSpPr>
        <p:spPr>
          <a:xfrm>
            <a:off x="2091589" y="2784037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DE4948CE-993F-794E-A865-553603B6AF8C}"/>
              </a:ext>
            </a:extLst>
          </p:cNvPr>
          <p:cNvSpPr txBox="1"/>
          <p:nvPr/>
        </p:nvSpPr>
        <p:spPr>
          <a:xfrm>
            <a:off x="2810990" y="2765458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4DFDD67-2C5C-B341-8807-BA34F27F1AFD}"/>
              </a:ext>
            </a:extLst>
          </p:cNvPr>
          <p:cNvSpPr txBox="1"/>
          <p:nvPr/>
        </p:nvSpPr>
        <p:spPr>
          <a:xfrm>
            <a:off x="632786" y="378171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B15C75F-0B76-3640-9B58-A3F7E792DDD7}"/>
              </a:ext>
            </a:extLst>
          </p:cNvPr>
          <p:cNvSpPr txBox="1"/>
          <p:nvPr/>
        </p:nvSpPr>
        <p:spPr>
          <a:xfrm>
            <a:off x="1997534" y="377177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62368909-4525-D741-8A37-A29E3D52F297}"/>
              </a:ext>
            </a:extLst>
          </p:cNvPr>
          <p:cNvSpPr txBox="1"/>
          <p:nvPr/>
        </p:nvSpPr>
        <p:spPr>
          <a:xfrm>
            <a:off x="3398378" y="381209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1" name="Rectangle : coins arrondis 22">
            <a:extLst>
              <a:ext uri="{FF2B5EF4-FFF2-40B4-BE49-F238E27FC236}">
                <a16:creationId xmlns:a16="http://schemas.microsoft.com/office/drawing/2014/main" id="{79D3309F-227D-B348-A347-923D9D064000}"/>
              </a:ext>
            </a:extLst>
          </p:cNvPr>
          <p:cNvSpPr/>
          <p:nvPr/>
        </p:nvSpPr>
        <p:spPr>
          <a:xfrm>
            <a:off x="31075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Cheese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3" name="Rectangle : coins arrondis 23">
            <a:extLst>
              <a:ext uri="{FF2B5EF4-FFF2-40B4-BE49-F238E27FC236}">
                <a16:creationId xmlns:a16="http://schemas.microsoft.com/office/drawing/2014/main" id="{5A5FE480-8089-804B-BEA4-284AD984FE7C}"/>
              </a:ext>
            </a:extLst>
          </p:cNvPr>
          <p:cNvSpPr/>
          <p:nvPr/>
        </p:nvSpPr>
        <p:spPr>
          <a:xfrm>
            <a:off x="1711792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Meat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4" name="Rectangle : coins arrondis 24">
            <a:extLst>
              <a:ext uri="{FF2B5EF4-FFF2-40B4-BE49-F238E27FC236}">
                <a16:creationId xmlns:a16="http://schemas.microsoft.com/office/drawing/2014/main" id="{CC451C31-8069-1A4A-9EFD-4BBBA275E642}"/>
              </a:ext>
            </a:extLst>
          </p:cNvPr>
          <p:cNvSpPr/>
          <p:nvPr/>
        </p:nvSpPr>
        <p:spPr>
          <a:xfrm>
            <a:off x="299626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Vegetable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5" name="Rectangle : coins arrondis 25">
            <a:extLst>
              <a:ext uri="{FF2B5EF4-FFF2-40B4-BE49-F238E27FC236}">
                <a16:creationId xmlns:a16="http://schemas.microsoft.com/office/drawing/2014/main" id="{9889B0C7-547F-4C42-96A2-56879830E89F}"/>
              </a:ext>
            </a:extLst>
          </p:cNvPr>
          <p:cNvSpPr/>
          <p:nvPr/>
        </p:nvSpPr>
        <p:spPr>
          <a:xfrm>
            <a:off x="304979" y="416251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6" name="Rectangle : coins arrondis 26">
            <a:extLst>
              <a:ext uri="{FF2B5EF4-FFF2-40B4-BE49-F238E27FC236}">
                <a16:creationId xmlns:a16="http://schemas.microsoft.com/office/drawing/2014/main" id="{A75AA93C-FB55-454A-ADDD-6FB9CBF3045A}"/>
              </a:ext>
            </a:extLst>
          </p:cNvPr>
          <p:cNvSpPr/>
          <p:nvPr/>
        </p:nvSpPr>
        <p:spPr>
          <a:xfrm>
            <a:off x="2996261" y="420412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Tomato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7" name="Rectangle : coins arrondis 27">
            <a:extLst>
              <a:ext uri="{FF2B5EF4-FFF2-40B4-BE49-F238E27FC236}">
                <a16:creationId xmlns:a16="http://schemas.microsoft.com/office/drawing/2014/main" id="{8AE0A589-5752-7A4E-AC8E-E8344B2CD2C1}"/>
              </a:ext>
            </a:extLst>
          </p:cNvPr>
          <p:cNvSpPr/>
          <p:nvPr/>
        </p:nvSpPr>
        <p:spPr>
          <a:xfrm>
            <a:off x="1703143" y="418438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Pepperoni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58" name="Rectangle : coins arrondis 28">
            <a:extLst>
              <a:ext uri="{FF2B5EF4-FFF2-40B4-BE49-F238E27FC236}">
                <a16:creationId xmlns:a16="http://schemas.microsoft.com/office/drawing/2014/main" id="{73FE7D4E-84F4-CE45-BE70-6730E9707B88}"/>
              </a:ext>
            </a:extLst>
          </p:cNvPr>
          <p:cNvSpPr/>
          <p:nvPr/>
        </p:nvSpPr>
        <p:spPr>
          <a:xfrm>
            <a:off x="1882292" y="2143355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100" dirty="0"/>
              <a:t>Pizza</a:t>
            </a:r>
          </a:p>
          <a:p>
            <a:pPr algn="ctr"/>
            <a:r>
              <a:rPr lang="fr-CA" sz="1100" dirty="0" err="1"/>
              <a:t>Topping</a:t>
            </a:r>
            <a:endParaRPr lang="fr-CA" sz="1100" dirty="0"/>
          </a:p>
        </p:txBody>
      </p:sp>
      <p:sp>
        <p:nvSpPr>
          <p:cNvPr id="59" name="Espace réservé du numéro de diapositive 3">
            <a:extLst>
              <a:ext uri="{FF2B5EF4-FFF2-40B4-BE49-F238E27FC236}">
                <a16:creationId xmlns:a16="http://schemas.microsoft.com/office/drawing/2014/main" id="{272D4CD5-5B62-ED4C-A0CF-7AED755D1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29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6463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6AC89F5-8864-2438-414D-F482DF00CDBB}"/>
              </a:ext>
            </a:extLst>
          </p:cNvPr>
          <p:cNvCxnSpPr/>
          <p:nvPr/>
        </p:nvCxnSpPr>
        <p:spPr>
          <a:xfrm>
            <a:off x="1511877" y="3014869"/>
            <a:ext cx="0" cy="1909976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881457D-4031-B23C-8646-C47F177A7114}"/>
              </a:ext>
            </a:extLst>
          </p:cNvPr>
          <p:cNvCxnSpPr/>
          <p:nvPr/>
        </p:nvCxnSpPr>
        <p:spPr>
          <a:xfrm>
            <a:off x="2854881" y="3024938"/>
            <a:ext cx="0" cy="1909976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re 1">
            <a:extLst>
              <a:ext uri="{FF2B5EF4-FFF2-40B4-BE49-F238E27FC236}">
                <a16:creationId xmlns:a16="http://schemas.microsoft.com/office/drawing/2014/main" id="{69A6275D-1C18-1403-58BA-2F03D9598116}"/>
              </a:ext>
            </a:extLst>
          </p:cNvPr>
          <p:cNvSpPr txBox="1">
            <a:spLocks/>
          </p:cNvSpPr>
          <p:nvPr/>
        </p:nvSpPr>
        <p:spPr>
          <a:xfrm>
            <a:off x="628650" y="1131094"/>
            <a:ext cx="7886700" cy="99417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CA" sz="3300"/>
              <a:t>Hypothèse du monde ouvert</a:t>
            </a:r>
          </a:p>
          <a:p>
            <a:r>
              <a:rPr lang="fr-CA" sz="3300" b="0"/>
              <a:t>Disjonction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21E4983-E666-2A4C-6A02-4EAB0382DF33}"/>
              </a:ext>
            </a:extLst>
          </p:cNvPr>
          <p:cNvSpPr/>
          <p:nvPr/>
        </p:nvSpPr>
        <p:spPr>
          <a:xfrm>
            <a:off x="4922544" y="1920590"/>
            <a:ext cx="3632894" cy="3582550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45230CC-52E8-12F8-295E-46DB3E3FCBFE}"/>
              </a:ext>
            </a:extLst>
          </p:cNvPr>
          <p:cNvSpPr/>
          <p:nvPr/>
        </p:nvSpPr>
        <p:spPr>
          <a:xfrm rot="18185801">
            <a:off x="6681442" y="3303381"/>
            <a:ext cx="1419764" cy="1858995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717FEEA-E7F7-DDF5-8DD5-E01A6A7E309D}"/>
              </a:ext>
            </a:extLst>
          </p:cNvPr>
          <p:cNvSpPr txBox="1"/>
          <p:nvPr/>
        </p:nvSpPr>
        <p:spPr>
          <a:xfrm>
            <a:off x="7398521" y="4416794"/>
            <a:ext cx="74155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Cheese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671B7E6C-A1CE-9F8D-1C30-D9811AEC2970}"/>
              </a:ext>
            </a:extLst>
          </p:cNvPr>
          <p:cNvSpPr/>
          <p:nvPr/>
        </p:nvSpPr>
        <p:spPr>
          <a:xfrm rot="3709502">
            <a:off x="5261488" y="4023914"/>
            <a:ext cx="1420267" cy="1177766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548D749-A229-41CF-D225-CAB358EEE819}"/>
              </a:ext>
            </a:extLst>
          </p:cNvPr>
          <p:cNvSpPr txBox="1"/>
          <p:nvPr/>
        </p:nvSpPr>
        <p:spPr>
          <a:xfrm>
            <a:off x="5513108" y="4384963"/>
            <a:ext cx="74155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Meat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1F61F9F-C151-C74A-8309-E065DBC1BA53}"/>
              </a:ext>
            </a:extLst>
          </p:cNvPr>
          <p:cNvSpPr/>
          <p:nvPr/>
        </p:nvSpPr>
        <p:spPr>
          <a:xfrm rot="20049209">
            <a:off x="5905970" y="2467924"/>
            <a:ext cx="1656085" cy="1022961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1E16379-8F22-2E6B-7EED-B36C3BDCFDCD}"/>
              </a:ext>
            </a:extLst>
          </p:cNvPr>
          <p:cNvSpPr txBox="1"/>
          <p:nvPr/>
        </p:nvSpPr>
        <p:spPr>
          <a:xfrm>
            <a:off x="6316981" y="2598073"/>
            <a:ext cx="88331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 err="1"/>
              <a:t>Vegetable</a:t>
            </a:r>
            <a:endParaRPr lang="fr-FR" sz="1350" dirty="0"/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5D058F8-AB28-4922-60E3-67316D0F3D68}"/>
              </a:ext>
            </a:extLst>
          </p:cNvPr>
          <p:cNvSpPr/>
          <p:nvPr/>
        </p:nvSpPr>
        <p:spPr>
          <a:xfrm>
            <a:off x="8023860" y="1784749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endParaRPr lang="fr-CA" sz="1200" dirty="0"/>
          </a:p>
          <a:p>
            <a:pPr algn="ctr"/>
            <a:r>
              <a:rPr lang="fr-CA" sz="1200" dirty="0" err="1"/>
              <a:t>Topping</a:t>
            </a:r>
            <a:endParaRPr lang="fr-CA" sz="1200" dirty="0"/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07DEB971-6934-592A-7A0F-E4EE36379457}"/>
              </a:ext>
            </a:extLst>
          </p:cNvPr>
          <p:cNvCxnSpPr>
            <a:cxnSpLocks/>
            <a:stCxn id="44" idx="2"/>
            <a:endCxn id="46" idx="5"/>
          </p:cNvCxnSpPr>
          <p:nvPr/>
        </p:nvCxnSpPr>
        <p:spPr>
          <a:xfrm flipH="1">
            <a:off x="7492800" y="2249569"/>
            <a:ext cx="1022551" cy="1476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C29E7DEF-3AF5-C2A9-4245-B67BC82A7674}"/>
              </a:ext>
            </a:extLst>
          </p:cNvPr>
          <p:cNvSpPr/>
          <p:nvPr/>
        </p:nvSpPr>
        <p:spPr>
          <a:xfrm rot="16200000">
            <a:off x="6767937" y="3455922"/>
            <a:ext cx="711675" cy="1043758"/>
          </a:xfrm>
          <a:prstGeom prst="ellipse">
            <a:avLst/>
          </a:prstGeom>
          <a:solidFill>
            <a:schemeClr val="tx1">
              <a:alpha val="1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47" name="Losange 46">
            <a:extLst>
              <a:ext uri="{FF2B5EF4-FFF2-40B4-BE49-F238E27FC236}">
                <a16:creationId xmlns:a16="http://schemas.microsoft.com/office/drawing/2014/main" id="{365E8C17-3EEA-ED5A-9D52-9222C39998F2}"/>
              </a:ext>
            </a:extLst>
          </p:cNvPr>
          <p:cNvSpPr/>
          <p:nvPr/>
        </p:nvSpPr>
        <p:spPr>
          <a:xfrm>
            <a:off x="7356130" y="4011051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48" name="Losange 47">
            <a:extLst>
              <a:ext uri="{FF2B5EF4-FFF2-40B4-BE49-F238E27FC236}">
                <a16:creationId xmlns:a16="http://schemas.microsoft.com/office/drawing/2014/main" id="{BC99194C-8387-3495-2DFB-C60B510941D9}"/>
              </a:ext>
            </a:extLst>
          </p:cNvPr>
          <p:cNvSpPr/>
          <p:nvPr/>
        </p:nvSpPr>
        <p:spPr>
          <a:xfrm>
            <a:off x="7140445" y="3686902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49" name="Losange 48">
            <a:extLst>
              <a:ext uri="{FF2B5EF4-FFF2-40B4-BE49-F238E27FC236}">
                <a16:creationId xmlns:a16="http://schemas.microsoft.com/office/drawing/2014/main" id="{60ED1DF4-3B7B-6F51-7310-9AE37735339B}"/>
              </a:ext>
            </a:extLst>
          </p:cNvPr>
          <p:cNvSpPr/>
          <p:nvPr/>
        </p:nvSpPr>
        <p:spPr>
          <a:xfrm>
            <a:off x="6749717" y="3931920"/>
            <a:ext cx="134762" cy="14417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35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3501009-87A3-4286-1821-99F7CFE28C45}"/>
              </a:ext>
            </a:extLst>
          </p:cNvPr>
          <p:cNvSpPr txBox="1"/>
          <p:nvPr/>
        </p:nvSpPr>
        <p:spPr>
          <a:xfrm>
            <a:off x="6383464" y="1945044"/>
            <a:ext cx="74155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350" dirty="0"/>
              <a:t>Pizza</a:t>
            </a:r>
          </a:p>
          <a:p>
            <a:pPr algn="ctr"/>
            <a:r>
              <a:rPr lang="fr-FR" sz="1350" dirty="0" err="1"/>
              <a:t>Topping</a:t>
            </a:r>
            <a:endParaRPr lang="fr-FR" sz="1350" dirty="0"/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F1A2E168-BD2E-C248-BAB5-D8A793DE15FB}"/>
              </a:ext>
            </a:extLst>
          </p:cNvPr>
          <p:cNvCxnSpPr>
            <a:cxnSpLocks/>
          </p:cNvCxnSpPr>
          <p:nvPr/>
        </p:nvCxnSpPr>
        <p:spPr>
          <a:xfrm flipV="1">
            <a:off x="799362" y="3578104"/>
            <a:ext cx="0" cy="60628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D33121E-5A1A-F647-AA6C-BE8C9426CEDC}"/>
              </a:ext>
            </a:extLst>
          </p:cNvPr>
          <p:cNvCxnSpPr>
            <a:cxnSpLocks/>
          </p:cNvCxnSpPr>
          <p:nvPr/>
        </p:nvCxnSpPr>
        <p:spPr>
          <a:xfrm flipH="1" flipV="1">
            <a:off x="2164877" y="3578104"/>
            <a:ext cx="767" cy="61689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A619A33-380B-0A48-962C-259482132ECF}"/>
              </a:ext>
            </a:extLst>
          </p:cNvPr>
          <p:cNvCxnSpPr>
            <a:cxnSpLocks/>
          </p:cNvCxnSpPr>
          <p:nvPr/>
        </p:nvCxnSpPr>
        <p:spPr>
          <a:xfrm flipH="1" flipV="1">
            <a:off x="3530391" y="3578104"/>
            <a:ext cx="27405" cy="629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6493736-01A5-3B45-BFEA-B8026D060201}"/>
              </a:ext>
            </a:extLst>
          </p:cNvPr>
          <p:cNvCxnSpPr>
            <a:cxnSpLocks/>
          </p:cNvCxnSpPr>
          <p:nvPr/>
        </p:nvCxnSpPr>
        <p:spPr>
          <a:xfrm flipV="1">
            <a:off x="799362" y="2602739"/>
            <a:ext cx="1537777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71BC0BA4-6F43-6047-B75A-678A86DB54B8}"/>
              </a:ext>
            </a:extLst>
          </p:cNvPr>
          <p:cNvCxnSpPr>
            <a:cxnSpLocks/>
          </p:cNvCxnSpPr>
          <p:nvPr/>
        </p:nvCxnSpPr>
        <p:spPr>
          <a:xfrm flipV="1">
            <a:off x="2164877" y="2602739"/>
            <a:ext cx="17226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A1A4F02B-D23D-064F-9117-942D960CD3F4}"/>
              </a:ext>
            </a:extLst>
          </p:cNvPr>
          <p:cNvCxnSpPr>
            <a:cxnSpLocks/>
          </p:cNvCxnSpPr>
          <p:nvPr/>
        </p:nvCxnSpPr>
        <p:spPr>
          <a:xfrm flipH="1" flipV="1">
            <a:off x="2337139" y="2602739"/>
            <a:ext cx="1193252" cy="510545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E6910645-4283-2B47-918E-16A44365CA22}"/>
              </a:ext>
            </a:extLst>
          </p:cNvPr>
          <p:cNvSpPr txBox="1"/>
          <p:nvPr/>
        </p:nvSpPr>
        <p:spPr>
          <a:xfrm>
            <a:off x="1355317" y="2754815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5FDC3AF1-D2CD-FD4B-BED0-9F056EB3FC1C}"/>
              </a:ext>
            </a:extLst>
          </p:cNvPr>
          <p:cNvSpPr txBox="1"/>
          <p:nvPr/>
        </p:nvSpPr>
        <p:spPr>
          <a:xfrm>
            <a:off x="2091589" y="2784037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6F55A438-0373-5742-BAED-14F99D03110A}"/>
              </a:ext>
            </a:extLst>
          </p:cNvPr>
          <p:cNvSpPr txBox="1"/>
          <p:nvPr/>
        </p:nvSpPr>
        <p:spPr>
          <a:xfrm>
            <a:off x="2810990" y="2765458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97110A4A-AF03-D44A-BD15-28F70A5B965A}"/>
              </a:ext>
            </a:extLst>
          </p:cNvPr>
          <p:cNvSpPr txBox="1"/>
          <p:nvPr/>
        </p:nvSpPr>
        <p:spPr>
          <a:xfrm>
            <a:off x="632786" y="378171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70F5737-864A-6942-9CFF-4E505FB6E795}"/>
              </a:ext>
            </a:extLst>
          </p:cNvPr>
          <p:cNvSpPr txBox="1"/>
          <p:nvPr/>
        </p:nvSpPr>
        <p:spPr>
          <a:xfrm>
            <a:off x="1997534" y="3771779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FC4D5EF-D2DE-9A40-B550-5283928C0FA0}"/>
              </a:ext>
            </a:extLst>
          </p:cNvPr>
          <p:cNvSpPr txBox="1"/>
          <p:nvPr/>
        </p:nvSpPr>
        <p:spPr>
          <a:xfrm>
            <a:off x="3398378" y="3812091"/>
            <a:ext cx="36260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CA" sz="1050" err="1"/>
              <a:t>is</a:t>
            </a:r>
            <a:r>
              <a:rPr lang="fr-CA" sz="1050"/>
              <a:t> a</a:t>
            </a:r>
          </a:p>
        </p:txBody>
      </p:sp>
      <p:sp>
        <p:nvSpPr>
          <p:cNvPr id="61" name="Rectangle : coins arrondis 22">
            <a:extLst>
              <a:ext uri="{FF2B5EF4-FFF2-40B4-BE49-F238E27FC236}">
                <a16:creationId xmlns:a16="http://schemas.microsoft.com/office/drawing/2014/main" id="{36E30BE6-87E0-D947-8333-445A491B3FED}"/>
              </a:ext>
            </a:extLst>
          </p:cNvPr>
          <p:cNvSpPr/>
          <p:nvPr/>
        </p:nvSpPr>
        <p:spPr>
          <a:xfrm>
            <a:off x="31075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Cheese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2" name="Rectangle : coins arrondis 23">
            <a:extLst>
              <a:ext uri="{FF2B5EF4-FFF2-40B4-BE49-F238E27FC236}">
                <a16:creationId xmlns:a16="http://schemas.microsoft.com/office/drawing/2014/main" id="{8A022FA1-92E3-DB4E-B6D1-63DB71A48A33}"/>
              </a:ext>
            </a:extLst>
          </p:cNvPr>
          <p:cNvSpPr/>
          <p:nvPr/>
        </p:nvSpPr>
        <p:spPr>
          <a:xfrm>
            <a:off x="1711792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Meat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3" name="Rectangle : coins arrondis 24">
            <a:extLst>
              <a:ext uri="{FF2B5EF4-FFF2-40B4-BE49-F238E27FC236}">
                <a16:creationId xmlns:a16="http://schemas.microsoft.com/office/drawing/2014/main" id="{CFC6DD8C-5AFA-FA4E-9A14-BA0F8EA0A281}"/>
              </a:ext>
            </a:extLst>
          </p:cNvPr>
          <p:cNvSpPr/>
          <p:nvPr/>
        </p:nvSpPr>
        <p:spPr>
          <a:xfrm>
            <a:off x="2996261" y="3116582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Vegetable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4" name="Rectangle : coins arrondis 25">
            <a:extLst>
              <a:ext uri="{FF2B5EF4-FFF2-40B4-BE49-F238E27FC236}">
                <a16:creationId xmlns:a16="http://schemas.microsoft.com/office/drawing/2014/main" id="{B2EDBFBA-961D-E741-822D-8AA42A2E82A6}"/>
              </a:ext>
            </a:extLst>
          </p:cNvPr>
          <p:cNvSpPr/>
          <p:nvPr/>
        </p:nvSpPr>
        <p:spPr>
          <a:xfrm>
            <a:off x="304979" y="4162517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Mozarella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5" name="Rectangle : coins arrondis 26">
            <a:extLst>
              <a:ext uri="{FF2B5EF4-FFF2-40B4-BE49-F238E27FC236}">
                <a16:creationId xmlns:a16="http://schemas.microsoft.com/office/drawing/2014/main" id="{6C2FC5DA-C610-0D43-946B-59A256E9B70A}"/>
              </a:ext>
            </a:extLst>
          </p:cNvPr>
          <p:cNvSpPr/>
          <p:nvPr/>
        </p:nvSpPr>
        <p:spPr>
          <a:xfrm>
            <a:off x="2996261" y="4204126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Tomato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6" name="Rectangle : coins arrondis 27">
            <a:extLst>
              <a:ext uri="{FF2B5EF4-FFF2-40B4-BE49-F238E27FC236}">
                <a16:creationId xmlns:a16="http://schemas.microsoft.com/office/drawing/2014/main" id="{4F0A3C9E-F498-5A45-A64F-D5EEC131CA99}"/>
              </a:ext>
            </a:extLst>
          </p:cNvPr>
          <p:cNvSpPr/>
          <p:nvPr/>
        </p:nvSpPr>
        <p:spPr>
          <a:xfrm>
            <a:off x="1703143" y="4184384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 err="1"/>
              <a:t>Pepperoni</a:t>
            </a:r>
            <a:r>
              <a:rPr lang="fr-CA" sz="1200" dirty="0"/>
              <a:t> </a:t>
            </a:r>
            <a:r>
              <a:rPr lang="fr-CA" sz="1200" dirty="0" err="1"/>
              <a:t>Topping</a:t>
            </a:r>
            <a:endParaRPr lang="fr-CA" sz="1200" dirty="0"/>
          </a:p>
        </p:txBody>
      </p:sp>
      <p:sp>
        <p:nvSpPr>
          <p:cNvPr id="67" name="Rectangle : coins arrondis 28">
            <a:extLst>
              <a:ext uri="{FF2B5EF4-FFF2-40B4-BE49-F238E27FC236}">
                <a16:creationId xmlns:a16="http://schemas.microsoft.com/office/drawing/2014/main" id="{F339B49A-099F-9343-878C-6848AD395ABA}"/>
              </a:ext>
            </a:extLst>
          </p:cNvPr>
          <p:cNvSpPr/>
          <p:nvPr/>
        </p:nvSpPr>
        <p:spPr>
          <a:xfrm>
            <a:off x="1882292" y="2143355"/>
            <a:ext cx="982980" cy="4648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100" dirty="0"/>
              <a:t>Pizza</a:t>
            </a:r>
          </a:p>
          <a:p>
            <a:pPr algn="ctr"/>
            <a:r>
              <a:rPr lang="fr-CA" sz="1100" dirty="0" err="1"/>
              <a:t>Topping</a:t>
            </a:r>
            <a:endParaRPr lang="fr-CA" sz="1100" dirty="0"/>
          </a:p>
        </p:txBody>
      </p:sp>
      <p:sp>
        <p:nvSpPr>
          <p:cNvPr id="68" name="Espace réservé du numéro de diapositive 3">
            <a:extLst>
              <a:ext uri="{FF2B5EF4-FFF2-40B4-BE49-F238E27FC236}">
                <a16:creationId xmlns:a16="http://schemas.microsoft.com/office/drawing/2014/main" id="{5CB8A169-215A-B648-9E94-CFE47AFE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30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11970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 </a:t>
            </a:r>
            <a:r>
              <a:rPr lang="en-US" dirty="0" err="1"/>
              <a:t>universelle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2897659"/>
          </a:xfrm>
        </p:spPr>
        <p:txBody>
          <a:bodyPr>
            <a:normAutofit/>
          </a:bodyPr>
          <a:lstStyle/>
          <a:p>
            <a:r>
              <a:rPr lang="en-US" dirty="0"/>
              <a:t>Pour que </a:t>
            </a:r>
            <a:r>
              <a:rPr lang="en-US" dirty="0" err="1"/>
              <a:t>MargheritaPizza</a:t>
            </a:r>
            <a:r>
              <a:rPr lang="en-US" dirty="0"/>
              <a:t> </a:t>
            </a:r>
            <a:r>
              <a:rPr lang="en-US" dirty="0" err="1"/>
              <a:t>soit</a:t>
            </a:r>
            <a:r>
              <a:rPr lang="en-US" dirty="0"/>
              <a:t> </a:t>
            </a:r>
            <a:r>
              <a:rPr lang="en-US" dirty="0" err="1"/>
              <a:t>classée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sous-</a:t>
            </a:r>
            <a:r>
              <a:rPr lang="en-US" dirty="0" err="1"/>
              <a:t>classe</a:t>
            </a:r>
            <a:r>
              <a:rPr lang="en-US" dirty="0"/>
              <a:t> de </a:t>
            </a:r>
            <a:r>
              <a:rPr lang="en-US" dirty="0" err="1"/>
              <a:t>VegetarianPizza</a:t>
            </a:r>
            <a:r>
              <a:rPr lang="en-US" dirty="0"/>
              <a:t>,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faut</a:t>
            </a:r>
            <a:r>
              <a:rPr lang="en-US" dirty="0"/>
              <a:t> </a:t>
            </a:r>
            <a:r>
              <a:rPr lang="en-US" dirty="0" err="1"/>
              <a:t>ajouter</a:t>
            </a:r>
            <a:r>
              <a:rPr lang="en-US" dirty="0"/>
              <a:t> un </a:t>
            </a:r>
            <a:r>
              <a:rPr lang="en-US" dirty="0" err="1"/>
              <a:t>axiome</a:t>
            </a:r>
            <a:r>
              <a:rPr lang="en-US" dirty="0"/>
              <a:t> de </a:t>
            </a:r>
            <a:r>
              <a:rPr lang="en-US" dirty="0" err="1"/>
              <a:t>fermeture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188" y="3456167"/>
            <a:ext cx="5492611" cy="2473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21531" y="3525492"/>
            <a:ext cx="32116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Remarque : Les </a:t>
            </a:r>
            <a:r>
              <a:rPr lang="en-US" sz="2400" dirty="0" err="1"/>
              <a:t>axiomes</a:t>
            </a:r>
            <a:r>
              <a:rPr lang="en-US" sz="2400" dirty="0"/>
              <a:t> </a:t>
            </a:r>
            <a:r>
              <a:rPr lang="en-US" sz="2400" dirty="0" err="1"/>
              <a:t>existentiels</a:t>
            </a:r>
            <a:r>
              <a:rPr lang="en-US" sz="2400" dirty="0"/>
              <a:t> </a:t>
            </a:r>
            <a:r>
              <a:rPr lang="en-US" sz="2400" dirty="0" err="1"/>
              <a:t>sont</a:t>
            </a:r>
            <a:r>
              <a:rPr lang="en-US" sz="2400" dirty="0"/>
              <a:t> </a:t>
            </a:r>
            <a:r>
              <a:rPr lang="en-US" sz="2400" dirty="0" err="1"/>
              <a:t>également</a:t>
            </a:r>
            <a:r>
              <a:rPr lang="en-US" sz="2400" dirty="0"/>
              <a:t> </a:t>
            </a:r>
            <a:r>
              <a:rPr lang="en-US" sz="2400" dirty="0" err="1"/>
              <a:t>importants</a:t>
            </a:r>
            <a:r>
              <a:rPr lang="en-US" sz="2400" dirty="0"/>
              <a:t>, pour </a:t>
            </a:r>
            <a:r>
              <a:rPr lang="en-US" sz="2400" dirty="0" err="1"/>
              <a:t>éviter</a:t>
            </a:r>
            <a:r>
              <a:rPr lang="en-US" sz="2400" dirty="0"/>
              <a:t> </a:t>
            </a:r>
            <a:r>
              <a:rPr lang="en-US" sz="2400" dirty="0" err="1"/>
              <a:t>qu’une</a:t>
            </a:r>
            <a:r>
              <a:rPr lang="en-US" sz="2400" dirty="0"/>
              <a:t> pizza sans garniture </a:t>
            </a:r>
            <a:r>
              <a:rPr lang="en-US" sz="2400" dirty="0" err="1"/>
              <a:t>puisse</a:t>
            </a:r>
            <a:r>
              <a:rPr lang="en-US" sz="2400" dirty="0"/>
              <a:t> </a:t>
            </a:r>
            <a:r>
              <a:rPr lang="en-US" sz="2400" dirty="0" err="1"/>
              <a:t>être</a:t>
            </a:r>
            <a:r>
              <a:rPr lang="en-US" sz="2400" dirty="0"/>
              <a:t> </a:t>
            </a:r>
            <a:r>
              <a:rPr lang="en-US" sz="2400" dirty="0" err="1"/>
              <a:t>considérée</a:t>
            </a:r>
            <a:r>
              <a:rPr lang="en-US" sz="2400" dirty="0"/>
              <a:t> </a:t>
            </a:r>
            <a:r>
              <a:rPr lang="en-US" sz="2400" dirty="0" err="1"/>
              <a:t>comme</a:t>
            </a:r>
            <a:r>
              <a:rPr lang="en-US" sz="2400" dirty="0"/>
              <a:t> </a:t>
            </a:r>
            <a:r>
              <a:rPr lang="en-US" sz="2400" dirty="0" err="1"/>
              <a:t>MargheritaPizza</a:t>
            </a:r>
            <a:r>
              <a:rPr lang="en-US" sz="2400"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48" y="6031345"/>
            <a:ext cx="5050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Clic</a:t>
            </a:r>
            <a:r>
              <a:rPr lang="en-US" sz="2400" dirty="0"/>
              <a:t> droit sur </a:t>
            </a:r>
            <a:r>
              <a:rPr lang="en-US" sz="2400" dirty="0" err="1"/>
              <a:t>axiome</a:t>
            </a:r>
            <a:r>
              <a:rPr lang="en-US" sz="2400" dirty="0"/>
              <a:t> </a:t>
            </a:r>
            <a:r>
              <a:rPr lang="en-US" sz="2400" dirty="0" err="1"/>
              <a:t>existentiel</a:t>
            </a:r>
            <a:r>
              <a:rPr lang="en-US" sz="2400" dirty="0"/>
              <a:t> </a:t>
            </a:r>
            <a:r>
              <a:rPr lang="fr-CA" sz="2400" dirty="0"/>
              <a:t>→</a:t>
            </a:r>
            <a:r>
              <a:rPr lang="en-US" sz="2400" dirty="0"/>
              <a:t> ’Create closure axiom’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6DE582B-1BD1-C34B-B4F6-0FA73EB3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77401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de </a:t>
            </a:r>
            <a:r>
              <a:rPr lang="en-US" dirty="0" err="1"/>
              <a:t>cardinalité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24" b="3590"/>
          <a:stretch/>
        </p:blipFill>
        <p:spPr>
          <a:xfrm>
            <a:off x="121918" y="1938722"/>
            <a:ext cx="4238922" cy="134866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4660439"/>
            <a:ext cx="4229843" cy="21390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58" b="531"/>
          <a:stretch/>
        </p:blipFill>
        <p:spPr>
          <a:xfrm>
            <a:off x="4798298" y="1812958"/>
            <a:ext cx="4139514" cy="19894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23" y="4545959"/>
            <a:ext cx="4187416" cy="22983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1916" y="1220414"/>
            <a:ext cx="417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1.a</a:t>
            </a:r>
          </a:p>
          <a:p>
            <a:pPr algn="ctr"/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InterestingPizza</a:t>
            </a:r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A247463-6ECC-9347-AAC5-F16E8BD89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7" y="4418391"/>
            <a:ext cx="4238923" cy="102318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A52F187-9596-1249-8CA2-2CF541237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423" y="4287095"/>
            <a:ext cx="4187416" cy="1010756"/>
          </a:xfrm>
          <a:prstGeom prst="rect">
            <a:avLst/>
          </a:prstGeom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CEA7F4D4-2899-1D46-ABB0-275DA4E630B8}"/>
              </a:ext>
            </a:extLst>
          </p:cNvPr>
          <p:cNvSpPr txBox="1"/>
          <p:nvPr/>
        </p:nvSpPr>
        <p:spPr>
          <a:xfrm>
            <a:off x="4779763" y="1166627"/>
            <a:ext cx="417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2.a</a:t>
            </a:r>
          </a:p>
          <a:p>
            <a:pPr algn="ctr"/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FourCheesePizza</a:t>
            </a:r>
            <a:endParaRPr lang="en-US" dirty="0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1E197545-3C0B-D747-AFA3-B4123CE68722}"/>
              </a:ext>
            </a:extLst>
          </p:cNvPr>
          <p:cNvSpPr txBox="1"/>
          <p:nvPr/>
        </p:nvSpPr>
        <p:spPr>
          <a:xfrm>
            <a:off x="103987" y="3737997"/>
            <a:ext cx="417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1.b</a:t>
            </a:r>
          </a:p>
          <a:p>
            <a:pPr algn="ctr"/>
            <a:r>
              <a:rPr lang="en-US" dirty="0"/>
              <a:t>Start (or synchronize) reasoner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D07FD549-A108-8843-BC83-3539D5D54742}"/>
              </a:ext>
            </a:extLst>
          </p:cNvPr>
          <p:cNvSpPr txBox="1"/>
          <p:nvPr/>
        </p:nvSpPr>
        <p:spPr>
          <a:xfrm>
            <a:off x="4761228" y="3693609"/>
            <a:ext cx="4176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2.b</a:t>
            </a:r>
          </a:p>
          <a:p>
            <a:pPr algn="ctr"/>
            <a:r>
              <a:rPr lang="en-US" dirty="0"/>
              <a:t>Start (or synchronize) reasoner</a:t>
            </a:r>
          </a:p>
        </p:txBody>
      </p:sp>
    </p:spTree>
    <p:extLst>
      <p:ext uri="{BB962C8B-B14F-4D97-AF65-F5344CB8AC3E}">
        <p14:creationId xmlns:p14="http://schemas.microsoft.com/office/powerpoint/2010/main" val="393761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 properties et </a:t>
            </a:r>
            <a:r>
              <a:rPr lang="en-US" dirty="0" err="1"/>
              <a:t>individus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65" y="1530710"/>
            <a:ext cx="7030997" cy="1549384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1489" y="1518002"/>
            <a:ext cx="1511300" cy="787400"/>
          </a:xfrm>
          <a:prstGeom prst="rect">
            <a:avLst/>
          </a:prstGeom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EC3B255A-42A0-1A44-AF01-BE0999A8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9189" y="6465322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33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F4455F5-DEFB-8446-83C2-FF9A38BDBC7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223362"/>
            <a:ext cx="3357267" cy="180339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EC0092B-D41C-4E4C-BE63-5DFA44C2524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29" y="2870084"/>
            <a:ext cx="3927360" cy="211348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BB10E1F-DEA3-D04E-B812-9A26EA97574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1577" y="5170027"/>
            <a:ext cx="5977285" cy="14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3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3767" y="210065"/>
            <a:ext cx="4521200" cy="176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991" y="345989"/>
            <a:ext cx="39672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Axiome</a:t>
            </a:r>
            <a:r>
              <a:rPr lang="en-US" sz="2800" b="1" dirty="0"/>
              <a:t> : </a:t>
            </a:r>
            <a:r>
              <a:rPr lang="en-US" sz="2800" b="1" dirty="0" err="1"/>
              <a:t>Toutes</a:t>
            </a:r>
            <a:r>
              <a:rPr lang="en-US" sz="2800" b="1" dirty="0"/>
              <a:t> les pizzas </a:t>
            </a:r>
            <a:r>
              <a:rPr lang="en-US" sz="2800" b="1" dirty="0" err="1"/>
              <a:t>ont</a:t>
            </a:r>
            <a:r>
              <a:rPr lang="en-US" sz="2800" b="1" dirty="0"/>
              <a:t> </a:t>
            </a:r>
            <a:r>
              <a:rPr lang="en-US" sz="2800" b="1" dirty="0" err="1"/>
              <a:t>une</a:t>
            </a:r>
            <a:r>
              <a:rPr lang="en-US" sz="2800" b="1" dirty="0"/>
              <a:t> </a:t>
            </a:r>
            <a:r>
              <a:rPr lang="en-US" sz="2800" b="1" dirty="0" err="1"/>
              <a:t>valeur</a:t>
            </a:r>
            <a:r>
              <a:rPr lang="en-US" sz="2800" b="1" dirty="0"/>
              <a:t> </a:t>
            </a:r>
            <a:r>
              <a:rPr lang="en-US" sz="2800" b="1" dirty="0" err="1"/>
              <a:t>calorifique</a:t>
            </a:r>
            <a:endParaRPr lang="en-US" sz="2800" b="1" dirty="0"/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F7960DA0-9A9D-9E4C-85EC-D3DE8E3A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34</a:t>
            </a:fld>
            <a:endParaRPr lang="fr-CA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C029DC4-E8B0-EA43-85BE-98EFE97113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1636" y="2071687"/>
            <a:ext cx="6188364" cy="478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0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482989"/>
            <a:ext cx="3967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Raisonner</a:t>
            </a:r>
            <a:r>
              <a:rPr lang="en-US" sz="2800" b="1" dirty="0"/>
              <a:t> avec des datatype properties</a:t>
            </a:r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26CFF7AE-CBED-6947-91CD-D5570139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35</a:t>
            </a:fld>
            <a:endParaRPr lang="fr-CA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ADC407-E8A1-3142-8F7A-5C7D140E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882" y="1700789"/>
            <a:ext cx="5997100" cy="51572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2DC32D-1D0D-A141-A828-C2658F177F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909" b="-1"/>
          <a:stretch/>
        </p:blipFill>
        <p:spPr>
          <a:xfrm>
            <a:off x="3158836" y="0"/>
            <a:ext cx="5883564" cy="135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0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ontologique</a:t>
            </a:r>
            <a:r>
              <a:rPr lang="en-US" dirty="0"/>
              <a:t> des pays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</a:t>
            </a:r>
            <a:r>
              <a:rPr lang="en-US" dirty="0" err="1"/>
              <a:t>voudrait</a:t>
            </a:r>
            <a:r>
              <a:rPr lang="en-US" dirty="0"/>
              <a:t> </a:t>
            </a:r>
            <a:r>
              <a:rPr lang="en-US" dirty="0" err="1"/>
              <a:t>pouvoir</a:t>
            </a:r>
            <a:r>
              <a:rPr lang="en-US" dirty="0"/>
              <a:t> dire </a:t>
            </a:r>
            <a:r>
              <a:rPr lang="en-US" dirty="0" err="1"/>
              <a:t>qu’une</a:t>
            </a:r>
            <a:r>
              <a:rPr lang="en-US" dirty="0"/>
              <a:t> garniture </a:t>
            </a:r>
            <a:r>
              <a:rPr lang="en-US" dirty="0" err="1"/>
              <a:t>mozarella</a:t>
            </a:r>
            <a:r>
              <a:rPr lang="en-US" dirty="0"/>
              <a:t> a </a:t>
            </a:r>
            <a:r>
              <a:rPr lang="en-US" dirty="0" err="1"/>
              <a:t>comme</a:t>
            </a:r>
            <a:r>
              <a:rPr lang="en-US" dirty="0"/>
              <a:t> pays </a:t>
            </a:r>
            <a:r>
              <a:rPr lang="en-US" dirty="0" err="1"/>
              <a:t>d’origine</a:t>
            </a:r>
            <a:r>
              <a:rPr lang="en-US" dirty="0"/>
              <a:t> </a:t>
            </a:r>
            <a:r>
              <a:rPr lang="en-US" dirty="0" err="1"/>
              <a:t>l’Italie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Les pays </a:t>
            </a:r>
            <a:r>
              <a:rPr lang="en-US" dirty="0" err="1"/>
              <a:t>sont-ils</a:t>
            </a:r>
            <a:r>
              <a:rPr lang="en-US" dirty="0"/>
              <a:t> des classes </a:t>
            </a:r>
            <a:r>
              <a:rPr lang="en-US" dirty="0" err="1"/>
              <a:t>ou</a:t>
            </a:r>
            <a:r>
              <a:rPr lang="en-US" dirty="0"/>
              <a:t> des </a:t>
            </a:r>
            <a:r>
              <a:rPr lang="en-US" dirty="0" err="1"/>
              <a:t>individus</a:t>
            </a:r>
            <a:r>
              <a:rPr lang="en-US" dirty="0"/>
              <a:t>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605E56-8F14-8948-AEEB-E6982344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6793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Axiome</a:t>
            </a:r>
            <a:r>
              <a:rPr lang="en-US" dirty="0"/>
              <a:t> reliant </a:t>
            </a:r>
            <a:r>
              <a:rPr lang="en-US" dirty="0" err="1"/>
              <a:t>toutes</a:t>
            </a:r>
            <a:r>
              <a:rPr lang="en-US" dirty="0"/>
              <a:t> les instances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classe</a:t>
            </a:r>
            <a:r>
              <a:rPr lang="en-US" dirty="0"/>
              <a:t> au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individu</a:t>
            </a:r>
            <a:endParaRPr lang="en-US" dirty="0"/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6FE454DE-EF3F-A947-BC3B-63DD047A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47385"/>
            <a:ext cx="2133600" cy="365125"/>
          </a:xfrm>
        </p:spPr>
        <p:txBody>
          <a:bodyPr/>
          <a:lstStyle/>
          <a:p>
            <a:fld id="{A4FD0127-01D8-405E-B080-F2773155ECBC}" type="slidenum">
              <a:rPr lang="fr-CA" smtClean="0"/>
              <a:pPr/>
              <a:t>37</a:t>
            </a:fld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D8E271-336B-4E4D-B4FF-015D919A5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59" y="1892674"/>
            <a:ext cx="3695700" cy="16510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5CE0DAF-F103-4C43-8D9E-9879CEE71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482" y="1549774"/>
            <a:ext cx="3835400" cy="23368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5A564F7-E49A-DE4D-8C7D-EA3513B68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710" y="4236681"/>
            <a:ext cx="3537526" cy="19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7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353" y="985846"/>
            <a:ext cx="7758953" cy="3170144"/>
          </a:xfrm>
        </p:spPr>
        <p:txBody>
          <a:bodyPr>
            <a:normAutofit/>
          </a:bodyPr>
          <a:lstStyle/>
          <a:p>
            <a:r>
              <a:rPr lang="fr-FR" dirty="0"/>
              <a:t>Questions ?</a:t>
            </a:r>
            <a:br>
              <a:rPr lang="fr-FR" dirty="0"/>
            </a:br>
            <a:br>
              <a:rPr lang="fr-FR" dirty="0"/>
            </a:br>
            <a:r>
              <a:rPr lang="fr-CA" sz="2800" b="1" dirty="0"/>
              <a:t>École d’été Interdisciplinaire en Numérique de la Santé (EINS 2026)</a:t>
            </a:r>
            <a:endParaRPr lang="en-US" sz="3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88631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lang="fr-CA" dirty="0"/>
              <a:t>Adrien Barton</a:t>
            </a:r>
            <a:r>
              <a:rPr lang="fr-CA" baseline="30000" dirty="0"/>
              <a:t>1,2</a:t>
            </a:r>
            <a:r>
              <a:rPr lang="fr-CA" dirty="0"/>
              <a:t>, Paul Fabry</a:t>
            </a:r>
            <a:r>
              <a:rPr lang="fr-CA" baseline="30000" dirty="0"/>
              <a:t>2</a:t>
            </a:r>
          </a:p>
          <a:p>
            <a:r>
              <a:rPr lang="fr-CA" baseline="30000" dirty="0"/>
              <a:t>1 </a:t>
            </a:r>
            <a:r>
              <a:rPr lang="fr-CA" dirty="0"/>
              <a:t>CNRS, IRIT, Université de Toulouse</a:t>
            </a:r>
          </a:p>
          <a:p>
            <a:r>
              <a:rPr lang="fr-CA" baseline="30000" dirty="0"/>
              <a:t>2 </a:t>
            </a:r>
            <a:r>
              <a:rPr lang="fr-CA" dirty="0"/>
              <a:t>GRIIS, Université de Sherbrooke</a:t>
            </a:r>
          </a:p>
          <a:p>
            <a:r>
              <a:rPr lang="fr-CA" dirty="0"/>
              <a:t>27 mai 2026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E0D003D-A354-B04B-A561-108A7A134E21}"/>
              </a:ext>
            </a:extLst>
          </p:cNvPr>
          <p:cNvSpPr txBox="1">
            <a:spLocks/>
          </p:cNvSpPr>
          <p:nvPr/>
        </p:nvSpPr>
        <p:spPr>
          <a:xfrm>
            <a:off x="1524000" y="178955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8D68C6-F657-DF4E-8CB0-BD3004DD2A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7309" y="5619425"/>
            <a:ext cx="1497430" cy="11162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C263952-9F6D-494C-B476-54D4A3B1E0B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2582" y="5949848"/>
            <a:ext cx="3068171" cy="71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95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28617</TotalTime>
  <Words>1274</Words>
  <Application>Microsoft Macintosh PowerPoint</Application>
  <PresentationFormat>Affichage à l'écran (4:3)</PresentationFormat>
  <Paragraphs>335</Paragraphs>
  <Slides>38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 Introduction à OWL et Protégé  École d’été Interdisciplinaire en Numérique de la Santé (EINS 2026)</vt:lpstr>
      <vt:lpstr>Protégé : un outil de création d’ontologies</vt:lpstr>
      <vt:lpstr>Tutoriel</vt:lpstr>
      <vt:lpstr>Individus et propriétés</vt:lpstr>
      <vt:lpstr>Classes</vt:lpstr>
      <vt:lpstr>Créer une ontologie sous Protégé 5.x</vt:lpstr>
      <vt:lpstr>Quelles classes pour une ontologie des pizzas ?</vt:lpstr>
      <vt:lpstr>Une première taxonomie des pizzas</vt:lpstr>
      <vt:lpstr>Une première taxonomie des pizzas</vt:lpstr>
      <vt:lpstr>Premières classes</vt:lpstr>
      <vt:lpstr>Créer des taxonomies de classes</vt:lpstr>
      <vt:lpstr>Trois types de propriétés (aka relations)</vt:lpstr>
      <vt:lpstr>Créer des ‘object properties’</vt:lpstr>
      <vt:lpstr>Relations inverses</vt:lpstr>
      <vt:lpstr>Caractéristique des relations</vt:lpstr>
      <vt:lpstr>Caractéristiques des relations : application</vt:lpstr>
      <vt:lpstr>Domain &amp; Range</vt:lpstr>
      <vt:lpstr>Axiomes existentiels (restrictions existentielles)</vt:lpstr>
      <vt:lpstr>Axiomes existentiels (restrictions existentielles)</vt:lpstr>
      <vt:lpstr>Axiomes existentiels (restrictions existentielles)</vt:lpstr>
      <vt:lpstr>Axiomes existentiels (restrictions existentielles)</vt:lpstr>
      <vt:lpstr>Raisonneur : détecter les incohérences</vt:lpstr>
      <vt:lpstr>Classes primitive et classes définies (aka classes équivalentes)</vt:lpstr>
      <vt:lpstr>Raisonneur :  classification automatique</vt:lpstr>
      <vt:lpstr>Restrictions universelles</vt:lpstr>
      <vt:lpstr>Hypothèse du monde ouvert</vt:lpstr>
      <vt:lpstr>Présentation PowerPoint</vt:lpstr>
      <vt:lpstr>Présentation PowerPoint</vt:lpstr>
      <vt:lpstr>Présentation PowerPoint</vt:lpstr>
      <vt:lpstr>Présentation PowerPoint</vt:lpstr>
      <vt:lpstr>Restriction universelle</vt:lpstr>
      <vt:lpstr>Restrictions de cardinalité</vt:lpstr>
      <vt:lpstr>Datatype properties et individus</vt:lpstr>
      <vt:lpstr>Présentation PowerPoint</vt:lpstr>
      <vt:lpstr>Présentation PowerPoint</vt:lpstr>
      <vt:lpstr>Analyse ontologique des pays</vt:lpstr>
      <vt:lpstr>Axiome reliant toutes les instances d’une classe au même individu</vt:lpstr>
      <vt:lpstr>Questions ?  École d’été Interdisciplinaire en Numérique de la Santé (EINS 2026)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B</dc:creator>
  <cp:lastModifiedBy>Adrien B</cp:lastModifiedBy>
  <cp:revision>355</cp:revision>
  <dcterms:created xsi:type="dcterms:W3CDTF">2016-11-11T19:02:42Z</dcterms:created>
  <dcterms:modified xsi:type="dcterms:W3CDTF">2026-05-24T18:45:58Z</dcterms:modified>
</cp:coreProperties>
</file>